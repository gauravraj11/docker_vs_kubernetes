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who has had an app work on their laptop and break on someone else's? That pain is why this whole topic exists. The three containers on the right are the three parts of the MERN app they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apps are the thread through the whole course. Every Docker and Kubernetes idea will be shown on one of them. Ask students which one feels hardest to deploy, and why. Colour code used everywhere: blue = React, orange = Express, green =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The code is identical; only the machine changed. Ask: how would you fix this today? Answers will be "install Node 16, install Mongo, copy the .env" — manual steps that someone forgets. Docker turns those steps into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standard shipping containers, every port loaded cargo by hand, each item differently. One standard box changed global trade: the crane doesn't care what's inside. Docker does the same for software: the server doesn't care whether it's React, Express or Mongo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layers bottom to top: OS libraries, Node runtime, dependencies, your code, config. Everything the "server" slide was missing is now inside the box. Config is coloured differently because it is injected at run time, not baked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VM is a whole house per app: its own foundation, walls and plumbing. A container is a flat in an apartment block: shared foundation, separate locked door. That is why a laptop runs 20 containers comfortably but struggles with 3 VMs.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Recipe, packed tiffin, eating. The image never changes once built; containers are running copies of it. Stress that you can run many containers from one image: that idea is the seed of scaling and of Kubernetes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build-and-ship vocabulary; bottom row is the run-time vocabulary. Every lab in the series uses these eight words. A quick game: call out an analogy and let students shout the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React never "runs" on the server. npm run build produces plain files, and the browser does the work. That is why Vercel is perfect for Case 1, and why our Docker image uses Nginx rather than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Sizes are approximate; students will measure the real numbers with docker images in Lab 4. Stage 1 is a throwaway kitchen; only the cooked food (dist/) moves to stage 2. The two warnings are the most common Case 1 bugs: SPA routing and build-time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big ideas. First, containers on the same Docker network find each other by service name, like an office intercom. Second, the browser lives outside Docker, so it cannot use the name "backend"; Nginx acts as the receptionist that forwards /api calls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Case 2, plus one more container and a volume. Backend reaches the database as "mongo", not localhost. Note for production: many teams use MongoDB Atlas instead of a Mongo container; we containerise it here because it teaches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Lab 8 experiment. Students do it live: add data, delete the Mongo container, start a new one, and the data is gone. Then repeat with a volume. The surprise in the first run is what makes the concept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Case 2's manual way: create a network, run each container with long flags, in the right order. Compose writes all of that down once. A new teammate clones the repo and types one command. Colours in the YAML match the container colours from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push sends the recipe; docker push sends the cooked dish. GHCR lives on GitHub (under Packages) but outside the repository. Tag images with the commit SHA (a1b2c3d) so every image traces back to the exact code that built it, and rollback is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 steps 2 to 5 (integrate and verify). CD = step 6 (deliver). Ask students how they deployed their MERN app before: usually manual. This pipeline makes every deployment identical and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confusion: "is CI/CD automatic?" GitHub Actions is not; you write this file. Vercel and Render deploy automatically because they have built-in pipelines that watch your repo. Both can run at once: Vercel deploys the frontend while Actions builds the backend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Vercel now also runs container images, but that feature targets backends; for a static React app its normal CDN deploy is still the right choice. Render can build straight from a Dockerfile. EC2 is a plain Linux VM: you install Docker and run everything yourself, which teaches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1: Vercel is the industry default; Docker adds nothing. Case 2: split it, UI on Vercel and the API as a container on Render. Case 3: the full pipeline to EC2. For the database, either a Mongo container with a volume, or managed MongoDB Atlas, which most production teams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Lecture 11 target. The last job in the workflow SSHes into the EC2 instance and runs two commands. The server never sees source code, only images. Point out the same three coloured containers from Case 3, now on a real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If students remember one slide, it should be this one. Docker is the shipping container; Kubernetes is the port authority that decides which ship carries which container, and replaces any that fall overboard.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alone runs containers on one machine and does nothing when they die. Think of a festival sale on an e-commerce site: you need dozens of backend copies across many servers, chosen automatically, restarted automatically. Doing that by hand with docker run is impossible. That job is called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pod is Kubernetes' wrapper around one or more containers; for now, think "pod = running container". Each card answers one question from the previous slide. Later labs demo each: delete a pod and watch it return, scale with one command, roll out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plane = the manager's office: the API server takes your request, the scheduler picks a node, controllers keep checking reality against what you asked for, etcd stores the state. Worker nodes = the factory floor. The key mindset shift: you describe the desired state, not the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bridge into the Kubernetes module. Every concept on the left is something students will have built in the Docker labs. When Kubernetes feels overwhelming later, come back to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Most apps never need Kubernetes, and many startups avoid it until they truly must, because it adds operational overhead. Docker shows up on almost every step; Kubernetes only on the top one. Learning both still matters: large companies run Kubernetes, and job descriptions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one-hour Docker lectures, each about 15 minutes of concept and 40 of hands-on lab. Kubernetes starts only once students can write a Dockerfile, push an image, and run a Compose stack without help; the capstone is that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verbs. The command at the bottom is the very first thing students type in Lecture 1; ask them to install Docker Desktop before then and run it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A0C1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3F5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F3F5F8"/>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3F5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F3F5F8"/>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F9F4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FF9F45"/>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C1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3F5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F3F5F8"/>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2.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slideLayout" Target="../slideLayouts/slideLayout2.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2.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996480"/>
            <a:ext cx="633120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A4F5"/>
                </a:solidFill>
                <a:latin typeface="JetBrains Mono" pitchFamily="49" charset="0"/>
                <a:ea typeface="JetBrains Mono" pitchFamily="49" charset="-122"/>
                <a:cs typeface="JetBrains Mono" pitchFamily="49" charset="-120"/>
              </a:rPr>
              <a:t>REACT → EXPRESS → MONGODB</a:t>
            </a:r>
            <a:endParaRPr lang="en-US" sz="1200" dirty="0"/>
          </a:p>
        </p:txBody>
      </p:sp>
      <p:sp>
        <p:nvSpPr>
          <p:cNvPr id="3" name="Text 1"/>
          <p:cNvSpPr/>
          <p:nvPr>
            <p:ph type="title"/>
          </p:nvPr>
        </p:nvSpPr>
        <p:spPr>
          <a:xfrm>
            <a:off x="812800" y="2463800"/>
            <a:ext cx="6331204" cy="1579860"/>
          </a:xfrm>
          <a:prstGeom prst="rect">
            <a:avLst/>
          </a:prstGeom>
          <a:noFill/>
          <a:ln/>
        </p:spPr>
        <p:txBody>
          <a:bodyPr wrap="square" lIns="0" tIns="0" rIns="0" bIns="0" rtlCol="0" anchor="t">
            <a:normAutofit/>
          </a:bodyPr>
          <a:lstStyle/>
          <a:p>
            <a:pPr algn="l" indent="0" marL="0">
              <a:lnSpc>
                <a:spcPts val="6120"/>
              </a:lnSpc>
              <a:buNone/>
            </a:pPr>
            <a:r>
              <a:rPr lang="en-US" sz="6000" b="1" i="0" spc="-150" kern="0" dirty="0">
                <a:solidFill>
                  <a:srgbClr val="F3F5F8"/>
                </a:solidFill>
                <a:latin typeface="Space Grotesk" pitchFamily="34" charset="0"/>
                <a:ea typeface="Space Grotesk" pitchFamily="34" charset="-122"/>
                <a:cs typeface="Space Grotesk" pitchFamily="34" charset="-120"/>
              </a:rPr>
              <a:t>Docker &amp; Kubernetes</a:t>
            </a:r>
            <a:endParaRPr lang="en-US" sz="6000" dirty="0"/>
          </a:p>
        </p:txBody>
      </p:sp>
      <p:sp>
        <p:nvSpPr>
          <p:cNvPr id="4" name="Text 2"/>
          <p:cNvSpPr/>
          <p:nvPr/>
        </p:nvSpPr>
        <p:spPr>
          <a:xfrm>
            <a:off x="812800" y="4272260"/>
            <a:ext cx="6331204"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A9B3C2"/>
                </a:solidFill>
                <a:latin typeface="IBM Plex Sans" pitchFamily="34" charset="0"/>
                <a:ea typeface="IBM Plex Sans" pitchFamily="34" charset="-122"/>
                <a:cs typeface="IBM Plex Sans" pitchFamily="34" charset="-120"/>
              </a:rPr>
              <a:t>Package it once. Run it anywhere.</a:t>
            </a:r>
            <a:endParaRPr lang="en-US" sz="1600" dirty="0"/>
          </a:p>
          <a:p>
            <a:pPr algn="l" indent="0" marL="0">
              <a:lnSpc>
                <a:spcPts val="2320"/>
              </a:lnSpc>
              <a:buNone/>
            </a:pPr>
            <a:r>
              <a:rPr lang="en-US" sz="1600" dirty="0">
                <a:solidFill>
                  <a:srgbClr val="A9B3C2"/>
                </a:solidFill>
                <a:latin typeface="IBM Plex Sans" pitchFamily="34" charset="0"/>
                <a:ea typeface="IBM Plex Sans" pitchFamily="34" charset="-122"/>
                <a:cs typeface="IBM Plex Sans" pitchFamily="34" charset="-120"/>
              </a:rPr>
              <a:t>Scale it when the whole world shows up.</a:t>
            </a:r>
            <a:endParaRPr lang="en-US" sz="1600" dirty="0"/>
          </a:p>
        </p:txBody>
      </p:sp>
      <p:sp>
        <p:nvSpPr>
          <p:cNvPr id="5" name="Shape 3"/>
          <p:cNvSpPr/>
          <p:nvPr/>
        </p:nvSpPr>
        <p:spPr>
          <a:xfrm>
            <a:off x="7886700" y="1974850"/>
            <a:ext cx="3175000" cy="762000"/>
          </a:xfrm>
          <a:prstGeom prst="roundRect">
            <a:avLst>
              <a:gd name="adj" fmla="val 8333"/>
            </a:avLst>
          </a:prstGeom>
          <a:gradFill rotWithShape="1">
            <a:gsLst>
              <a:gs pos="0">
                <a:srgbClr val="4FC27A"/>
              </a:gs>
              <a:gs pos="75000">
                <a:srgbClr val="4FC27A"/>
              </a:gs>
              <a:gs pos="75000">
                <a:srgbClr val="3BA866"/>
              </a:gs>
              <a:gs pos="100000">
                <a:srgbClr val="3BA866"/>
              </a:gs>
            </a:gsLst>
            <a:lin ang="0" scaled="0"/>
          </a:gradFill>
          <a:ln/>
          <a:effectLst>
            <a:outerShdw sx="100000" sy="100000" kx="0" ky="0" algn="bl" rotWithShape="0" blurRad="203200" dist="76200" dir="5400000">
              <a:srgbClr val="000000">
                <a:alpha val="50000"/>
              </a:srgbClr>
            </a:outerShdw>
          </a:effectLst>
        </p:spPr>
      </p:sp>
      <p:sp>
        <p:nvSpPr>
          <p:cNvPr id="6" name="Text 4"/>
          <p:cNvSpPr/>
          <p:nvPr/>
        </p:nvSpPr>
        <p:spPr>
          <a:xfrm>
            <a:off x="8115300" y="2180580"/>
            <a:ext cx="787400" cy="350490"/>
          </a:xfrm>
          <a:prstGeom prst="roundRect">
            <a:avLst>
              <a:gd name="adj" fmla="val 14494"/>
            </a:avLst>
          </a:prstGeom>
          <a:solidFill>
            <a:srgbClr val="F3F5F8"/>
          </a:solidFill>
          <a:ln/>
        </p:spPr>
        <p:txBody>
          <a:bodyPr wrap="none" lIns="0" tIns="0" rIns="0" bIns="0" rtlCol="0" anchor="ctr">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mongo</a:t>
            </a:r>
            <a:endParaRPr lang="en-US" sz="1400" dirty="0"/>
          </a:p>
        </p:txBody>
      </p:sp>
      <p:sp>
        <p:nvSpPr>
          <p:cNvPr id="7" name="Shape 5"/>
          <p:cNvSpPr/>
          <p:nvPr/>
        </p:nvSpPr>
        <p:spPr>
          <a:xfrm>
            <a:off x="7696200" y="2825750"/>
            <a:ext cx="3556000" cy="762000"/>
          </a:xfrm>
          <a:prstGeom prst="roundRect">
            <a:avLst>
              <a:gd name="adj" fmla="val 8333"/>
            </a:avLst>
          </a:prstGeom>
          <a:gradFill rotWithShape="1">
            <a:gsLst>
              <a:gs pos="0">
                <a:srgbClr val="FF9F45"/>
              </a:gs>
              <a:gs pos="75000">
                <a:srgbClr val="FF9F45"/>
              </a:gs>
              <a:gs pos="75000">
                <a:srgbClr val="E5832A"/>
              </a:gs>
              <a:gs pos="100000">
                <a:srgbClr val="E5832A"/>
              </a:gs>
            </a:gsLst>
            <a:lin ang="0" scaled="0"/>
          </a:gradFill>
          <a:ln/>
          <a:effectLst>
            <a:outerShdw sx="100000" sy="100000" kx="0" ky="0" algn="bl" rotWithShape="0" blurRad="203200" dist="76200" dir="5400000">
              <a:srgbClr val="000000">
                <a:alpha val="50000"/>
              </a:srgbClr>
            </a:outerShdw>
          </a:effectLst>
        </p:spPr>
      </p:sp>
      <p:sp>
        <p:nvSpPr>
          <p:cNvPr id="8" name="Text 6"/>
          <p:cNvSpPr/>
          <p:nvPr/>
        </p:nvSpPr>
        <p:spPr>
          <a:xfrm>
            <a:off x="7924800" y="3031480"/>
            <a:ext cx="1000770" cy="350490"/>
          </a:xfrm>
          <a:prstGeom prst="roundRect">
            <a:avLst>
              <a:gd name="adj" fmla="val 14494"/>
            </a:avLst>
          </a:prstGeom>
          <a:solidFill>
            <a:srgbClr val="F3F5F8"/>
          </a:solidFill>
          <a:ln/>
        </p:spPr>
        <p:txBody>
          <a:bodyPr wrap="none" lIns="0" tIns="0" rIns="0" bIns="0" rtlCol="0" anchor="ctr">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express</a:t>
            </a:r>
            <a:endParaRPr lang="en-US" sz="1400" dirty="0"/>
          </a:p>
        </p:txBody>
      </p:sp>
      <p:sp>
        <p:nvSpPr>
          <p:cNvPr id="9" name="Shape 7"/>
          <p:cNvSpPr/>
          <p:nvPr/>
        </p:nvSpPr>
        <p:spPr>
          <a:xfrm>
            <a:off x="7569200" y="3676650"/>
            <a:ext cx="3810000" cy="762000"/>
          </a:xfrm>
          <a:prstGeom prst="roundRect">
            <a:avLst>
              <a:gd name="adj" fmla="val 8333"/>
            </a:avLst>
          </a:prstGeom>
          <a:gradFill rotWithShape="1">
            <a:gsLst>
              <a:gs pos="0">
                <a:srgbClr val="3BA4F5"/>
              </a:gs>
              <a:gs pos="75000">
                <a:srgbClr val="3BA4F5"/>
              </a:gs>
              <a:gs pos="75000">
                <a:srgbClr val="1C7FCC"/>
              </a:gs>
              <a:gs pos="100000">
                <a:srgbClr val="1C7FCC"/>
              </a:gs>
            </a:gsLst>
            <a:lin ang="0" scaled="0"/>
          </a:gradFill>
          <a:ln/>
          <a:effectLst>
            <a:outerShdw sx="100000" sy="100000" kx="0" ky="0" algn="bl" rotWithShape="0" blurRad="203200" dist="76200" dir="5400000">
              <a:srgbClr val="000000">
                <a:alpha val="50000"/>
              </a:srgbClr>
            </a:outerShdw>
          </a:effectLst>
        </p:spPr>
      </p:sp>
      <p:sp>
        <p:nvSpPr>
          <p:cNvPr id="10" name="Text 8"/>
          <p:cNvSpPr/>
          <p:nvPr/>
        </p:nvSpPr>
        <p:spPr>
          <a:xfrm>
            <a:off x="7797800" y="3882380"/>
            <a:ext cx="787400" cy="350490"/>
          </a:xfrm>
          <a:prstGeom prst="roundRect">
            <a:avLst>
              <a:gd name="adj" fmla="val 14494"/>
            </a:avLst>
          </a:prstGeom>
          <a:solidFill>
            <a:srgbClr val="F3F5F8"/>
          </a:solidFill>
          <a:ln/>
        </p:spPr>
        <p:txBody>
          <a:bodyPr wrap="none" lIns="0" tIns="0" rIns="0" bIns="0" rtlCol="0" anchor="ctr">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react</a:t>
            </a:r>
            <a:endParaRPr lang="en-US" sz="1400" dirty="0"/>
          </a:p>
        </p:txBody>
      </p:sp>
      <p:sp>
        <p:nvSpPr>
          <p:cNvPr id="11" name="Shape 9"/>
          <p:cNvSpPr/>
          <p:nvPr/>
        </p:nvSpPr>
        <p:spPr>
          <a:xfrm>
            <a:off x="7569200" y="4527550"/>
            <a:ext cx="3810000" cy="355600"/>
          </a:xfrm>
          <a:custGeom>
            <a:avLst/>
            <a:gdLst/>
            <a:ahLst/>
            <a:cxnLst/>
            <a:rect l="l" t="t" r="r" b="b"/>
            <a:pathLst>
              <a:path w="3810000" h="355600">
                <a:moveTo>
                  <a:pt x="0" y="0"/>
                </a:moveTo>
                <a:lnTo>
                  <a:pt x="3810000" y="0"/>
                </a:lnTo>
                <a:lnTo>
                  <a:pt x="3810000" y="0"/>
                </a:lnTo>
                <a:arcTo hR="355600" wR="355600" stAng="0" swAng="5400000"/>
                <a:lnTo>
                  <a:pt x="355600" y="355600"/>
                </a:lnTo>
                <a:arcTo hR="355600" wR="355600" stAng="5400000" swAng="5400000"/>
                <a:lnTo>
                  <a:pt x="0" y="0"/>
                </a:lnTo>
                <a:close/>
              </a:path>
            </a:pathLst>
          </a:custGeom>
          <a:gradFill rotWithShape="1">
            <a:gsLst>
              <a:gs pos="0">
                <a:srgbClr val="2A3446"/>
              </a:gs>
              <a:gs pos="100000">
                <a:srgbClr val="171C25"/>
              </a:gs>
            </a:gsLst>
            <a:lin ang="5400000" scaled="0"/>
          </a:gra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Three apps you already know</a:t>
            </a:r>
            <a:endParaRPr lang="en-US" sz="3600" dirty="0"/>
          </a:p>
        </p:txBody>
      </p:sp>
      <p:sp>
        <p:nvSpPr>
          <p:cNvPr id="3" name="Shape 1"/>
          <p:cNvSpPr/>
          <p:nvPr/>
        </p:nvSpPr>
        <p:spPr>
          <a:xfrm>
            <a:off x="815975" y="1674465"/>
            <a:ext cx="3380284" cy="4367560"/>
          </a:xfrm>
          <a:prstGeom prst="roundRect">
            <a:avLst>
              <a:gd name="adj" fmla="val 4415"/>
            </a:avLst>
          </a:prstGeom>
          <a:solidFill>
            <a:srgbClr val="141922"/>
          </a:solidFill>
          <a:ln w="6350">
            <a:solidFill>
              <a:srgbClr val="263041"/>
            </a:solidFill>
            <a:prstDash val="solid"/>
          </a:ln>
        </p:spPr>
      </p:sp>
      <p:sp>
        <p:nvSpPr>
          <p:cNvPr id="4" name="Text 2"/>
          <p:cNvSpPr/>
          <p:nvPr/>
        </p:nvSpPr>
        <p:spPr>
          <a:xfrm>
            <a:off x="1123950" y="1982440"/>
            <a:ext cx="28472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A4F5"/>
                </a:solidFill>
                <a:latin typeface="JetBrains Mono" pitchFamily="49" charset="0"/>
                <a:ea typeface="JetBrains Mono" pitchFamily="49" charset="-122"/>
                <a:cs typeface="JetBrains Mono" pitchFamily="49" charset="-120"/>
              </a:rPr>
              <a:t>CASE 1</a:t>
            </a:r>
            <a:endParaRPr lang="en-US" sz="1200" dirty="0"/>
          </a:p>
        </p:txBody>
      </p:sp>
      <p:sp>
        <p:nvSpPr>
          <p:cNvPr id="5" name="Text 3"/>
          <p:cNvSpPr/>
          <p:nvPr/>
        </p:nvSpPr>
        <p:spPr>
          <a:xfrm>
            <a:off x="1123950" y="2348161"/>
            <a:ext cx="284726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Frontend</a:t>
            </a:r>
            <a:endParaRPr lang="en-US" sz="2200" dirty="0"/>
          </a:p>
        </p:txBody>
      </p:sp>
      <p:sp>
        <p:nvSpPr>
          <p:cNvPr id="6" name="Text 4"/>
          <p:cNvSpPr/>
          <p:nvPr/>
        </p:nvSpPr>
        <p:spPr>
          <a:xfrm>
            <a:off x="1123950" y="3851225"/>
            <a:ext cx="2764334" cy="452090"/>
          </a:xfrm>
          <a:prstGeom prst="roundRect">
            <a:avLst>
              <a:gd name="adj" fmla="val 19664"/>
            </a:avLst>
          </a:prstGeom>
          <a:solidFill>
            <a:srgbClr val="3BA4F5"/>
          </a:solidFill>
          <a:ln/>
        </p:spPr>
        <p:txBody>
          <a:bodyPr wrap="square" lIns="89469" tIns="75562" rIns="89469" bIns="50162" rtlCol="0" anchor="t">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React</a:t>
            </a:r>
            <a:endParaRPr lang="en-US" sz="1400" dirty="0"/>
          </a:p>
        </p:txBody>
      </p:sp>
      <p:sp>
        <p:nvSpPr>
          <p:cNvPr id="7" name="Text 5"/>
          <p:cNvSpPr/>
          <p:nvPr/>
        </p:nvSpPr>
        <p:spPr>
          <a:xfrm>
            <a:off x="1123950" y="5485160"/>
            <a:ext cx="284726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UI only. Runs in the browser.</a:t>
            </a:r>
            <a:endParaRPr lang="en-US" sz="1400" dirty="0"/>
          </a:p>
        </p:txBody>
      </p:sp>
      <p:sp>
        <p:nvSpPr>
          <p:cNvPr id="8" name="Shape 6"/>
          <p:cNvSpPr/>
          <p:nvPr/>
        </p:nvSpPr>
        <p:spPr>
          <a:xfrm>
            <a:off x="4405809" y="1674465"/>
            <a:ext cx="3380333" cy="4367560"/>
          </a:xfrm>
          <a:prstGeom prst="roundRect">
            <a:avLst>
              <a:gd name="adj" fmla="val 4415"/>
            </a:avLst>
          </a:prstGeom>
          <a:solidFill>
            <a:srgbClr val="141922"/>
          </a:solidFill>
          <a:ln w="6350">
            <a:solidFill>
              <a:srgbClr val="263041"/>
            </a:solidFill>
            <a:prstDash val="solid"/>
          </a:ln>
        </p:spPr>
      </p:sp>
      <p:sp>
        <p:nvSpPr>
          <p:cNvPr id="9" name="Text 7"/>
          <p:cNvSpPr/>
          <p:nvPr/>
        </p:nvSpPr>
        <p:spPr>
          <a:xfrm>
            <a:off x="4713784" y="1982440"/>
            <a:ext cx="284731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A4F5"/>
                </a:solidFill>
                <a:latin typeface="JetBrains Mono" pitchFamily="49" charset="0"/>
                <a:ea typeface="JetBrains Mono" pitchFamily="49" charset="-122"/>
                <a:cs typeface="JetBrains Mono" pitchFamily="49" charset="-120"/>
              </a:rPr>
              <a:t>CASE 2</a:t>
            </a:r>
            <a:endParaRPr lang="en-US" sz="1200" dirty="0"/>
          </a:p>
        </p:txBody>
      </p:sp>
      <p:sp>
        <p:nvSpPr>
          <p:cNvPr id="10" name="Text 8"/>
          <p:cNvSpPr/>
          <p:nvPr/>
        </p:nvSpPr>
        <p:spPr>
          <a:xfrm>
            <a:off x="4713784" y="2348161"/>
            <a:ext cx="284731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Frontend + API</a:t>
            </a:r>
            <a:endParaRPr lang="en-US" sz="2200" dirty="0"/>
          </a:p>
        </p:txBody>
      </p:sp>
      <p:sp>
        <p:nvSpPr>
          <p:cNvPr id="11" name="Text 9"/>
          <p:cNvSpPr/>
          <p:nvPr/>
        </p:nvSpPr>
        <p:spPr>
          <a:xfrm>
            <a:off x="4713784" y="3434705"/>
            <a:ext cx="2764383" cy="452090"/>
          </a:xfrm>
          <a:prstGeom prst="roundRect">
            <a:avLst>
              <a:gd name="adj" fmla="val 19664"/>
            </a:avLst>
          </a:prstGeom>
          <a:solidFill>
            <a:srgbClr val="3BA4F5"/>
          </a:solidFill>
          <a:ln/>
        </p:spPr>
        <p:txBody>
          <a:bodyPr wrap="square" lIns="89468" tIns="75562" rIns="89468" bIns="50162" rtlCol="0" anchor="t">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React</a:t>
            </a:r>
            <a:endParaRPr lang="en-US" sz="1400" dirty="0"/>
          </a:p>
        </p:txBody>
      </p:sp>
      <p:pic>
        <p:nvPicPr>
          <p:cNvPr id="12" name="Image 0" descr="arrow-down">    </p:cNvPr>
          <p:cNvPicPr>
            <a:picLocks noChangeAspect="1"/>
          </p:cNvPicPr>
          <p:nvPr/>
        </p:nvPicPr>
        <p:blipFill>
          <a:blip r:embed="rId1"/>
          <a:srcRect l="0" r="0" t="0" b="0"/>
          <a:stretch/>
        </p:blipFill>
        <p:spPr>
          <a:xfrm>
            <a:off x="6007050" y="3962995"/>
            <a:ext cx="177800" cy="228600"/>
          </a:xfrm>
          <a:prstGeom prst="rect">
            <a:avLst/>
          </a:prstGeom>
        </p:spPr>
      </p:pic>
      <p:sp>
        <p:nvSpPr>
          <p:cNvPr id="13" name="Text 10"/>
          <p:cNvSpPr/>
          <p:nvPr/>
        </p:nvSpPr>
        <p:spPr>
          <a:xfrm>
            <a:off x="4713784" y="4267795"/>
            <a:ext cx="2764383" cy="452090"/>
          </a:xfrm>
          <a:prstGeom prst="roundRect">
            <a:avLst>
              <a:gd name="adj" fmla="val 19664"/>
            </a:avLst>
          </a:prstGeom>
          <a:solidFill>
            <a:srgbClr val="FF9F45"/>
          </a:solidFill>
          <a:ln/>
        </p:spPr>
        <p:txBody>
          <a:bodyPr wrap="square" lIns="89468" tIns="75562" rIns="89468" bIns="50162" rtlCol="0" anchor="t">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Express</a:t>
            </a:r>
            <a:endParaRPr lang="en-US" sz="1400" dirty="0"/>
          </a:p>
        </p:txBody>
      </p:sp>
      <p:sp>
        <p:nvSpPr>
          <p:cNvPr id="14" name="Text 11"/>
          <p:cNvSpPr/>
          <p:nvPr/>
        </p:nvSpPr>
        <p:spPr>
          <a:xfrm>
            <a:off x="4713784" y="5485160"/>
            <a:ext cx="28473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UI calls a REST API.</a:t>
            </a:r>
            <a:endParaRPr lang="en-US" sz="1400" dirty="0"/>
          </a:p>
        </p:txBody>
      </p:sp>
      <p:sp>
        <p:nvSpPr>
          <p:cNvPr id="15" name="Shape 12"/>
          <p:cNvSpPr/>
          <p:nvPr/>
        </p:nvSpPr>
        <p:spPr>
          <a:xfrm>
            <a:off x="7995692" y="1674465"/>
            <a:ext cx="3380333" cy="4367560"/>
          </a:xfrm>
          <a:prstGeom prst="roundRect">
            <a:avLst>
              <a:gd name="adj" fmla="val 4415"/>
            </a:avLst>
          </a:prstGeom>
          <a:solidFill>
            <a:srgbClr val="141922"/>
          </a:solidFill>
          <a:ln w="6350">
            <a:solidFill>
              <a:srgbClr val="263041"/>
            </a:solidFill>
            <a:prstDash val="solid"/>
          </a:ln>
        </p:spPr>
      </p:sp>
      <p:sp>
        <p:nvSpPr>
          <p:cNvPr id="16" name="Text 13"/>
          <p:cNvSpPr/>
          <p:nvPr/>
        </p:nvSpPr>
        <p:spPr>
          <a:xfrm>
            <a:off x="8303667" y="1982440"/>
            <a:ext cx="284731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BA4F5"/>
                </a:solidFill>
                <a:latin typeface="JetBrains Mono" pitchFamily="49" charset="0"/>
                <a:ea typeface="JetBrains Mono" pitchFamily="49" charset="-122"/>
                <a:cs typeface="JetBrains Mono" pitchFamily="49" charset="-120"/>
              </a:rPr>
              <a:t>CASE 3</a:t>
            </a:r>
            <a:endParaRPr lang="en-US" sz="1200" dirty="0"/>
          </a:p>
        </p:txBody>
      </p:sp>
      <p:sp>
        <p:nvSpPr>
          <p:cNvPr id="17" name="Text 14"/>
          <p:cNvSpPr/>
          <p:nvPr/>
        </p:nvSpPr>
        <p:spPr>
          <a:xfrm>
            <a:off x="8303667" y="2348161"/>
            <a:ext cx="284731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Full stack</a:t>
            </a:r>
            <a:endParaRPr lang="en-US" sz="2200" dirty="0"/>
          </a:p>
        </p:txBody>
      </p:sp>
      <p:sp>
        <p:nvSpPr>
          <p:cNvPr id="18" name="Text 15"/>
          <p:cNvSpPr/>
          <p:nvPr/>
        </p:nvSpPr>
        <p:spPr>
          <a:xfrm>
            <a:off x="8303667" y="3018135"/>
            <a:ext cx="2764383" cy="452090"/>
          </a:xfrm>
          <a:prstGeom prst="roundRect">
            <a:avLst>
              <a:gd name="adj" fmla="val 19664"/>
            </a:avLst>
          </a:prstGeom>
          <a:solidFill>
            <a:srgbClr val="3BA4F5"/>
          </a:solidFill>
          <a:ln/>
        </p:spPr>
        <p:txBody>
          <a:bodyPr wrap="square" lIns="89468" tIns="75562" rIns="89468" bIns="50162" rtlCol="0" anchor="t">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React</a:t>
            </a:r>
            <a:endParaRPr lang="en-US" sz="1400" dirty="0"/>
          </a:p>
        </p:txBody>
      </p:sp>
      <p:pic>
        <p:nvPicPr>
          <p:cNvPr id="19" name="Image 1" descr="arrow-down">    </p:cNvPr>
          <p:cNvPicPr>
            <a:picLocks noChangeAspect="1"/>
          </p:cNvPicPr>
          <p:nvPr/>
        </p:nvPicPr>
        <p:blipFill>
          <a:blip r:embed="rId2"/>
          <a:srcRect l="0" r="0" t="0" b="0"/>
          <a:stretch/>
        </p:blipFill>
        <p:spPr>
          <a:xfrm>
            <a:off x="9596934" y="3546425"/>
            <a:ext cx="177800" cy="228600"/>
          </a:xfrm>
          <a:prstGeom prst="rect">
            <a:avLst/>
          </a:prstGeom>
        </p:spPr>
      </p:pic>
      <p:sp>
        <p:nvSpPr>
          <p:cNvPr id="20" name="Text 16"/>
          <p:cNvSpPr/>
          <p:nvPr/>
        </p:nvSpPr>
        <p:spPr>
          <a:xfrm>
            <a:off x="8303667" y="3851225"/>
            <a:ext cx="2764383" cy="452090"/>
          </a:xfrm>
          <a:prstGeom prst="roundRect">
            <a:avLst>
              <a:gd name="adj" fmla="val 19664"/>
            </a:avLst>
          </a:prstGeom>
          <a:solidFill>
            <a:srgbClr val="FF9F45"/>
          </a:solidFill>
          <a:ln/>
        </p:spPr>
        <p:txBody>
          <a:bodyPr wrap="square" lIns="89468" tIns="75562" rIns="89468" bIns="50162" rtlCol="0" anchor="t">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Express</a:t>
            </a:r>
            <a:endParaRPr lang="en-US" sz="1400" dirty="0"/>
          </a:p>
        </p:txBody>
      </p:sp>
      <p:pic>
        <p:nvPicPr>
          <p:cNvPr id="21" name="Image 2" descr="arrow-down">    </p:cNvPr>
          <p:cNvPicPr>
            <a:picLocks noChangeAspect="1"/>
          </p:cNvPicPr>
          <p:nvPr/>
        </p:nvPicPr>
        <p:blipFill>
          <a:blip r:embed="rId3"/>
          <a:srcRect l="0" r="0" t="0" b="0"/>
          <a:stretch/>
        </p:blipFill>
        <p:spPr>
          <a:xfrm>
            <a:off x="9596934" y="4379516"/>
            <a:ext cx="177800" cy="228600"/>
          </a:xfrm>
          <a:prstGeom prst="rect">
            <a:avLst/>
          </a:prstGeom>
        </p:spPr>
      </p:pic>
      <p:sp>
        <p:nvSpPr>
          <p:cNvPr id="22" name="Text 17"/>
          <p:cNvSpPr/>
          <p:nvPr/>
        </p:nvSpPr>
        <p:spPr>
          <a:xfrm>
            <a:off x="8303667" y="4684316"/>
            <a:ext cx="2764383" cy="452090"/>
          </a:xfrm>
          <a:prstGeom prst="roundRect">
            <a:avLst>
              <a:gd name="adj" fmla="val 19664"/>
            </a:avLst>
          </a:prstGeom>
          <a:solidFill>
            <a:srgbClr val="4FC27A"/>
          </a:solidFill>
          <a:ln/>
        </p:spPr>
        <p:txBody>
          <a:bodyPr wrap="square" lIns="89468" tIns="75562" rIns="89468" bIns="50162" rtlCol="0" anchor="t">
            <a:normAutofit/>
          </a:bodyPr>
          <a:lstStyle/>
          <a:p>
            <a:pPr algn="ctr" indent="0" marL="0">
              <a:lnSpc>
                <a:spcPts val="1960"/>
              </a:lnSpc>
              <a:buNone/>
            </a:pPr>
            <a:r>
              <a:rPr lang="en-US" sz="1400" b="1" dirty="0">
                <a:solidFill>
                  <a:srgbClr val="0A0C10"/>
                </a:solidFill>
                <a:latin typeface="JetBrains Mono" pitchFamily="49" charset="0"/>
                <a:ea typeface="JetBrains Mono" pitchFamily="49" charset="-122"/>
                <a:cs typeface="JetBrains Mono" pitchFamily="49" charset="-120"/>
              </a:rPr>
              <a:t>MongoDB</a:t>
            </a:r>
            <a:endParaRPr lang="en-US" sz="1400" dirty="0"/>
          </a:p>
        </p:txBody>
      </p:sp>
      <p:sp>
        <p:nvSpPr>
          <p:cNvPr id="23" name="Text 18"/>
          <p:cNvSpPr/>
          <p:nvPr/>
        </p:nvSpPr>
        <p:spPr>
          <a:xfrm>
            <a:off x="8303667" y="5485160"/>
            <a:ext cx="28473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UI + API + database (MERN).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“It works on my machine”</a:t>
            </a:r>
            <a:endParaRPr lang="en-US" sz="3600" dirty="0"/>
          </a:p>
        </p:txBody>
      </p:sp>
      <p:sp>
        <p:nvSpPr>
          <p:cNvPr id="3" name="Shape 1"/>
          <p:cNvSpPr/>
          <p:nvPr/>
        </p:nvSpPr>
        <p:spPr>
          <a:xfrm>
            <a:off x="815975" y="1674465"/>
            <a:ext cx="4502150" cy="2786261"/>
          </a:xfrm>
          <a:prstGeom prst="roundRect">
            <a:avLst>
              <a:gd name="adj" fmla="val 5356"/>
            </a:avLst>
          </a:prstGeom>
          <a:solidFill>
            <a:srgbClr val="141922"/>
          </a:solidFill>
          <a:ln w="6350">
            <a:solidFill>
              <a:srgbClr val="263041"/>
            </a:solidFill>
            <a:prstDash val="solid"/>
          </a:ln>
        </p:spPr>
      </p:sp>
      <p:pic>
        <p:nvPicPr>
          <p:cNvPr id="4" name="Image 0" descr="Home">    </p:cNvPr>
          <p:cNvPicPr>
            <a:picLocks noChangeAspect="1"/>
          </p:cNvPicPr>
          <p:nvPr/>
        </p:nvPicPr>
        <p:blipFill>
          <a:blip r:embed="rId1"/>
          <a:srcRect l="0" r="0" t="0" b="0"/>
          <a:stretch/>
        </p:blipFill>
        <p:spPr>
          <a:xfrm>
            <a:off x="1123950" y="1990675"/>
            <a:ext cx="304800" cy="304800"/>
          </a:xfrm>
          <a:prstGeom prst="rect">
            <a:avLst/>
          </a:prstGeom>
        </p:spPr>
      </p:pic>
      <p:sp>
        <p:nvSpPr>
          <p:cNvPr id="5" name="Text 2"/>
          <p:cNvSpPr/>
          <p:nvPr/>
        </p:nvSpPr>
        <p:spPr>
          <a:xfrm>
            <a:off x="1555750" y="1982440"/>
            <a:ext cx="1866840"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Your laptop</a:t>
            </a:r>
            <a:endParaRPr lang="en-US" sz="2200" dirty="0"/>
          </a:p>
        </p:txBody>
      </p:sp>
      <p:pic>
        <p:nvPicPr>
          <p:cNvPr id="6" name="Image 1" descr="CheckCircle">    </p:cNvPr>
          <p:cNvPicPr>
            <a:picLocks noChangeAspect="1"/>
          </p:cNvPicPr>
          <p:nvPr/>
        </p:nvPicPr>
        <p:blipFill>
          <a:blip r:embed="rId2"/>
          <a:srcRect l="0" r="0" t="0" b="0"/>
          <a:stretch/>
        </p:blipFill>
        <p:spPr>
          <a:xfrm>
            <a:off x="1123950" y="2496741"/>
            <a:ext cx="254000" cy="254000"/>
          </a:xfrm>
          <a:prstGeom prst="rect">
            <a:avLst/>
          </a:prstGeom>
        </p:spPr>
      </p:pic>
      <p:sp>
        <p:nvSpPr>
          <p:cNvPr id="7" name="Text 3"/>
          <p:cNvSpPr/>
          <p:nvPr/>
        </p:nvSpPr>
        <p:spPr>
          <a:xfrm>
            <a:off x="1504950" y="2481511"/>
            <a:ext cx="93440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Node 20</a:t>
            </a:r>
            <a:endParaRPr lang="en-US" sz="1600" dirty="0"/>
          </a:p>
        </p:txBody>
      </p:sp>
      <p:pic>
        <p:nvPicPr>
          <p:cNvPr id="8" name="Image 2" descr="CheckCircle">    </p:cNvPr>
          <p:cNvPicPr>
            <a:picLocks noChangeAspect="1"/>
          </p:cNvPicPr>
          <p:nvPr/>
        </p:nvPicPr>
        <p:blipFill>
          <a:blip r:embed="rId3"/>
          <a:srcRect l="0" r="0" t="0" b="0"/>
          <a:stretch/>
        </p:blipFill>
        <p:spPr>
          <a:xfrm>
            <a:off x="1123950" y="2959001"/>
            <a:ext cx="254000" cy="254000"/>
          </a:xfrm>
          <a:prstGeom prst="rect">
            <a:avLst/>
          </a:prstGeom>
        </p:spPr>
      </p:pic>
      <p:sp>
        <p:nvSpPr>
          <p:cNvPr id="9" name="Text 4"/>
          <p:cNvSpPr/>
          <p:nvPr/>
        </p:nvSpPr>
        <p:spPr>
          <a:xfrm>
            <a:off x="1504950" y="2943771"/>
            <a:ext cx="205632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MongoDB installed</a:t>
            </a:r>
            <a:endParaRPr lang="en-US" sz="1600" dirty="0"/>
          </a:p>
        </p:txBody>
      </p:sp>
      <p:pic>
        <p:nvPicPr>
          <p:cNvPr id="10" name="Image 3" descr="CheckCircle">    </p:cNvPr>
          <p:cNvPicPr>
            <a:picLocks noChangeAspect="1"/>
          </p:cNvPicPr>
          <p:nvPr/>
        </p:nvPicPr>
        <p:blipFill>
          <a:blip r:embed="rId4"/>
          <a:srcRect l="0" r="0" t="0" b="0"/>
          <a:stretch/>
        </p:blipFill>
        <p:spPr>
          <a:xfrm>
            <a:off x="1123950" y="3421261"/>
            <a:ext cx="254000" cy="254000"/>
          </a:xfrm>
          <a:prstGeom prst="rect">
            <a:avLst/>
          </a:prstGeom>
        </p:spPr>
      </p:pic>
      <p:sp>
        <p:nvSpPr>
          <p:cNvPr id="11" name="Text 5"/>
          <p:cNvSpPr/>
          <p:nvPr/>
        </p:nvSpPr>
        <p:spPr>
          <a:xfrm>
            <a:off x="1504950" y="3406031"/>
            <a:ext cx="174813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.env file present</a:t>
            </a:r>
            <a:endParaRPr lang="en-US" sz="1600" dirty="0"/>
          </a:p>
        </p:txBody>
      </p:sp>
      <p:pic>
        <p:nvPicPr>
          <p:cNvPr id="12" name="Image 4" descr="CheckCircle">    </p:cNvPr>
          <p:cNvPicPr>
            <a:picLocks noChangeAspect="1"/>
          </p:cNvPicPr>
          <p:nvPr/>
        </p:nvPicPr>
        <p:blipFill>
          <a:blip r:embed="rId5"/>
          <a:srcRect l="0" r="0" t="0" b="0"/>
          <a:stretch/>
        </p:blipFill>
        <p:spPr>
          <a:xfrm>
            <a:off x="1123950" y="3883521"/>
            <a:ext cx="254000" cy="254000"/>
          </a:xfrm>
          <a:prstGeom prst="rect">
            <a:avLst/>
          </a:prstGeom>
        </p:spPr>
      </p:pic>
      <p:sp>
        <p:nvSpPr>
          <p:cNvPr id="13" name="Text 6"/>
          <p:cNvSpPr/>
          <p:nvPr/>
        </p:nvSpPr>
        <p:spPr>
          <a:xfrm>
            <a:off x="1504950" y="3868291"/>
            <a:ext cx="13492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Windows 11</a:t>
            </a:r>
            <a:endParaRPr lang="en-US" sz="1600" dirty="0"/>
          </a:p>
        </p:txBody>
      </p:sp>
      <p:pic>
        <p:nvPicPr>
          <p:cNvPr id="14" name="Image 5" descr="arrow-right">    </p:cNvPr>
          <p:cNvPicPr>
            <a:picLocks noChangeAspect="1"/>
          </p:cNvPicPr>
          <p:nvPr/>
        </p:nvPicPr>
        <p:blipFill>
          <a:blip r:embed="rId6"/>
          <a:srcRect l="0" r="0" t="0" b="0"/>
          <a:stretch/>
        </p:blipFill>
        <p:spPr>
          <a:xfrm>
            <a:off x="5715000" y="2732336"/>
            <a:ext cx="762000" cy="355600"/>
          </a:xfrm>
          <a:prstGeom prst="rect">
            <a:avLst/>
          </a:prstGeom>
        </p:spPr>
      </p:pic>
      <p:sp>
        <p:nvSpPr>
          <p:cNvPr id="15" name="Text 7"/>
          <p:cNvSpPr/>
          <p:nvPr/>
        </p:nvSpPr>
        <p:spPr>
          <a:xfrm>
            <a:off x="5657076" y="3189536"/>
            <a:ext cx="87784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git push</a:t>
            </a:r>
            <a:endParaRPr lang="en-US" sz="1200" dirty="0"/>
          </a:p>
        </p:txBody>
      </p:sp>
      <p:sp>
        <p:nvSpPr>
          <p:cNvPr id="16" name="Shape 8"/>
          <p:cNvSpPr/>
          <p:nvPr/>
        </p:nvSpPr>
        <p:spPr>
          <a:xfrm>
            <a:off x="6873875" y="1674465"/>
            <a:ext cx="4502150" cy="2786261"/>
          </a:xfrm>
          <a:prstGeom prst="roundRect">
            <a:avLst>
              <a:gd name="adj" fmla="val 5356"/>
            </a:avLst>
          </a:prstGeom>
          <a:solidFill>
            <a:srgbClr val="141922"/>
          </a:solidFill>
          <a:ln w="6350">
            <a:solidFill>
              <a:srgbClr val="263041"/>
            </a:solidFill>
            <a:prstDash val="solid"/>
          </a:ln>
        </p:spPr>
      </p:sp>
      <p:pic>
        <p:nvPicPr>
          <p:cNvPr id="17" name="Image 6" descr="Cloud">    </p:cNvPr>
          <p:cNvPicPr>
            <a:picLocks noChangeAspect="1"/>
          </p:cNvPicPr>
          <p:nvPr/>
        </p:nvPicPr>
        <p:blipFill>
          <a:blip r:embed="rId7"/>
          <a:srcRect l="0" r="0" t="0" b="0"/>
          <a:stretch/>
        </p:blipFill>
        <p:spPr>
          <a:xfrm>
            <a:off x="7181850" y="1990675"/>
            <a:ext cx="304800" cy="304800"/>
          </a:xfrm>
          <a:prstGeom prst="rect">
            <a:avLst/>
          </a:prstGeom>
        </p:spPr>
      </p:pic>
      <p:sp>
        <p:nvSpPr>
          <p:cNvPr id="18" name="Text 9"/>
          <p:cNvSpPr/>
          <p:nvPr/>
        </p:nvSpPr>
        <p:spPr>
          <a:xfrm>
            <a:off x="7613650" y="1982440"/>
            <a:ext cx="168949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The server</a:t>
            </a:r>
            <a:endParaRPr lang="en-US" sz="2200" dirty="0"/>
          </a:p>
        </p:txBody>
      </p:sp>
      <p:pic>
        <p:nvPicPr>
          <p:cNvPr id="19" name="Image 7" descr="Warning">    </p:cNvPr>
          <p:cNvPicPr>
            <a:picLocks noChangeAspect="1"/>
          </p:cNvPicPr>
          <p:nvPr/>
        </p:nvPicPr>
        <p:blipFill>
          <a:blip r:embed="rId8"/>
          <a:srcRect l="0" r="0" t="0" b="0"/>
          <a:stretch/>
        </p:blipFill>
        <p:spPr>
          <a:xfrm>
            <a:off x="7181850" y="2496741"/>
            <a:ext cx="254000" cy="254000"/>
          </a:xfrm>
          <a:prstGeom prst="rect">
            <a:avLst/>
          </a:prstGeom>
        </p:spPr>
      </p:pic>
      <p:sp>
        <p:nvSpPr>
          <p:cNvPr id="20" name="Text 10"/>
          <p:cNvSpPr/>
          <p:nvPr/>
        </p:nvSpPr>
        <p:spPr>
          <a:xfrm>
            <a:off x="7562850" y="2481511"/>
            <a:ext cx="306413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Node 16 · version mismatch</a:t>
            </a:r>
            <a:endParaRPr lang="en-US" sz="1600" dirty="0"/>
          </a:p>
        </p:txBody>
      </p:sp>
      <p:pic>
        <p:nvPicPr>
          <p:cNvPr id="21" name="Image 8" descr="Warning">    </p:cNvPr>
          <p:cNvPicPr>
            <a:picLocks noChangeAspect="1"/>
          </p:cNvPicPr>
          <p:nvPr/>
        </p:nvPicPr>
        <p:blipFill>
          <a:blip r:embed="rId9"/>
          <a:srcRect l="0" r="0" t="0" b="0"/>
          <a:stretch/>
        </p:blipFill>
        <p:spPr>
          <a:xfrm>
            <a:off x="7181850" y="2959001"/>
            <a:ext cx="254000" cy="254000"/>
          </a:xfrm>
          <a:prstGeom prst="rect">
            <a:avLst/>
          </a:prstGeom>
        </p:spPr>
      </p:pic>
      <p:sp>
        <p:nvSpPr>
          <p:cNvPr id="22" name="Text 11"/>
          <p:cNvSpPr/>
          <p:nvPr/>
        </p:nvSpPr>
        <p:spPr>
          <a:xfrm>
            <a:off x="7562850" y="2943771"/>
            <a:ext cx="14262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No MongoDB</a:t>
            </a:r>
            <a:endParaRPr lang="en-US" sz="1600" dirty="0"/>
          </a:p>
        </p:txBody>
      </p:sp>
      <p:pic>
        <p:nvPicPr>
          <p:cNvPr id="23" name="Image 9" descr="Warning">    </p:cNvPr>
          <p:cNvPicPr>
            <a:picLocks noChangeAspect="1"/>
          </p:cNvPicPr>
          <p:nvPr/>
        </p:nvPicPr>
        <p:blipFill>
          <a:blip r:embed="rId10"/>
          <a:srcRect l="0" r="0" t="0" b="0"/>
          <a:stretch/>
        </p:blipFill>
        <p:spPr>
          <a:xfrm>
            <a:off x="7181850" y="3421261"/>
            <a:ext cx="254000" cy="254000"/>
          </a:xfrm>
          <a:prstGeom prst="rect">
            <a:avLst/>
          </a:prstGeom>
        </p:spPr>
      </p:pic>
      <p:sp>
        <p:nvSpPr>
          <p:cNvPr id="24" name="Text 12"/>
          <p:cNvSpPr/>
          <p:nvPr/>
        </p:nvSpPr>
        <p:spPr>
          <a:xfrm>
            <a:off x="7562850" y="3406031"/>
            <a:ext cx="12168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No .env file</a:t>
            </a:r>
            <a:endParaRPr lang="en-US" sz="1600" dirty="0"/>
          </a:p>
        </p:txBody>
      </p:sp>
      <p:pic>
        <p:nvPicPr>
          <p:cNvPr id="25" name="Image 10" descr="Warning">    </p:cNvPr>
          <p:cNvPicPr>
            <a:picLocks noChangeAspect="1"/>
          </p:cNvPicPr>
          <p:nvPr/>
        </p:nvPicPr>
        <p:blipFill>
          <a:blip r:embed="rId11"/>
          <a:srcRect l="0" r="0" t="0" b="0"/>
          <a:stretch/>
        </p:blipFill>
        <p:spPr>
          <a:xfrm>
            <a:off x="7181850" y="3883521"/>
            <a:ext cx="254000" cy="254000"/>
          </a:xfrm>
          <a:prstGeom prst="rect">
            <a:avLst/>
          </a:prstGeom>
        </p:spPr>
      </p:pic>
      <p:sp>
        <p:nvSpPr>
          <p:cNvPr id="26" name="Text 13"/>
          <p:cNvSpPr/>
          <p:nvPr/>
        </p:nvSpPr>
        <p:spPr>
          <a:xfrm>
            <a:off x="7562850" y="3868291"/>
            <a:ext cx="58376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Linux</a:t>
            </a:r>
            <a:endParaRPr lang="en-US" sz="1600" dirty="0"/>
          </a:p>
        </p:txBody>
      </p:sp>
      <p:sp>
        <p:nvSpPr>
          <p:cNvPr id="27" name="Shape 14"/>
          <p:cNvSpPr/>
          <p:nvPr/>
        </p:nvSpPr>
        <p:spPr>
          <a:xfrm>
            <a:off x="819150" y="4825851"/>
            <a:ext cx="10553700" cy="723900"/>
          </a:xfrm>
          <a:prstGeom prst="roundRect">
            <a:avLst>
              <a:gd name="adj" fmla="val 16667"/>
            </a:avLst>
          </a:prstGeom>
          <a:solidFill>
            <a:srgbClr val="24131A"/>
          </a:solidFill>
          <a:ln w="12700">
            <a:solidFill>
              <a:srgbClr val="FF6B6B"/>
            </a:solidFill>
            <a:prstDash val="solid"/>
          </a:ln>
        </p:spPr>
      </p:sp>
      <p:pic>
        <p:nvPicPr>
          <p:cNvPr id="28" name="Image 11" descr="Warning">    </p:cNvPr>
          <p:cNvPicPr>
            <a:picLocks noChangeAspect="1"/>
          </p:cNvPicPr>
          <p:nvPr/>
        </p:nvPicPr>
        <p:blipFill>
          <a:blip r:embed="rId12"/>
          <a:srcRect l="0" r="0" t="0" b="0"/>
          <a:stretch/>
        </p:blipFill>
        <p:spPr>
          <a:xfrm>
            <a:off x="1130300" y="5035401"/>
            <a:ext cx="304800" cy="304800"/>
          </a:xfrm>
          <a:prstGeom prst="rect">
            <a:avLst/>
          </a:prstGeom>
        </p:spPr>
      </p:pic>
      <p:sp>
        <p:nvSpPr>
          <p:cNvPr id="29" name="Text 15"/>
          <p:cNvSpPr/>
          <p:nvPr/>
        </p:nvSpPr>
        <p:spPr>
          <a:xfrm>
            <a:off x="1587500" y="5063331"/>
            <a:ext cx="44805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8A8A"/>
                </a:solidFill>
                <a:latin typeface="JetBrains Mono" pitchFamily="49" charset="0"/>
                <a:ea typeface="JetBrains Mono" pitchFamily="49" charset="-122"/>
                <a:cs typeface="JetBrains Mono" pitchFamily="49" charset="-120"/>
              </a:rPr>
              <a:t>Crash: ECONNREFUSED 127.0.0.1:27017</a:t>
            </a:r>
            <a:endParaRPr lang="en-US" sz="1400" dirty="0"/>
          </a:p>
        </p:txBody>
      </p:sp>
      <p:sp>
        <p:nvSpPr>
          <p:cNvPr id="30" name="Text 16"/>
          <p:cNvSpPr/>
          <p:nvPr/>
        </p:nvSpPr>
        <p:spPr>
          <a:xfrm>
            <a:off x="8621564" y="5063331"/>
            <a:ext cx="274493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Same code. Different machine.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Shipping had this problem first</a:t>
            </a:r>
            <a:endParaRPr lang="en-US" sz="3600" dirty="0"/>
          </a:p>
        </p:txBody>
      </p:sp>
      <p:sp>
        <p:nvSpPr>
          <p:cNvPr id="3" name="Shape 1"/>
          <p:cNvSpPr/>
          <p:nvPr/>
        </p:nvSpPr>
        <p:spPr>
          <a:xfrm>
            <a:off x="815975" y="1674465"/>
            <a:ext cx="4768850" cy="3441601"/>
          </a:xfrm>
          <a:prstGeom prst="roundRect">
            <a:avLst>
              <a:gd name="adj" fmla="val 4336"/>
            </a:avLst>
          </a:prstGeom>
          <a:solidFill>
            <a:srgbClr val="141922"/>
          </a:solidFill>
          <a:ln w="6350">
            <a:solidFill>
              <a:srgbClr val="263041"/>
            </a:solidFill>
            <a:prstDash val="solid"/>
          </a:ln>
        </p:spPr>
      </p:sp>
      <p:sp>
        <p:nvSpPr>
          <p:cNvPr id="4" name="Text 2"/>
          <p:cNvSpPr/>
          <p:nvPr/>
        </p:nvSpPr>
        <p:spPr>
          <a:xfrm>
            <a:off x="1123950" y="1982440"/>
            <a:ext cx="427748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F9F45"/>
                </a:solidFill>
                <a:latin typeface="Space Grotesk" pitchFamily="34" charset="0"/>
                <a:ea typeface="Space Grotesk" pitchFamily="34" charset="-122"/>
                <a:cs typeface="Space Grotesk" pitchFamily="34" charset="-120"/>
              </a:rPr>
              <a:t>Before containers</a:t>
            </a:r>
            <a:endParaRPr lang="en-US" sz="2200" dirty="0"/>
          </a:p>
        </p:txBody>
      </p:sp>
      <p:pic>
        <p:nvPicPr>
          <p:cNvPr id="5" name="Image 0" descr="rect">    </p:cNvPr>
          <p:cNvPicPr>
            <a:picLocks noChangeAspect="1"/>
          </p:cNvPicPr>
          <p:nvPr/>
        </p:nvPicPr>
        <p:blipFill>
          <a:blip r:embed="rId1"/>
          <a:srcRect l="0" r="0" t="0" b="0"/>
          <a:stretch/>
        </p:blipFill>
        <p:spPr>
          <a:xfrm rot="21120000">
            <a:off x="1187450" y="2672011"/>
            <a:ext cx="1079500" cy="571500"/>
          </a:xfrm>
          <a:prstGeom prst="rect">
            <a:avLst/>
          </a:prstGeom>
        </p:spPr>
      </p:pic>
      <p:pic>
        <p:nvPicPr>
          <p:cNvPr id="6" name="Image 1" descr="ellipse">    </p:cNvPr>
          <p:cNvPicPr>
            <a:picLocks noChangeAspect="1"/>
          </p:cNvPicPr>
          <p:nvPr/>
        </p:nvPicPr>
        <p:blipFill>
          <a:blip r:embed="rId2"/>
          <a:srcRect l="0" r="0" t="0" b="0"/>
          <a:stretch/>
        </p:blipFill>
        <p:spPr>
          <a:xfrm>
            <a:off x="2457450" y="2481511"/>
            <a:ext cx="762000" cy="762000"/>
          </a:xfrm>
          <a:prstGeom prst="rect">
            <a:avLst/>
          </a:prstGeom>
        </p:spPr>
      </p:pic>
      <p:pic>
        <p:nvPicPr>
          <p:cNvPr id="7" name="Image 2" descr="diamond">    </p:cNvPr>
          <p:cNvPicPr>
            <a:picLocks noChangeAspect="1"/>
          </p:cNvPicPr>
          <p:nvPr/>
        </p:nvPicPr>
        <p:blipFill>
          <a:blip r:embed="rId3"/>
          <a:srcRect l="0" r="0" t="0" b="0"/>
          <a:stretch/>
        </p:blipFill>
        <p:spPr>
          <a:xfrm>
            <a:off x="3409950" y="2799011"/>
            <a:ext cx="825500" cy="825500"/>
          </a:xfrm>
          <a:prstGeom prst="rect">
            <a:avLst/>
          </a:prstGeom>
        </p:spPr>
      </p:pic>
      <p:pic>
        <p:nvPicPr>
          <p:cNvPr id="8" name="Image 3" descr="rect">    </p:cNvPr>
          <p:cNvPicPr>
            <a:picLocks noChangeAspect="1"/>
          </p:cNvPicPr>
          <p:nvPr/>
        </p:nvPicPr>
        <p:blipFill>
          <a:blip r:embed="rId4"/>
          <a:srcRect l="0" r="0" t="0" b="0"/>
          <a:stretch/>
        </p:blipFill>
        <p:spPr>
          <a:xfrm rot="720000">
            <a:off x="4425950" y="2545011"/>
            <a:ext cx="571500" cy="952500"/>
          </a:xfrm>
          <a:prstGeom prst="rect">
            <a:avLst/>
          </a:prstGeom>
        </p:spPr>
      </p:pic>
      <p:pic>
        <p:nvPicPr>
          <p:cNvPr id="9" name="Image 4" descr="ellipse">    </p:cNvPr>
          <p:cNvPicPr>
            <a:picLocks noChangeAspect="1"/>
          </p:cNvPicPr>
          <p:nvPr/>
        </p:nvPicPr>
        <p:blipFill>
          <a:blip r:embed="rId5"/>
          <a:srcRect l="0" r="0" t="0" b="0"/>
          <a:stretch/>
        </p:blipFill>
        <p:spPr>
          <a:xfrm>
            <a:off x="1377950" y="3561011"/>
            <a:ext cx="1206500" cy="444500"/>
          </a:xfrm>
          <a:prstGeom prst="rect">
            <a:avLst/>
          </a:prstGeom>
        </p:spPr>
      </p:pic>
      <p:pic>
        <p:nvPicPr>
          <p:cNvPr id="10" name="Image 5" descr="rect">    </p:cNvPr>
          <p:cNvPicPr>
            <a:picLocks noChangeAspect="1"/>
          </p:cNvPicPr>
          <p:nvPr/>
        </p:nvPicPr>
        <p:blipFill>
          <a:blip r:embed="rId6"/>
          <a:srcRect l="0" r="0" t="0" b="0"/>
          <a:stretch/>
        </p:blipFill>
        <p:spPr>
          <a:xfrm rot="360000">
            <a:off x="2838450" y="3624511"/>
            <a:ext cx="952500" cy="381000"/>
          </a:xfrm>
          <a:prstGeom prst="rect">
            <a:avLst/>
          </a:prstGeom>
        </p:spPr>
      </p:pic>
      <p:pic>
        <p:nvPicPr>
          <p:cNvPr id="11" name="Image 6" descr="diamond">    </p:cNvPr>
          <p:cNvPicPr>
            <a:picLocks noChangeAspect="1"/>
          </p:cNvPicPr>
          <p:nvPr/>
        </p:nvPicPr>
        <p:blipFill>
          <a:blip r:embed="rId7"/>
          <a:srcRect l="0" r="0" t="0" b="0"/>
          <a:stretch/>
        </p:blipFill>
        <p:spPr>
          <a:xfrm>
            <a:off x="4108450" y="3624511"/>
            <a:ext cx="508000" cy="508000"/>
          </a:xfrm>
          <a:prstGeom prst="rect">
            <a:avLst/>
          </a:prstGeom>
        </p:spPr>
      </p:pic>
      <p:sp>
        <p:nvSpPr>
          <p:cNvPr id="12" name="Text 3"/>
          <p:cNvSpPr/>
          <p:nvPr/>
        </p:nvSpPr>
        <p:spPr>
          <a:xfrm>
            <a:off x="1123950" y="4310311"/>
            <a:ext cx="427748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Every cargo packed differently. Slow, fragile, manual.</a:t>
            </a:r>
            <a:endParaRPr lang="en-US" sz="1400" dirty="0"/>
          </a:p>
        </p:txBody>
      </p:sp>
      <p:pic>
        <p:nvPicPr>
          <p:cNvPr id="13" name="Image 7" descr="arrow-right">    </p:cNvPr>
          <p:cNvPicPr>
            <a:picLocks noChangeAspect="1"/>
          </p:cNvPicPr>
          <p:nvPr/>
        </p:nvPicPr>
        <p:blipFill>
          <a:blip r:embed="rId8"/>
          <a:srcRect l="0" r="0" t="0" b="0"/>
          <a:stretch/>
        </p:blipFill>
        <p:spPr>
          <a:xfrm>
            <a:off x="5791200" y="3242866"/>
            <a:ext cx="609600" cy="304800"/>
          </a:xfrm>
          <a:prstGeom prst="rect">
            <a:avLst/>
          </a:prstGeom>
        </p:spPr>
      </p:pic>
      <p:sp>
        <p:nvSpPr>
          <p:cNvPr id="14" name="Shape 4"/>
          <p:cNvSpPr/>
          <p:nvPr/>
        </p:nvSpPr>
        <p:spPr>
          <a:xfrm>
            <a:off x="6607175" y="1798886"/>
            <a:ext cx="4768850" cy="3192711"/>
          </a:xfrm>
          <a:prstGeom prst="roundRect">
            <a:avLst>
              <a:gd name="adj" fmla="val 4674"/>
            </a:avLst>
          </a:prstGeom>
          <a:solidFill>
            <a:srgbClr val="141922"/>
          </a:solidFill>
          <a:ln w="6350">
            <a:solidFill>
              <a:srgbClr val="263041"/>
            </a:solidFill>
            <a:prstDash val="solid"/>
          </a:ln>
        </p:spPr>
      </p:sp>
      <p:sp>
        <p:nvSpPr>
          <p:cNvPr id="15" name="Text 5"/>
          <p:cNvSpPr/>
          <p:nvPr/>
        </p:nvSpPr>
        <p:spPr>
          <a:xfrm>
            <a:off x="6915150" y="2106861"/>
            <a:ext cx="427748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3BA4F5"/>
                </a:solidFill>
                <a:latin typeface="Space Grotesk" pitchFamily="34" charset="0"/>
                <a:ea typeface="Space Grotesk" pitchFamily="34" charset="-122"/>
                <a:cs typeface="Space Grotesk" pitchFamily="34" charset="-120"/>
              </a:rPr>
              <a:t>After containers</a:t>
            </a:r>
            <a:endParaRPr lang="en-US" sz="2200" dirty="0"/>
          </a:p>
        </p:txBody>
      </p:sp>
      <p:sp>
        <p:nvSpPr>
          <p:cNvPr id="16" name="Shape 6"/>
          <p:cNvSpPr/>
          <p:nvPr/>
        </p:nvSpPr>
        <p:spPr>
          <a:xfrm>
            <a:off x="6915150" y="2627064"/>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17" name="Shape 7"/>
          <p:cNvSpPr/>
          <p:nvPr/>
        </p:nvSpPr>
        <p:spPr>
          <a:xfrm>
            <a:off x="7972425" y="2627064"/>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18" name="Shape 8"/>
          <p:cNvSpPr/>
          <p:nvPr/>
        </p:nvSpPr>
        <p:spPr>
          <a:xfrm>
            <a:off x="9029700" y="2627064"/>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19" name="Shape 9"/>
          <p:cNvSpPr/>
          <p:nvPr/>
        </p:nvSpPr>
        <p:spPr>
          <a:xfrm>
            <a:off x="10086975" y="2627064"/>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0" name="Shape 10"/>
          <p:cNvSpPr/>
          <p:nvPr/>
        </p:nvSpPr>
        <p:spPr>
          <a:xfrm>
            <a:off x="6915150" y="3202781"/>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1" name="Shape 11"/>
          <p:cNvSpPr/>
          <p:nvPr/>
        </p:nvSpPr>
        <p:spPr>
          <a:xfrm>
            <a:off x="7972425" y="3202781"/>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2" name="Shape 12"/>
          <p:cNvSpPr/>
          <p:nvPr/>
        </p:nvSpPr>
        <p:spPr>
          <a:xfrm>
            <a:off x="9029700" y="3202781"/>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3" name="Shape 13"/>
          <p:cNvSpPr/>
          <p:nvPr/>
        </p:nvSpPr>
        <p:spPr>
          <a:xfrm>
            <a:off x="10086975" y="3202781"/>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4" name="Shape 14"/>
          <p:cNvSpPr/>
          <p:nvPr/>
        </p:nvSpPr>
        <p:spPr>
          <a:xfrm>
            <a:off x="6915150" y="3778548"/>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5" name="Shape 15"/>
          <p:cNvSpPr/>
          <p:nvPr/>
        </p:nvSpPr>
        <p:spPr>
          <a:xfrm>
            <a:off x="7972425" y="3778548"/>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6" name="Shape 16"/>
          <p:cNvSpPr/>
          <p:nvPr/>
        </p:nvSpPr>
        <p:spPr>
          <a:xfrm>
            <a:off x="9029700" y="3778548"/>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7" name="Shape 17"/>
          <p:cNvSpPr/>
          <p:nvPr/>
        </p:nvSpPr>
        <p:spPr>
          <a:xfrm>
            <a:off x="10086975" y="3778548"/>
            <a:ext cx="981075" cy="457200"/>
          </a:xfrm>
          <a:prstGeom prst="roundRect">
            <a:avLst>
              <a:gd name="adj" fmla="val 8333"/>
            </a:avLst>
          </a:prstGeom>
          <a:gradFill rotWithShape="1">
            <a:gsLst>
              <a:gs pos="0">
                <a:srgbClr val="3BA4F5"/>
              </a:gs>
              <a:gs pos="72727">
                <a:srgbClr val="3BA4F5"/>
              </a:gs>
              <a:gs pos="72727">
                <a:srgbClr val="1C7FCC"/>
              </a:gs>
              <a:gs pos="100000">
                <a:srgbClr val="1C7FCC"/>
              </a:gs>
            </a:gsLst>
            <a:lin ang="0" scaled="0"/>
          </a:gradFill>
          <a:ln/>
        </p:spPr>
      </p:sp>
      <p:sp>
        <p:nvSpPr>
          <p:cNvPr id="28" name="Text 18"/>
          <p:cNvSpPr/>
          <p:nvPr/>
        </p:nvSpPr>
        <p:spPr>
          <a:xfrm>
            <a:off x="6915150" y="4434731"/>
            <a:ext cx="427748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One standard box. Fits every ship, truck and crane.</a:t>
            </a:r>
            <a:endParaRPr lang="en-US" sz="1400" dirty="0"/>
          </a:p>
        </p:txBody>
      </p:sp>
      <p:sp>
        <p:nvSpPr>
          <p:cNvPr id="29" name="Text 19"/>
          <p:cNvSpPr/>
          <p:nvPr/>
        </p:nvSpPr>
        <p:spPr>
          <a:xfrm>
            <a:off x="654304" y="5474841"/>
            <a:ext cx="10883392"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F3F5F8"/>
                </a:solidFill>
                <a:latin typeface="Space Grotesk" pitchFamily="34" charset="0"/>
                <a:ea typeface="Space Grotesk" pitchFamily="34" charset="-122"/>
                <a:cs typeface="Space Grotesk" pitchFamily="34" charset="-120"/>
              </a:rPr>
              <a:t>Docker is the </a:t>
            </a:r>
            <a:r>
              <a:rPr lang="en-US" sz="2200" b="1" dirty="0">
                <a:solidFill>
                  <a:srgbClr val="3BA4F5"/>
                </a:solidFill>
                <a:latin typeface="Space Grotesk" pitchFamily="34" charset="0"/>
                <a:ea typeface="Space Grotesk" pitchFamily="34" charset="-122"/>
                <a:cs typeface="Space Grotesk" pitchFamily="34" charset="-120"/>
              </a:rPr>
              <a:t>standard box</a:t>
            </a:r>
            <a:r>
              <a:rPr lang="en-US" sz="2200" b="1" dirty="0">
                <a:solidFill>
                  <a:srgbClr val="F3F5F8"/>
                </a:solidFill>
                <a:latin typeface="Space Grotesk" pitchFamily="34" charset="0"/>
                <a:ea typeface="Space Grotesk" pitchFamily="34" charset="-122"/>
                <a:cs typeface="Space Grotesk" pitchFamily="34" charset="-120"/>
              </a:rPr>
              <a:t> for software.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21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One box: app + everything it needs</a:t>
            </a:r>
            <a:endParaRPr lang="en-US" sz="3600" dirty="0"/>
          </a:p>
        </p:txBody>
      </p:sp>
      <p:sp>
        <p:nvSpPr>
          <p:cNvPr id="3" name="Shape 1"/>
          <p:cNvSpPr/>
          <p:nvPr/>
        </p:nvSpPr>
        <p:spPr>
          <a:xfrm>
            <a:off x="822325" y="1680815"/>
            <a:ext cx="5441950" cy="3534221"/>
          </a:xfrm>
          <a:prstGeom prst="roundRect">
            <a:avLst>
              <a:gd name="adj" fmla="val 4043"/>
            </a:avLst>
          </a:prstGeom>
          <a:solidFill>
            <a:srgbClr val="0D1A28"/>
          </a:solidFill>
          <a:ln w="19050">
            <a:solidFill>
              <a:srgbClr val="3BA4F5"/>
            </a:solidFill>
            <a:prstDash val="solid"/>
          </a:ln>
        </p:spPr>
      </p:sp>
      <p:sp>
        <p:nvSpPr>
          <p:cNvPr id="4" name="Text 2"/>
          <p:cNvSpPr/>
          <p:nvPr/>
        </p:nvSpPr>
        <p:spPr>
          <a:xfrm>
            <a:off x="1035050" y="1893540"/>
            <a:ext cx="51669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IMAGE · shop-api:1.0</a:t>
            </a:r>
            <a:endParaRPr lang="en-US" sz="1200" dirty="0"/>
          </a:p>
        </p:txBody>
      </p:sp>
      <p:sp>
        <p:nvSpPr>
          <p:cNvPr id="5" name="Shape 3"/>
          <p:cNvSpPr/>
          <p:nvPr/>
        </p:nvSpPr>
        <p:spPr>
          <a:xfrm>
            <a:off x="1035050" y="2183061"/>
            <a:ext cx="5016500" cy="502890"/>
          </a:xfrm>
          <a:prstGeom prst="roundRect">
            <a:avLst>
              <a:gd name="adj" fmla="val 15152"/>
            </a:avLst>
          </a:prstGeom>
          <a:solidFill>
            <a:srgbClr val="1E3A5A"/>
          </a:solidFill>
          <a:ln/>
        </p:spPr>
      </p:sp>
      <p:sp>
        <p:nvSpPr>
          <p:cNvPr id="6" name="Text 4"/>
          <p:cNvSpPr/>
          <p:nvPr/>
        </p:nvSpPr>
        <p:spPr>
          <a:xfrm>
            <a:off x="1212850" y="2310061"/>
            <a:ext cx="9889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Your code</a:t>
            </a:r>
            <a:endParaRPr lang="en-US" sz="1400" dirty="0"/>
          </a:p>
        </p:txBody>
      </p:sp>
      <p:sp>
        <p:nvSpPr>
          <p:cNvPr id="7" name="Text 5"/>
          <p:cNvSpPr/>
          <p:nvPr/>
        </p:nvSpPr>
        <p:spPr>
          <a:xfrm>
            <a:off x="3898622" y="2327821"/>
            <a:ext cx="197512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server.js, routes/</a:t>
            </a:r>
            <a:endParaRPr lang="en-US" sz="1200" dirty="0"/>
          </a:p>
        </p:txBody>
      </p:sp>
      <p:sp>
        <p:nvSpPr>
          <p:cNvPr id="8" name="Shape 6"/>
          <p:cNvSpPr/>
          <p:nvPr/>
        </p:nvSpPr>
        <p:spPr>
          <a:xfrm>
            <a:off x="1035050" y="2762151"/>
            <a:ext cx="5016500" cy="502890"/>
          </a:xfrm>
          <a:prstGeom prst="roundRect">
            <a:avLst>
              <a:gd name="adj" fmla="val 15152"/>
            </a:avLst>
          </a:prstGeom>
          <a:solidFill>
            <a:srgbClr val="1A3250"/>
          </a:solidFill>
          <a:ln/>
        </p:spPr>
      </p:sp>
      <p:sp>
        <p:nvSpPr>
          <p:cNvPr id="9" name="Text 7"/>
          <p:cNvSpPr/>
          <p:nvPr/>
        </p:nvSpPr>
        <p:spPr>
          <a:xfrm>
            <a:off x="1212850" y="2889151"/>
            <a:ext cx="14210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Dependencies</a:t>
            </a:r>
            <a:endParaRPr lang="en-US" sz="1400" dirty="0"/>
          </a:p>
        </p:txBody>
      </p:sp>
      <p:sp>
        <p:nvSpPr>
          <p:cNvPr id="10" name="Text 8"/>
          <p:cNvSpPr/>
          <p:nvPr/>
        </p:nvSpPr>
        <p:spPr>
          <a:xfrm>
            <a:off x="4447262" y="2906911"/>
            <a:ext cx="142648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node_modules/</a:t>
            </a:r>
            <a:endParaRPr lang="en-US" sz="1200" dirty="0"/>
          </a:p>
        </p:txBody>
      </p:sp>
      <p:sp>
        <p:nvSpPr>
          <p:cNvPr id="11" name="Shape 9"/>
          <p:cNvSpPr/>
          <p:nvPr/>
        </p:nvSpPr>
        <p:spPr>
          <a:xfrm>
            <a:off x="1035050" y="3341241"/>
            <a:ext cx="5016500" cy="502890"/>
          </a:xfrm>
          <a:prstGeom prst="roundRect">
            <a:avLst>
              <a:gd name="adj" fmla="val 15152"/>
            </a:avLst>
          </a:prstGeom>
          <a:solidFill>
            <a:srgbClr val="162B45"/>
          </a:solidFill>
          <a:ln/>
        </p:spPr>
      </p:sp>
      <p:sp>
        <p:nvSpPr>
          <p:cNvPr id="12" name="Text 10"/>
          <p:cNvSpPr/>
          <p:nvPr/>
        </p:nvSpPr>
        <p:spPr>
          <a:xfrm>
            <a:off x="1212850" y="3468241"/>
            <a:ext cx="85153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Runtime</a:t>
            </a:r>
            <a:endParaRPr lang="en-US" sz="1400" dirty="0"/>
          </a:p>
        </p:txBody>
      </p:sp>
      <p:sp>
        <p:nvSpPr>
          <p:cNvPr id="13" name="Text 11"/>
          <p:cNvSpPr/>
          <p:nvPr/>
        </p:nvSpPr>
        <p:spPr>
          <a:xfrm>
            <a:off x="4776470" y="3486001"/>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Node.js 20</a:t>
            </a:r>
            <a:endParaRPr lang="en-US" sz="1200" dirty="0"/>
          </a:p>
        </p:txBody>
      </p:sp>
      <p:sp>
        <p:nvSpPr>
          <p:cNvPr id="14" name="Shape 12"/>
          <p:cNvSpPr/>
          <p:nvPr/>
        </p:nvSpPr>
        <p:spPr>
          <a:xfrm>
            <a:off x="1035050" y="3920331"/>
            <a:ext cx="5016500" cy="502890"/>
          </a:xfrm>
          <a:prstGeom prst="roundRect">
            <a:avLst>
              <a:gd name="adj" fmla="val 15152"/>
            </a:avLst>
          </a:prstGeom>
          <a:solidFill>
            <a:srgbClr val="13243A"/>
          </a:solidFill>
          <a:ln/>
        </p:spPr>
      </p:sp>
      <p:sp>
        <p:nvSpPr>
          <p:cNvPr id="15" name="Text 13"/>
          <p:cNvSpPr/>
          <p:nvPr/>
        </p:nvSpPr>
        <p:spPr>
          <a:xfrm>
            <a:off x="1212850" y="4047331"/>
            <a:ext cx="11696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OS libraries</a:t>
            </a:r>
            <a:endParaRPr lang="en-US" sz="1400" dirty="0"/>
          </a:p>
        </p:txBody>
      </p:sp>
      <p:sp>
        <p:nvSpPr>
          <p:cNvPr id="16" name="Text 14"/>
          <p:cNvSpPr/>
          <p:nvPr/>
        </p:nvSpPr>
        <p:spPr>
          <a:xfrm>
            <a:off x="4556978" y="4065091"/>
            <a:ext cx="131677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Alpine Linux</a:t>
            </a:r>
            <a:endParaRPr lang="en-US" sz="1200" dirty="0"/>
          </a:p>
        </p:txBody>
      </p:sp>
      <p:sp>
        <p:nvSpPr>
          <p:cNvPr id="17" name="Shape 15"/>
          <p:cNvSpPr/>
          <p:nvPr/>
        </p:nvSpPr>
        <p:spPr>
          <a:xfrm>
            <a:off x="1035050" y="4499421"/>
            <a:ext cx="5016500" cy="502890"/>
          </a:xfrm>
          <a:prstGeom prst="roundRect">
            <a:avLst>
              <a:gd name="adj" fmla="val 15152"/>
            </a:avLst>
          </a:prstGeom>
          <a:solidFill>
            <a:srgbClr val="2E2316"/>
          </a:solidFill>
          <a:ln/>
        </p:spPr>
      </p:sp>
      <p:sp>
        <p:nvSpPr>
          <p:cNvPr id="18" name="Text 16"/>
          <p:cNvSpPr/>
          <p:nvPr/>
        </p:nvSpPr>
        <p:spPr>
          <a:xfrm>
            <a:off x="1212850" y="4626421"/>
            <a:ext cx="64222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C48C"/>
                </a:solidFill>
                <a:latin typeface="IBM Plex Sans" pitchFamily="34" charset="0"/>
                <a:ea typeface="IBM Plex Sans" pitchFamily="34" charset="-122"/>
                <a:cs typeface="IBM Plex Sans" pitchFamily="34" charset="-120"/>
              </a:rPr>
              <a:t>Config</a:t>
            </a:r>
            <a:endParaRPr lang="en-US" sz="1400" dirty="0"/>
          </a:p>
        </p:txBody>
      </p:sp>
      <p:sp>
        <p:nvSpPr>
          <p:cNvPr id="19" name="Text 17"/>
          <p:cNvSpPr/>
          <p:nvPr/>
        </p:nvSpPr>
        <p:spPr>
          <a:xfrm>
            <a:off x="4227830" y="4644182"/>
            <a:ext cx="16459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C48C"/>
                </a:solidFill>
                <a:latin typeface="JetBrains Mono" pitchFamily="49" charset="0"/>
                <a:ea typeface="JetBrains Mono" pitchFamily="49" charset="-122"/>
                <a:cs typeface="JetBrains Mono" pitchFamily="49" charset="-120"/>
              </a:rPr>
              <a:t>PORT, MONGO_URL</a:t>
            </a:r>
            <a:endParaRPr lang="en-US" sz="1200" dirty="0"/>
          </a:p>
        </p:txBody>
      </p:sp>
      <p:pic>
        <p:nvPicPr>
          <p:cNvPr id="20" name="Image 0" descr="arrow-right">    </p:cNvPr>
          <p:cNvPicPr>
            <a:picLocks noChangeAspect="1"/>
          </p:cNvPicPr>
          <p:nvPr/>
        </p:nvPicPr>
        <p:blipFill>
          <a:blip r:embed="rId1"/>
          <a:srcRect l="0" r="0" t="0" b="0"/>
          <a:stretch/>
        </p:blipFill>
        <p:spPr>
          <a:xfrm>
            <a:off x="6527800" y="3295501"/>
            <a:ext cx="609600" cy="304800"/>
          </a:xfrm>
          <a:prstGeom prst="rect">
            <a:avLst/>
          </a:prstGeom>
        </p:spPr>
      </p:pic>
      <p:sp>
        <p:nvSpPr>
          <p:cNvPr id="21" name="Shape 18"/>
          <p:cNvSpPr/>
          <p:nvPr/>
        </p:nvSpPr>
        <p:spPr>
          <a:xfrm>
            <a:off x="7394575" y="2157016"/>
            <a:ext cx="3981450" cy="646410"/>
          </a:xfrm>
          <a:prstGeom prst="roundRect">
            <a:avLst>
              <a:gd name="adj" fmla="val 19156"/>
            </a:avLst>
          </a:prstGeom>
          <a:solidFill>
            <a:srgbClr val="141922"/>
          </a:solidFill>
          <a:ln w="6350">
            <a:solidFill>
              <a:srgbClr val="263041"/>
            </a:solidFill>
            <a:prstDash val="solid"/>
          </a:ln>
        </p:spPr>
      </p:sp>
      <p:pic>
        <p:nvPicPr>
          <p:cNvPr id="22" name="Image 1" descr="Home">    </p:cNvPr>
          <p:cNvPicPr>
            <a:picLocks noChangeAspect="1"/>
          </p:cNvPicPr>
          <p:nvPr/>
        </p:nvPicPr>
        <p:blipFill>
          <a:blip r:embed="rId2"/>
          <a:srcRect l="0" r="0" t="0" b="0"/>
          <a:stretch/>
        </p:blipFill>
        <p:spPr>
          <a:xfrm>
            <a:off x="7600950" y="2340521"/>
            <a:ext cx="279400" cy="279400"/>
          </a:xfrm>
          <a:prstGeom prst="rect">
            <a:avLst/>
          </a:prstGeom>
        </p:spPr>
      </p:pic>
      <p:sp>
        <p:nvSpPr>
          <p:cNvPr id="23" name="Text 19"/>
          <p:cNvSpPr/>
          <p:nvPr/>
        </p:nvSpPr>
        <p:spPr>
          <a:xfrm>
            <a:off x="8007350" y="2337991"/>
            <a:ext cx="286473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Your laptop</a:t>
            </a:r>
            <a:endParaRPr lang="en-US" sz="1600" dirty="0"/>
          </a:p>
        </p:txBody>
      </p:sp>
      <p:pic>
        <p:nvPicPr>
          <p:cNvPr id="24" name="Image 2" descr="CheckCircle">    </p:cNvPr>
          <p:cNvPicPr>
            <a:picLocks noChangeAspect="1"/>
          </p:cNvPicPr>
          <p:nvPr/>
        </p:nvPicPr>
        <p:blipFill>
          <a:blip r:embed="rId3"/>
          <a:srcRect l="0" r="0" t="0" b="0"/>
          <a:stretch/>
        </p:blipFill>
        <p:spPr>
          <a:xfrm>
            <a:off x="10915650" y="2353221"/>
            <a:ext cx="254000" cy="254000"/>
          </a:xfrm>
          <a:prstGeom prst="rect">
            <a:avLst/>
          </a:prstGeom>
        </p:spPr>
      </p:pic>
      <p:sp>
        <p:nvSpPr>
          <p:cNvPr id="25" name="Shape 20"/>
          <p:cNvSpPr/>
          <p:nvPr/>
        </p:nvSpPr>
        <p:spPr>
          <a:xfrm>
            <a:off x="7394575" y="2936776"/>
            <a:ext cx="3981450" cy="646410"/>
          </a:xfrm>
          <a:prstGeom prst="roundRect">
            <a:avLst>
              <a:gd name="adj" fmla="val 19156"/>
            </a:avLst>
          </a:prstGeom>
          <a:solidFill>
            <a:srgbClr val="141922"/>
          </a:solidFill>
          <a:ln w="6350">
            <a:solidFill>
              <a:srgbClr val="263041"/>
            </a:solidFill>
            <a:prstDash val="solid"/>
          </a:ln>
        </p:spPr>
      </p:sp>
      <p:pic>
        <p:nvPicPr>
          <p:cNvPr id="26" name="Image 3" descr="Settings">    </p:cNvPr>
          <p:cNvPicPr>
            <a:picLocks noChangeAspect="1"/>
          </p:cNvPicPr>
          <p:nvPr/>
        </p:nvPicPr>
        <p:blipFill>
          <a:blip r:embed="rId4"/>
          <a:srcRect l="0" r="0" t="0" b="0"/>
          <a:stretch/>
        </p:blipFill>
        <p:spPr>
          <a:xfrm>
            <a:off x="7600950" y="3120281"/>
            <a:ext cx="279400" cy="279400"/>
          </a:xfrm>
          <a:prstGeom prst="rect">
            <a:avLst/>
          </a:prstGeom>
        </p:spPr>
      </p:pic>
      <p:sp>
        <p:nvSpPr>
          <p:cNvPr id="27" name="Text 21"/>
          <p:cNvSpPr/>
          <p:nvPr/>
        </p:nvSpPr>
        <p:spPr>
          <a:xfrm>
            <a:off x="8007350" y="3117751"/>
            <a:ext cx="164520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GitHub Actions</a:t>
            </a:r>
            <a:endParaRPr lang="en-US" sz="1600" dirty="0"/>
          </a:p>
        </p:txBody>
      </p:sp>
      <p:pic>
        <p:nvPicPr>
          <p:cNvPr id="28" name="Image 4" descr="CheckCircle">    </p:cNvPr>
          <p:cNvPicPr>
            <a:picLocks noChangeAspect="1"/>
          </p:cNvPicPr>
          <p:nvPr/>
        </p:nvPicPr>
        <p:blipFill>
          <a:blip r:embed="rId5"/>
          <a:srcRect l="0" r="0" t="0" b="0"/>
          <a:stretch/>
        </p:blipFill>
        <p:spPr>
          <a:xfrm>
            <a:off x="10915650" y="3132981"/>
            <a:ext cx="254000" cy="254000"/>
          </a:xfrm>
          <a:prstGeom prst="rect">
            <a:avLst/>
          </a:prstGeom>
        </p:spPr>
      </p:pic>
      <p:sp>
        <p:nvSpPr>
          <p:cNvPr id="29" name="Shape 22"/>
          <p:cNvSpPr/>
          <p:nvPr/>
        </p:nvSpPr>
        <p:spPr>
          <a:xfrm>
            <a:off x="7394575" y="3716536"/>
            <a:ext cx="3981450" cy="646410"/>
          </a:xfrm>
          <a:prstGeom prst="roundRect">
            <a:avLst>
              <a:gd name="adj" fmla="val 19156"/>
            </a:avLst>
          </a:prstGeom>
          <a:solidFill>
            <a:srgbClr val="141922"/>
          </a:solidFill>
          <a:ln w="6350">
            <a:solidFill>
              <a:srgbClr val="263041"/>
            </a:solidFill>
            <a:prstDash val="solid"/>
          </a:ln>
        </p:spPr>
      </p:sp>
      <p:pic>
        <p:nvPicPr>
          <p:cNvPr id="30" name="Image 5" descr="Cloud">    </p:cNvPr>
          <p:cNvPicPr>
            <a:picLocks noChangeAspect="1"/>
          </p:cNvPicPr>
          <p:nvPr/>
        </p:nvPicPr>
        <p:blipFill>
          <a:blip r:embed="rId6"/>
          <a:srcRect l="0" r="0" t="0" b="0"/>
          <a:stretch/>
        </p:blipFill>
        <p:spPr>
          <a:xfrm>
            <a:off x="7600950" y="3900041"/>
            <a:ext cx="279400" cy="279400"/>
          </a:xfrm>
          <a:prstGeom prst="rect">
            <a:avLst/>
          </a:prstGeom>
        </p:spPr>
      </p:pic>
      <p:sp>
        <p:nvSpPr>
          <p:cNvPr id="31" name="Text 23"/>
          <p:cNvSpPr/>
          <p:nvPr/>
        </p:nvSpPr>
        <p:spPr>
          <a:xfrm>
            <a:off x="8007350" y="3897511"/>
            <a:ext cx="2009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8"/>
                </a:solidFill>
                <a:latin typeface="IBM Plex Sans" pitchFamily="34" charset="0"/>
                <a:ea typeface="IBM Plex Sans" pitchFamily="34" charset="-122"/>
                <a:cs typeface="IBM Plex Sans" pitchFamily="34" charset="-120"/>
              </a:rPr>
              <a:t>Render / AWS EC2</a:t>
            </a:r>
            <a:endParaRPr lang="en-US" sz="1600" dirty="0"/>
          </a:p>
        </p:txBody>
      </p:sp>
      <p:pic>
        <p:nvPicPr>
          <p:cNvPr id="32" name="Image 6" descr="CheckCircle">    </p:cNvPr>
          <p:cNvPicPr>
            <a:picLocks noChangeAspect="1"/>
          </p:cNvPicPr>
          <p:nvPr/>
        </p:nvPicPr>
        <p:blipFill>
          <a:blip r:embed="rId7"/>
          <a:srcRect l="0" r="0" t="0" b="0"/>
          <a:stretch/>
        </p:blipFill>
        <p:spPr>
          <a:xfrm>
            <a:off x="10915650" y="3912741"/>
            <a:ext cx="254000" cy="254000"/>
          </a:xfrm>
          <a:prstGeom prst="rect">
            <a:avLst/>
          </a:prstGeom>
        </p:spPr>
      </p:pic>
      <p:sp>
        <p:nvSpPr>
          <p:cNvPr id="33" name="Text 24"/>
          <p:cNvSpPr/>
          <p:nvPr/>
        </p:nvSpPr>
        <p:spPr>
          <a:xfrm>
            <a:off x="7391400" y="4493121"/>
            <a:ext cx="410743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Same image, same result, everywhere.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Virtual machine vs container</a:t>
            </a:r>
            <a:endParaRPr lang="en-US" sz="3600" dirty="0"/>
          </a:p>
        </p:txBody>
      </p:sp>
      <p:sp>
        <p:nvSpPr>
          <p:cNvPr id="3" name="Shape 1"/>
          <p:cNvSpPr/>
          <p:nvPr/>
        </p:nvSpPr>
        <p:spPr>
          <a:xfrm>
            <a:off x="815975" y="1674465"/>
            <a:ext cx="5175250" cy="4367560"/>
          </a:xfrm>
          <a:prstGeom prst="roundRect">
            <a:avLst>
              <a:gd name="adj" fmla="val 3417"/>
            </a:avLst>
          </a:prstGeom>
          <a:solidFill>
            <a:srgbClr val="141922"/>
          </a:solidFill>
          <a:ln w="6350">
            <a:solidFill>
              <a:srgbClr val="263041"/>
            </a:solidFill>
            <a:prstDash val="solid"/>
          </a:ln>
        </p:spPr>
      </p:sp>
      <p:sp>
        <p:nvSpPr>
          <p:cNvPr id="4" name="Text 2"/>
          <p:cNvSpPr/>
          <p:nvPr/>
        </p:nvSpPr>
        <p:spPr>
          <a:xfrm>
            <a:off x="1073150" y="1931640"/>
            <a:ext cx="480072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F9F45"/>
                </a:solidFill>
                <a:latin typeface="Space Grotesk" pitchFamily="34" charset="0"/>
                <a:ea typeface="Space Grotesk" pitchFamily="34" charset="-122"/>
                <a:cs typeface="Space Grotesk" pitchFamily="34" charset="-120"/>
              </a:rPr>
              <a:t>Virtual machines</a:t>
            </a:r>
            <a:endParaRPr lang="en-US" sz="2200" dirty="0"/>
          </a:p>
        </p:txBody>
      </p:sp>
      <p:sp>
        <p:nvSpPr>
          <p:cNvPr id="5" name="Text 3"/>
          <p:cNvSpPr/>
          <p:nvPr/>
        </p:nvSpPr>
        <p:spPr>
          <a:xfrm>
            <a:off x="1073150" y="3102868"/>
            <a:ext cx="1502817" cy="365720"/>
          </a:xfrm>
          <a:prstGeom prst="roundRect">
            <a:avLst>
              <a:gd name="adj" fmla="val 17363"/>
            </a:avLst>
          </a:prstGeom>
          <a:solidFill>
            <a:srgbClr val="2A3446"/>
          </a:solidFill>
          <a:ln/>
        </p:spPr>
        <p:txBody>
          <a:bodyPr wrap="square" lIns="32201" tIns="57601" rIns="32201"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App A</a:t>
            </a:r>
            <a:endParaRPr lang="en-US" sz="1200" dirty="0"/>
          </a:p>
        </p:txBody>
      </p:sp>
      <p:sp>
        <p:nvSpPr>
          <p:cNvPr id="6" name="Text 4"/>
          <p:cNvSpPr/>
          <p:nvPr/>
        </p:nvSpPr>
        <p:spPr>
          <a:xfrm>
            <a:off x="1073150" y="3519388"/>
            <a:ext cx="1502817" cy="365720"/>
          </a:xfrm>
          <a:prstGeom prst="roundRect">
            <a:avLst>
              <a:gd name="adj" fmla="val 17363"/>
            </a:avLst>
          </a:prstGeom>
          <a:solidFill>
            <a:srgbClr val="4A3420"/>
          </a:solidFill>
          <a:ln/>
        </p:spPr>
        <p:txBody>
          <a:bodyPr wrap="square" lIns="32201" tIns="57601" rIns="32201" bIns="32201" rtlCol="0" anchor="t">
            <a:normAutofit/>
          </a:bodyPr>
          <a:lstStyle/>
          <a:p>
            <a:pPr algn="ctr" indent="0" marL="0">
              <a:lnSpc>
                <a:spcPts val="1680"/>
              </a:lnSpc>
              <a:buNone/>
            </a:pPr>
            <a:r>
              <a:rPr lang="en-US" sz="1200" dirty="0">
                <a:solidFill>
                  <a:srgbClr val="FFC48C"/>
                </a:solidFill>
                <a:latin typeface="IBM Plex Sans" pitchFamily="34" charset="0"/>
                <a:ea typeface="IBM Plex Sans" pitchFamily="34" charset="-122"/>
                <a:cs typeface="IBM Plex Sans" pitchFamily="34" charset="-120"/>
              </a:rPr>
              <a:t>Guest OS</a:t>
            </a:r>
            <a:endParaRPr lang="en-US" sz="1200" dirty="0"/>
          </a:p>
        </p:txBody>
      </p:sp>
      <p:sp>
        <p:nvSpPr>
          <p:cNvPr id="7" name="Text 5"/>
          <p:cNvSpPr/>
          <p:nvPr/>
        </p:nvSpPr>
        <p:spPr>
          <a:xfrm>
            <a:off x="2652167" y="3102868"/>
            <a:ext cx="1502866" cy="365720"/>
          </a:xfrm>
          <a:prstGeom prst="roundRect">
            <a:avLst>
              <a:gd name="adj" fmla="val 17363"/>
            </a:avLst>
          </a:prstGeom>
          <a:solidFill>
            <a:srgbClr val="2A3446"/>
          </a:solidFill>
          <a:ln/>
        </p:spPr>
        <p:txBody>
          <a:bodyPr wrap="square" lIns="32201" tIns="57601" rIns="32201"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App B</a:t>
            </a:r>
            <a:endParaRPr lang="en-US" sz="1200" dirty="0"/>
          </a:p>
        </p:txBody>
      </p:sp>
      <p:sp>
        <p:nvSpPr>
          <p:cNvPr id="8" name="Text 6"/>
          <p:cNvSpPr/>
          <p:nvPr/>
        </p:nvSpPr>
        <p:spPr>
          <a:xfrm>
            <a:off x="2652167" y="3519388"/>
            <a:ext cx="1502866" cy="365720"/>
          </a:xfrm>
          <a:prstGeom prst="roundRect">
            <a:avLst>
              <a:gd name="adj" fmla="val 17363"/>
            </a:avLst>
          </a:prstGeom>
          <a:solidFill>
            <a:srgbClr val="4A3420"/>
          </a:solidFill>
          <a:ln/>
        </p:spPr>
        <p:txBody>
          <a:bodyPr wrap="square" lIns="32201" tIns="57601" rIns="32201" bIns="32201" rtlCol="0" anchor="t">
            <a:normAutofit/>
          </a:bodyPr>
          <a:lstStyle/>
          <a:p>
            <a:pPr algn="ctr" indent="0" marL="0">
              <a:lnSpc>
                <a:spcPts val="1680"/>
              </a:lnSpc>
              <a:buNone/>
            </a:pPr>
            <a:r>
              <a:rPr lang="en-US" sz="1200" dirty="0">
                <a:solidFill>
                  <a:srgbClr val="FFC48C"/>
                </a:solidFill>
                <a:latin typeface="IBM Plex Sans" pitchFamily="34" charset="0"/>
                <a:ea typeface="IBM Plex Sans" pitchFamily="34" charset="-122"/>
                <a:cs typeface="IBM Plex Sans" pitchFamily="34" charset="-120"/>
              </a:rPr>
              <a:t>Guest OS</a:t>
            </a:r>
            <a:endParaRPr lang="en-US" sz="1200" dirty="0"/>
          </a:p>
        </p:txBody>
      </p:sp>
      <p:sp>
        <p:nvSpPr>
          <p:cNvPr id="9" name="Text 7"/>
          <p:cNvSpPr/>
          <p:nvPr/>
        </p:nvSpPr>
        <p:spPr>
          <a:xfrm>
            <a:off x="4231233" y="3102868"/>
            <a:ext cx="1502817" cy="365720"/>
          </a:xfrm>
          <a:prstGeom prst="roundRect">
            <a:avLst>
              <a:gd name="adj" fmla="val 17363"/>
            </a:avLst>
          </a:prstGeom>
          <a:solidFill>
            <a:srgbClr val="2A3446"/>
          </a:solidFill>
          <a:ln/>
        </p:spPr>
        <p:txBody>
          <a:bodyPr wrap="square" lIns="32201" tIns="57601" rIns="32201"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App C</a:t>
            </a:r>
            <a:endParaRPr lang="en-US" sz="1200" dirty="0"/>
          </a:p>
        </p:txBody>
      </p:sp>
      <p:sp>
        <p:nvSpPr>
          <p:cNvPr id="10" name="Text 8"/>
          <p:cNvSpPr/>
          <p:nvPr/>
        </p:nvSpPr>
        <p:spPr>
          <a:xfrm>
            <a:off x="4231233" y="3519388"/>
            <a:ext cx="1502817" cy="365720"/>
          </a:xfrm>
          <a:prstGeom prst="roundRect">
            <a:avLst>
              <a:gd name="adj" fmla="val 17363"/>
            </a:avLst>
          </a:prstGeom>
          <a:solidFill>
            <a:srgbClr val="4A3420"/>
          </a:solidFill>
          <a:ln/>
        </p:spPr>
        <p:txBody>
          <a:bodyPr wrap="square" lIns="32201" tIns="57601" rIns="32201" bIns="32201" rtlCol="0" anchor="t">
            <a:normAutofit/>
          </a:bodyPr>
          <a:lstStyle/>
          <a:p>
            <a:pPr algn="ctr" indent="0" marL="0">
              <a:lnSpc>
                <a:spcPts val="1680"/>
              </a:lnSpc>
              <a:buNone/>
            </a:pPr>
            <a:r>
              <a:rPr lang="en-US" sz="1200" dirty="0">
                <a:solidFill>
                  <a:srgbClr val="FFC48C"/>
                </a:solidFill>
                <a:latin typeface="IBM Plex Sans" pitchFamily="34" charset="0"/>
                <a:ea typeface="IBM Plex Sans" pitchFamily="34" charset="-122"/>
                <a:cs typeface="IBM Plex Sans" pitchFamily="34" charset="-120"/>
              </a:rPr>
              <a:t>Guest OS</a:t>
            </a:r>
            <a:endParaRPr lang="en-US" sz="1200" dirty="0"/>
          </a:p>
        </p:txBody>
      </p:sp>
      <p:sp>
        <p:nvSpPr>
          <p:cNvPr id="11" name="Text 9"/>
          <p:cNvSpPr/>
          <p:nvPr/>
        </p:nvSpPr>
        <p:spPr>
          <a:xfrm>
            <a:off x="1073150" y="3961309"/>
            <a:ext cx="4660900" cy="365720"/>
          </a:xfrm>
          <a:prstGeom prst="roundRect">
            <a:avLst>
              <a:gd name="adj" fmla="val 17363"/>
            </a:avLst>
          </a:prstGeom>
          <a:solidFill>
            <a:srgbClr val="3A4456"/>
          </a:solidFill>
          <a:ln/>
        </p:spPr>
        <p:txBody>
          <a:bodyPr wrap="square" lIns="0" tIns="57601" rIns="0"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Hypervisor</a:t>
            </a:r>
            <a:endParaRPr lang="en-US" sz="1200" dirty="0"/>
          </a:p>
        </p:txBody>
      </p:sp>
      <p:sp>
        <p:nvSpPr>
          <p:cNvPr id="12" name="Text 10"/>
          <p:cNvSpPr/>
          <p:nvPr/>
        </p:nvSpPr>
        <p:spPr>
          <a:xfrm>
            <a:off x="1073150" y="4403229"/>
            <a:ext cx="4660900" cy="365720"/>
          </a:xfrm>
          <a:prstGeom prst="roundRect">
            <a:avLst>
              <a:gd name="adj" fmla="val 17363"/>
            </a:avLst>
          </a:prstGeom>
          <a:solidFill>
            <a:srgbClr val="2A3140"/>
          </a:solidFill>
          <a:ln/>
        </p:spPr>
        <p:txBody>
          <a:bodyPr wrap="square" lIns="0" tIns="57601" rIns="0"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Host OS</a:t>
            </a:r>
            <a:endParaRPr lang="en-US" sz="1200" dirty="0"/>
          </a:p>
        </p:txBody>
      </p:sp>
      <p:sp>
        <p:nvSpPr>
          <p:cNvPr id="13" name="Text 11"/>
          <p:cNvSpPr/>
          <p:nvPr/>
        </p:nvSpPr>
        <p:spPr>
          <a:xfrm>
            <a:off x="1073150" y="4845149"/>
            <a:ext cx="4660900" cy="365720"/>
          </a:xfrm>
          <a:prstGeom prst="roundRect">
            <a:avLst>
              <a:gd name="adj" fmla="val 17363"/>
            </a:avLst>
          </a:prstGeom>
          <a:solidFill>
            <a:srgbClr val="1F2530"/>
          </a:solidFill>
          <a:ln/>
        </p:spPr>
        <p:txBody>
          <a:bodyPr wrap="square" lIns="0" tIns="57601" rIns="0"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Hardware</a:t>
            </a:r>
            <a:endParaRPr lang="en-US" sz="1200" dirty="0"/>
          </a:p>
        </p:txBody>
      </p:sp>
      <p:sp>
        <p:nvSpPr>
          <p:cNvPr id="14" name="Text 12"/>
          <p:cNvSpPr/>
          <p:nvPr/>
        </p:nvSpPr>
        <p:spPr>
          <a:xfrm>
            <a:off x="1073150" y="5287070"/>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Each carries a full OS.</a:t>
            </a:r>
            <a:endParaRPr lang="en-US" sz="1400" dirty="0"/>
          </a:p>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GBs · minutes to boot</a:t>
            </a:r>
            <a:endParaRPr lang="en-US" sz="1400" dirty="0"/>
          </a:p>
        </p:txBody>
      </p:sp>
      <p:sp>
        <p:nvSpPr>
          <p:cNvPr id="15" name="Shape 13"/>
          <p:cNvSpPr/>
          <p:nvPr/>
        </p:nvSpPr>
        <p:spPr>
          <a:xfrm>
            <a:off x="6200775" y="1674465"/>
            <a:ext cx="5175250" cy="4367560"/>
          </a:xfrm>
          <a:prstGeom prst="roundRect">
            <a:avLst>
              <a:gd name="adj" fmla="val 3417"/>
            </a:avLst>
          </a:prstGeom>
          <a:solidFill>
            <a:srgbClr val="141922"/>
          </a:solidFill>
          <a:ln w="6350">
            <a:solidFill>
              <a:srgbClr val="263041"/>
            </a:solidFill>
            <a:prstDash val="solid"/>
          </a:ln>
        </p:spPr>
      </p:sp>
      <p:sp>
        <p:nvSpPr>
          <p:cNvPr id="16" name="Text 14"/>
          <p:cNvSpPr/>
          <p:nvPr/>
        </p:nvSpPr>
        <p:spPr>
          <a:xfrm>
            <a:off x="6457950" y="1931640"/>
            <a:ext cx="480072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3BA4F5"/>
                </a:solidFill>
                <a:latin typeface="Space Grotesk" pitchFamily="34" charset="0"/>
                <a:ea typeface="Space Grotesk" pitchFamily="34" charset="-122"/>
                <a:cs typeface="Space Grotesk" pitchFamily="34" charset="-120"/>
              </a:rPr>
              <a:t>Containers</a:t>
            </a:r>
            <a:endParaRPr lang="en-US" sz="2200" dirty="0"/>
          </a:p>
        </p:txBody>
      </p:sp>
      <p:sp>
        <p:nvSpPr>
          <p:cNvPr id="17" name="Text 15"/>
          <p:cNvSpPr/>
          <p:nvPr/>
        </p:nvSpPr>
        <p:spPr>
          <a:xfrm>
            <a:off x="6457950" y="3519388"/>
            <a:ext cx="1502817" cy="365720"/>
          </a:xfrm>
          <a:prstGeom prst="roundRect">
            <a:avLst>
              <a:gd name="adj" fmla="val 17363"/>
            </a:avLst>
          </a:prstGeom>
          <a:solidFill>
            <a:srgbClr val="1E3A5A"/>
          </a:solidFill>
          <a:ln/>
        </p:spPr>
        <p:txBody>
          <a:bodyPr wrap="square" lIns="32201" tIns="57601" rIns="32201"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App A</a:t>
            </a:r>
            <a:endParaRPr lang="en-US" sz="1200" dirty="0"/>
          </a:p>
        </p:txBody>
      </p:sp>
      <p:sp>
        <p:nvSpPr>
          <p:cNvPr id="18" name="Text 16"/>
          <p:cNvSpPr/>
          <p:nvPr/>
        </p:nvSpPr>
        <p:spPr>
          <a:xfrm>
            <a:off x="8036967" y="3519388"/>
            <a:ext cx="1502866" cy="365720"/>
          </a:xfrm>
          <a:prstGeom prst="roundRect">
            <a:avLst>
              <a:gd name="adj" fmla="val 17363"/>
            </a:avLst>
          </a:prstGeom>
          <a:solidFill>
            <a:srgbClr val="1E3A5A"/>
          </a:solidFill>
          <a:ln/>
        </p:spPr>
        <p:txBody>
          <a:bodyPr wrap="square" lIns="32201" tIns="57601" rIns="32201"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App B</a:t>
            </a:r>
            <a:endParaRPr lang="en-US" sz="1200" dirty="0"/>
          </a:p>
        </p:txBody>
      </p:sp>
      <p:sp>
        <p:nvSpPr>
          <p:cNvPr id="19" name="Text 17"/>
          <p:cNvSpPr/>
          <p:nvPr/>
        </p:nvSpPr>
        <p:spPr>
          <a:xfrm>
            <a:off x="9616033" y="3519388"/>
            <a:ext cx="1502817" cy="365720"/>
          </a:xfrm>
          <a:prstGeom prst="roundRect">
            <a:avLst>
              <a:gd name="adj" fmla="val 17363"/>
            </a:avLst>
          </a:prstGeom>
          <a:solidFill>
            <a:srgbClr val="1E3A5A"/>
          </a:solidFill>
          <a:ln/>
        </p:spPr>
        <p:txBody>
          <a:bodyPr wrap="square" lIns="32201" tIns="57601" rIns="32201"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App C</a:t>
            </a:r>
            <a:endParaRPr lang="en-US" sz="1200" dirty="0"/>
          </a:p>
        </p:txBody>
      </p:sp>
      <p:sp>
        <p:nvSpPr>
          <p:cNvPr id="20" name="Text 18"/>
          <p:cNvSpPr/>
          <p:nvPr/>
        </p:nvSpPr>
        <p:spPr>
          <a:xfrm>
            <a:off x="6457950" y="3961309"/>
            <a:ext cx="4660900" cy="365720"/>
          </a:xfrm>
          <a:prstGeom prst="roundRect">
            <a:avLst>
              <a:gd name="adj" fmla="val 17363"/>
            </a:avLst>
          </a:prstGeom>
          <a:solidFill>
            <a:srgbClr val="1C4F7A"/>
          </a:solidFill>
          <a:ln/>
        </p:spPr>
        <p:txBody>
          <a:bodyPr wrap="square" lIns="0" tIns="57601" rIns="0"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Docker Engine</a:t>
            </a:r>
            <a:endParaRPr lang="en-US" sz="1200" dirty="0"/>
          </a:p>
        </p:txBody>
      </p:sp>
      <p:sp>
        <p:nvSpPr>
          <p:cNvPr id="21" name="Text 19"/>
          <p:cNvSpPr/>
          <p:nvPr/>
        </p:nvSpPr>
        <p:spPr>
          <a:xfrm>
            <a:off x="6457950" y="4403229"/>
            <a:ext cx="4660900" cy="365720"/>
          </a:xfrm>
          <a:prstGeom prst="roundRect">
            <a:avLst>
              <a:gd name="adj" fmla="val 17363"/>
            </a:avLst>
          </a:prstGeom>
          <a:solidFill>
            <a:srgbClr val="2A3140"/>
          </a:solidFill>
          <a:ln/>
        </p:spPr>
        <p:txBody>
          <a:bodyPr wrap="square" lIns="0" tIns="57601" rIns="0"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Host OS</a:t>
            </a:r>
            <a:endParaRPr lang="en-US" sz="1200" dirty="0"/>
          </a:p>
        </p:txBody>
      </p:sp>
      <p:sp>
        <p:nvSpPr>
          <p:cNvPr id="22" name="Text 20"/>
          <p:cNvSpPr/>
          <p:nvPr/>
        </p:nvSpPr>
        <p:spPr>
          <a:xfrm>
            <a:off x="6457950" y="4845149"/>
            <a:ext cx="4660900" cy="365720"/>
          </a:xfrm>
          <a:prstGeom prst="roundRect">
            <a:avLst>
              <a:gd name="adj" fmla="val 17363"/>
            </a:avLst>
          </a:prstGeom>
          <a:solidFill>
            <a:srgbClr val="1F2530"/>
          </a:solidFill>
          <a:ln/>
        </p:spPr>
        <p:txBody>
          <a:bodyPr wrap="square" lIns="0" tIns="57601" rIns="0" bIns="32201" rtlCol="0" anchor="t">
            <a:normAutofit/>
          </a:bodyPr>
          <a:lstStyle/>
          <a:p>
            <a:pPr algn="ctr"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Hardware</a:t>
            </a:r>
            <a:endParaRPr lang="en-US" sz="1200" dirty="0"/>
          </a:p>
        </p:txBody>
      </p:sp>
      <p:sp>
        <p:nvSpPr>
          <p:cNvPr id="23" name="Text 21"/>
          <p:cNvSpPr/>
          <p:nvPr/>
        </p:nvSpPr>
        <p:spPr>
          <a:xfrm>
            <a:off x="6457950" y="5287070"/>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All share the host's kernel.</a:t>
            </a:r>
            <a:endParaRPr lang="en-US" sz="1400" dirty="0"/>
          </a:p>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MBs · seconds to start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Dockerfile → Image → Container</a:t>
            </a:r>
            <a:endParaRPr lang="en-US" sz="3600" dirty="0"/>
          </a:p>
        </p:txBody>
      </p:sp>
      <p:sp>
        <p:nvSpPr>
          <p:cNvPr id="3" name="Shape 1"/>
          <p:cNvSpPr/>
          <p:nvPr/>
        </p:nvSpPr>
        <p:spPr>
          <a:xfrm>
            <a:off x="815975" y="2218779"/>
            <a:ext cx="2461667" cy="2638871"/>
          </a:xfrm>
          <a:prstGeom prst="roundRect">
            <a:avLst>
              <a:gd name="adj" fmla="val 6062"/>
            </a:avLst>
          </a:prstGeom>
          <a:solidFill>
            <a:srgbClr val="141922"/>
          </a:solidFill>
          <a:ln w="6350">
            <a:solidFill>
              <a:srgbClr val="263041"/>
            </a:solidFill>
            <a:prstDash val="solid"/>
          </a:ln>
        </p:spPr>
      </p:sp>
      <p:pic>
        <p:nvPicPr>
          <p:cNvPr id="4" name="Image 0" descr="Book">    </p:cNvPr>
          <p:cNvPicPr>
            <a:picLocks noChangeAspect="1"/>
          </p:cNvPicPr>
          <p:nvPr/>
        </p:nvPicPr>
        <p:blipFill>
          <a:blip r:embed="rId1"/>
          <a:srcRect l="0" r="0" t="0" b="0"/>
          <a:stretch/>
        </p:blipFill>
        <p:spPr>
          <a:xfrm>
            <a:off x="1098550" y="2501354"/>
            <a:ext cx="406400" cy="406400"/>
          </a:xfrm>
          <a:prstGeom prst="rect">
            <a:avLst/>
          </a:prstGeom>
        </p:spPr>
      </p:pic>
      <p:sp>
        <p:nvSpPr>
          <p:cNvPr id="5" name="Text 2"/>
          <p:cNvSpPr/>
          <p:nvPr/>
        </p:nvSpPr>
        <p:spPr>
          <a:xfrm>
            <a:off x="1098550" y="3060154"/>
            <a:ext cx="1953412"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Dockerfile</a:t>
            </a:r>
            <a:endParaRPr lang="en-US" sz="2200" dirty="0"/>
          </a:p>
        </p:txBody>
      </p:sp>
      <p:sp>
        <p:nvSpPr>
          <p:cNvPr id="6" name="Text 3"/>
          <p:cNvSpPr/>
          <p:nvPr/>
        </p:nvSpPr>
        <p:spPr>
          <a:xfrm>
            <a:off x="1098550" y="3533825"/>
            <a:ext cx="195341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FROM node:20</a:t>
            </a:r>
            <a:endParaRPr lang="en-US" sz="1200" dirty="0"/>
          </a:p>
          <a:p>
            <a:pPr algn="l"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COPY . .</a:t>
            </a:r>
            <a:endParaRPr lang="en-US" sz="1200" dirty="0"/>
          </a:p>
          <a:p>
            <a:pPr algn="l"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CMD npm start</a:t>
            </a:r>
            <a:endParaRPr lang="en-US" sz="1200" dirty="0"/>
          </a:p>
        </p:txBody>
      </p:sp>
      <p:sp>
        <p:nvSpPr>
          <p:cNvPr id="7" name="Text 4"/>
          <p:cNvSpPr/>
          <p:nvPr/>
        </p:nvSpPr>
        <p:spPr>
          <a:xfrm>
            <a:off x="1098550" y="4326186"/>
            <a:ext cx="19534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9F45"/>
                </a:solidFill>
                <a:latin typeface="IBM Plex Sans" pitchFamily="34" charset="0"/>
                <a:ea typeface="IBM Plex Sans" pitchFamily="34" charset="-122"/>
                <a:cs typeface="IBM Plex Sans" pitchFamily="34" charset="-120"/>
              </a:rPr>
              <a:t>The recipe</a:t>
            </a:r>
            <a:endParaRPr lang="en-US" sz="1400" dirty="0"/>
          </a:p>
        </p:txBody>
      </p:sp>
      <p:pic>
        <p:nvPicPr>
          <p:cNvPr id="8" name="Image 1" descr="arrow-right">    </p:cNvPr>
          <p:cNvPicPr>
            <a:picLocks noChangeAspect="1"/>
          </p:cNvPicPr>
          <p:nvPr/>
        </p:nvPicPr>
        <p:blipFill>
          <a:blip r:embed="rId2"/>
          <a:srcRect l="0" r="0" t="0" b="0"/>
          <a:stretch/>
        </p:blipFill>
        <p:spPr>
          <a:xfrm>
            <a:off x="3763417" y="3253730"/>
            <a:ext cx="609600" cy="279400"/>
          </a:xfrm>
          <a:prstGeom prst="rect">
            <a:avLst/>
          </a:prstGeom>
        </p:spPr>
      </p:pic>
      <p:sp>
        <p:nvSpPr>
          <p:cNvPr id="9" name="Text 5"/>
          <p:cNvSpPr/>
          <p:nvPr/>
        </p:nvSpPr>
        <p:spPr>
          <a:xfrm>
            <a:off x="3409806" y="3609330"/>
            <a:ext cx="131677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docker build</a:t>
            </a:r>
            <a:endParaRPr lang="en-US" sz="1200" dirty="0"/>
          </a:p>
        </p:txBody>
      </p:sp>
      <p:sp>
        <p:nvSpPr>
          <p:cNvPr id="10" name="Shape 6"/>
          <p:cNvSpPr/>
          <p:nvPr/>
        </p:nvSpPr>
        <p:spPr>
          <a:xfrm>
            <a:off x="4858792" y="2218779"/>
            <a:ext cx="2461716" cy="2638871"/>
          </a:xfrm>
          <a:prstGeom prst="roundRect">
            <a:avLst>
              <a:gd name="adj" fmla="val 6062"/>
            </a:avLst>
          </a:prstGeom>
          <a:solidFill>
            <a:srgbClr val="141922"/>
          </a:solidFill>
          <a:ln w="6350">
            <a:solidFill>
              <a:srgbClr val="263041"/>
            </a:solidFill>
            <a:prstDash val="solid"/>
          </a:ln>
        </p:spPr>
      </p:sp>
      <p:pic>
        <p:nvPicPr>
          <p:cNvPr id="11" name="Image 2" descr="Lock">    </p:cNvPr>
          <p:cNvPicPr>
            <a:picLocks noChangeAspect="1"/>
          </p:cNvPicPr>
          <p:nvPr/>
        </p:nvPicPr>
        <p:blipFill>
          <a:blip r:embed="rId3"/>
          <a:srcRect l="0" r="0" t="0" b="0"/>
          <a:stretch/>
        </p:blipFill>
        <p:spPr>
          <a:xfrm>
            <a:off x="5141367" y="2501354"/>
            <a:ext cx="406400" cy="406400"/>
          </a:xfrm>
          <a:prstGeom prst="rect">
            <a:avLst/>
          </a:prstGeom>
        </p:spPr>
      </p:pic>
      <p:sp>
        <p:nvSpPr>
          <p:cNvPr id="12" name="Text 7"/>
          <p:cNvSpPr/>
          <p:nvPr/>
        </p:nvSpPr>
        <p:spPr>
          <a:xfrm>
            <a:off x="5141367" y="3060154"/>
            <a:ext cx="1953463"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Image</a:t>
            </a:r>
            <a:endParaRPr lang="en-US" sz="2200" dirty="0"/>
          </a:p>
        </p:txBody>
      </p:sp>
      <p:sp>
        <p:nvSpPr>
          <p:cNvPr id="13" name="Text 8"/>
          <p:cNvSpPr/>
          <p:nvPr/>
        </p:nvSpPr>
        <p:spPr>
          <a:xfrm>
            <a:off x="5141367" y="3533825"/>
            <a:ext cx="195346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shop-api:1.0</a:t>
            </a:r>
            <a:endParaRPr lang="en-US" sz="1200" dirty="0"/>
          </a:p>
          <a:p>
            <a:pPr algn="l"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read-only</a:t>
            </a:r>
            <a:endParaRPr lang="en-US" sz="1200" dirty="0"/>
          </a:p>
          <a:p>
            <a:pPr algn="l" indent="0" marL="0">
              <a:lnSpc>
                <a:spcPts val="1680"/>
              </a:lnSpc>
              <a:buNone/>
            </a:pPr>
            <a:r>
              <a:rPr lang="en-US" sz="1200" dirty="0">
                <a:solidFill>
                  <a:srgbClr val="BFD8F5"/>
                </a:solidFill>
                <a:latin typeface="JetBrains Mono" pitchFamily="49" charset="0"/>
                <a:ea typeface="JetBrains Mono" pitchFamily="49" charset="-122"/>
                <a:cs typeface="JetBrains Mono" pitchFamily="49" charset="-120"/>
              </a:rPr>
              <a:t>shareable</a:t>
            </a:r>
            <a:endParaRPr lang="en-US" sz="1200" dirty="0"/>
          </a:p>
        </p:txBody>
      </p:sp>
      <p:sp>
        <p:nvSpPr>
          <p:cNvPr id="14" name="Text 9"/>
          <p:cNvSpPr/>
          <p:nvPr/>
        </p:nvSpPr>
        <p:spPr>
          <a:xfrm>
            <a:off x="5141367" y="4326186"/>
            <a:ext cx="19534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9F45"/>
                </a:solidFill>
                <a:latin typeface="IBM Plex Sans" pitchFamily="34" charset="0"/>
                <a:ea typeface="IBM Plex Sans" pitchFamily="34" charset="-122"/>
                <a:cs typeface="IBM Plex Sans" pitchFamily="34" charset="-120"/>
              </a:rPr>
              <a:t>The packed tiffin</a:t>
            </a:r>
            <a:endParaRPr lang="en-US" sz="1400" dirty="0"/>
          </a:p>
        </p:txBody>
      </p:sp>
      <p:pic>
        <p:nvPicPr>
          <p:cNvPr id="15" name="Image 3" descr="arrow-right">    </p:cNvPr>
          <p:cNvPicPr>
            <a:picLocks noChangeAspect="1"/>
          </p:cNvPicPr>
          <p:nvPr/>
        </p:nvPicPr>
        <p:blipFill>
          <a:blip r:embed="rId4"/>
          <a:srcRect l="0" r="0" t="0" b="0"/>
          <a:stretch/>
        </p:blipFill>
        <p:spPr>
          <a:xfrm>
            <a:off x="7806283" y="3253730"/>
            <a:ext cx="609600" cy="279400"/>
          </a:xfrm>
          <a:prstGeom prst="rect">
            <a:avLst/>
          </a:prstGeom>
        </p:spPr>
      </p:pic>
      <p:sp>
        <p:nvSpPr>
          <p:cNvPr id="16" name="Text 10"/>
          <p:cNvSpPr/>
          <p:nvPr/>
        </p:nvSpPr>
        <p:spPr>
          <a:xfrm>
            <a:off x="7562443" y="3609330"/>
            <a:ext cx="10972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docker run</a:t>
            </a:r>
            <a:endParaRPr lang="en-US" sz="1200" dirty="0"/>
          </a:p>
        </p:txBody>
      </p:sp>
      <p:sp>
        <p:nvSpPr>
          <p:cNvPr id="17" name="Shape 11"/>
          <p:cNvSpPr/>
          <p:nvPr/>
        </p:nvSpPr>
        <p:spPr>
          <a:xfrm>
            <a:off x="8904833" y="2365425"/>
            <a:ext cx="2468017" cy="2345581"/>
          </a:xfrm>
          <a:prstGeom prst="roundRect">
            <a:avLst>
              <a:gd name="adj" fmla="val 6227"/>
            </a:avLst>
          </a:prstGeom>
          <a:solidFill>
            <a:srgbClr val="141922"/>
          </a:solidFill>
          <a:ln w="12700">
            <a:solidFill>
              <a:srgbClr val="4FC27A"/>
            </a:solidFill>
            <a:prstDash val="solid"/>
          </a:ln>
        </p:spPr>
      </p:sp>
      <p:pic>
        <p:nvPicPr>
          <p:cNvPr id="18" name="Image 4" descr="Play">    </p:cNvPr>
          <p:cNvPicPr>
            <a:picLocks noChangeAspect="1"/>
          </p:cNvPicPr>
          <p:nvPr/>
        </p:nvPicPr>
        <p:blipFill>
          <a:blip r:embed="rId5"/>
          <a:srcRect l="0" r="0" t="0" b="0"/>
          <a:stretch/>
        </p:blipFill>
        <p:spPr>
          <a:xfrm>
            <a:off x="9190583" y="2651175"/>
            <a:ext cx="406400" cy="406400"/>
          </a:xfrm>
          <a:prstGeom prst="rect">
            <a:avLst/>
          </a:prstGeom>
        </p:spPr>
      </p:pic>
      <p:sp>
        <p:nvSpPr>
          <p:cNvPr id="19" name="Text 12"/>
          <p:cNvSpPr/>
          <p:nvPr/>
        </p:nvSpPr>
        <p:spPr>
          <a:xfrm>
            <a:off x="9190583" y="3209975"/>
            <a:ext cx="1953412"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Container</a:t>
            </a:r>
            <a:endParaRPr lang="en-US" sz="2200" dirty="0"/>
          </a:p>
        </p:txBody>
      </p:sp>
      <p:sp>
        <p:nvSpPr>
          <p:cNvPr id="20" name="Text 13"/>
          <p:cNvSpPr/>
          <p:nvPr/>
        </p:nvSpPr>
        <p:spPr>
          <a:xfrm>
            <a:off x="9190583" y="3683645"/>
            <a:ext cx="589806" cy="340320"/>
          </a:xfrm>
          <a:custGeom>
            <a:avLst/>
            <a:gdLst/>
            <a:ahLst/>
            <a:cxnLst/>
            <a:rect l="l" t="t" r="r" b="b"/>
            <a:pathLst>
              <a:path w="589806" h="340320">
                <a:moveTo>
                  <a:pt x="63500" y="0"/>
                </a:moveTo>
                <a:lnTo>
                  <a:pt x="526306" y="0"/>
                </a:lnTo>
                <a:arcTo hR="63500" wR="63500" stAng="16200000" swAng="5400000"/>
                <a:lnTo>
                  <a:pt x="589806" y="276820"/>
                </a:lnTo>
                <a:arcTo hR="63500" wR="63500" stAng="0" swAng="5400000"/>
                <a:lnTo>
                  <a:pt x="63500" y="340320"/>
                </a:lnTo>
                <a:arcTo hR="63500" wR="63500" stAng="5400000" swAng="5400000"/>
                <a:lnTo>
                  <a:pt x="0" y="63500"/>
                </a:lnTo>
                <a:arcTo hR="63500" wR="63500" stAng="10800000" swAng="5400000"/>
                <a:close/>
              </a:path>
            </a:pathLst>
          </a:custGeom>
          <a:solidFill>
            <a:srgbClr val="10261A"/>
          </a:solidFill>
          <a:ln/>
        </p:spPr>
        <p:txBody>
          <a:bodyPr wrap="square" lIns="38100" tIns="63500" rIns="38100" bIns="38100" rtlCol="0" anchor="t">
            <a:normAutofit/>
          </a:bodyPr>
          <a:lstStyle/>
          <a:p>
            <a:pPr algn="ctr" indent="0" marL="0">
              <a:lnSpc>
                <a:spcPts val="1680"/>
              </a:lnSpc>
              <a:buNone/>
            </a:pPr>
            <a:r>
              <a:rPr lang="en-US" sz="1200" dirty="0">
                <a:solidFill>
                  <a:srgbClr val="8EE0AE"/>
                </a:solidFill>
                <a:latin typeface="JetBrains Mono" pitchFamily="49" charset="0"/>
                <a:ea typeface="JetBrains Mono" pitchFamily="49" charset="-122"/>
                <a:cs typeface="JetBrains Mono" pitchFamily="49" charset="-120"/>
              </a:rPr>
              <a:t>c1</a:t>
            </a:r>
            <a:endParaRPr lang="en-US" sz="1200" dirty="0"/>
          </a:p>
        </p:txBody>
      </p:sp>
      <p:sp>
        <p:nvSpPr>
          <p:cNvPr id="21" name="Text 14"/>
          <p:cNvSpPr/>
          <p:nvPr/>
        </p:nvSpPr>
        <p:spPr>
          <a:xfrm>
            <a:off x="9843889" y="3683645"/>
            <a:ext cx="589855" cy="340320"/>
          </a:xfrm>
          <a:custGeom>
            <a:avLst/>
            <a:gdLst/>
            <a:ahLst/>
            <a:cxnLst/>
            <a:rect l="l" t="t" r="r" b="b"/>
            <a:pathLst>
              <a:path w="589855" h="340320">
                <a:moveTo>
                  <a:pt x="63500" y="0"/>
                </a:moveTo>
                <a:lnTo>
                  <a:pt x="526355" y="0"/>
                </a:lnTo>
                <a:arcTo hR="63500" wR="63500" stAng="16200000" swAng="5400000"/>
                <a:lnTo>
                  <a:pt x="589855" y="276820"/>
                </a:lnTo>
                <a:arcTo hR="63500" wR="63500" stAng="0" swAng="5400000"/>
                <a:lnTo>
                  <a:pt x="63500" y="340320"/>
                </a:lnTo>
                <a:arcTo hR="63500" wR="63500" stAng="5400000" swAng="5400000"/>
                <a:lnTo>
                  <a:pt x="0" y="63500"/>
                </a:lnTo>
                <a:arcTo hR="63500" wR="63500" stAng="10800000" swAng="5400000"/>
                <a:close/>
              </a:path>
            </a:pathLst>
          </a:custGeom>
          <a:solidFill>
            <a:srgbClr val="10261A"/>
          </a:solidFill>
          <a:ln/>
        </p:spPr>
        <p:txBody>
          <a:bodyPr wrap="square" lIns="38100" tIns="63500" rIns="38100" bIns="38100" rtlCol="0" anchor="t">
            <a:normAutofit/>
          </a:bodyPr>
          <a:lstStyle/>
          <a:p>
            <a:pPr algn="ctr" indent="0" marL="0">
              <a:lnSpc>
                <a:spcPts val="1680"/>
              </a:lnSpc>
              <a:buNone/>
            </a:pPr>
            <a:r>
              <a:rPr lang="en-US" sz="1200" dirty="0">
                <a:solidFill>
                  <a:srgbClr val="8EE0AE"/>
                </a:solidFill>
                <a:latin typeface="JetBrains Mono" pitchFamily="49" charset="0"/>
                <a:ea typeface="JetBrains Mono" pitchFamily="49" charset="-122"/>
                <a:cs typeface="JetBrains Mono" pitchFamily="49" charset="-120"/>
              </a:rPr>
              <a:t>c2</a:t>
            </a:r>
            <a:endParaRPr lang="en-US" sz="1200" dirty="0"/>
          </a:p>
        </p:txBody>
      </p:sp>
      <p:sp>
        <p:nvSpPr>
          <p:cNvPr id="22" name="Text 15"/>
          <p:cNvSpPr/>
          <p:nvPr/>
        </p:nvSpPr>
        <p:spPr>
          <a:xfrm>
            <a:off x="10497245" y="3683645"/>
            <a:ext cx="589855" cy="340320"/>
          </a:xfrm>
          <a:custGeom>
            <a:avLst/>
            <a:gdLst/>
            <a:ahLst/>
            <a:cxnLst/>
            <a:rect l="l" t="t" r="r" b="b"/>
            <a:pathLst>
              <a:path w="589855" h="340320">
                <a:moveTo>
                  <a:pt x="63500" y="0"/>
                </a:moveTo>
                <a:lnTo>
                  <a:pt x="526355" y="0"/>
                </a:lnTo>
                <a:arcTo hR="63500" wR="63500" stAng="16200000" swAng="5400000"/>
                <a:lnTo>
                  <a:pt x="589855" y="276820"/>
                </a:lnTo>
                <a:arcTo hR="63500" wR="63500" stAng="0" swAng="5400000"/>
                <a:lnTo>
                  <a:pt x="63500" y="340320"/>
                </a:lnTo>
                <a:arcTo hR="63500" wR="63500" stAng="5400000" swAng="5400000"/>
                <a:lnTo>
                  <a:pt x="0" y="63500"/>
                </a:lnTo>
                <a:arcTo hR="63500" wR="63500" stAng="10800000" swAng="5400000"/>
                <a:close/>
              </a:path>
            </a:pathLst>
          </a:custGeom>
          <a:solidFill>
            <a:srgbClr val="10261A"/>
          </a:solidFill>
          <a:ln/>
        </p:spPr>
        <p:txBody>
          <a:bodyPr wrap="square" lIns="38100" tIns="63500" rIns="38100" bIns="38100" rtlCol="0" anchor="t">
            <a:normAutofit/>
          </a:bodyPr>
          <a:lstStyle/>
          <a:p>
            <a:pPr algn="ctr" indent="0" marL="0">
              <a:lnSpc>
                <a:spcPts val="1680"/>
              </a:lnSpc>
              <a:buNone/>
            </a:pPr>
            <a:r>
              <a:rPr lang="en-US" sz="1200" dirty="0">
                <a:solidFill>
                  <a:srgbClr val="8EE0AE"/>
                </a:solidFill>
                <a:latin typeface="JetBrains Mono" pitchFamily="49" charset="0"/>
                <a:ea typeface="JetBrains Mono" pitchFamily="49" charset="-122"/>
                <a:cs typeface="JetBrains Mono" pitchFamily="49" charset="-120"/>
              </a:rPr>
              <a:t>c3</a:t>
            </a:r>
            <a:endParaRPr lang="en-US" sz="1200" dirty="0"/>
          </a:p>
        </p:txBody>
      </p:sp>
      <p:sp>
        <p:nvSpPr>
          <p:cNvPr id="23" name="Text 16"/>
          <p:cNvSpPr/>
          <p:nvPr/>
        </p:nvSpPr>
        <p:spPr>
          <a:xfrm>
            <a:off x="9190583" y="4176365"/>
            <a:ext cx="19534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9F45"/>
                </a:solidFill>
                <a:latin typeface="IBM Plex Sans" pitchFamily="34" charset="0"/>
                <a:ea typeface="IBM Plex Sans" pitchFamily="34" charset="-122"/>
                <a:cs typeface="IBM Plex Sans" pitchFamily="34" charset="-120"/>
              </a:rPr>
              <a:t>The tiffin being eaten</a:t>
            </a:r>
            <a:endParaRPr lang="en-US" sz="1400" dirty="0"/>
          </a:p>
        </p:txBody>
      </p:sp>
      <p:sp>
        <p:nvSpPr>
          <p:cNvPr id="24" name="Text 17"/>
          <p:cNvSpPr/>
          <p:nvPr/>
        </p:nvSpPr>
        <p:spPr>
          <a:xfrm>
            <a:off x="654304" y="5760740"/>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A9B3C2"/>
                </a:solidFill>
                <a:latin typeface="IBM Plex Sans" pitchFamily="34" charset="0"/>
                <a:ea typeface="IBM Plex Sans" pitchFamily="34" charset="-122"/>
                <a:cs typeface="IBM Plex Sans" pitchFamily="34" charset="-120"/>
              </a:rPr>
              <a:t>One image can start </a:t>
            </a:r>
            <a:r>
              <a:rPr lang="en-US" sz="1600" b="1" dirty="0">
                <a:solidFill>
                  <a:srgbClr val="F3F5F8"/>
                </a:solidFill>
                <a:latin typeface="IBM Plex Sans" pitchFamily="34" charset="0"/>
                <a:ea typeface="IBM Plex Sans" pitchFamily="34" charset="-122"/>
                <a:cs typeface="IBM Plex Sans" pitchFamily="34" charset="-120"/>
              </a:rPr>
              <a:t>many identical containers</a:t>
            </a:r>
            <a:r>
              <a:rPr lang="en-US" sz="1600" dirty="0">
                <a:solidFill>
                  <a:srgbClr val="A9B3C2"/>
                </a:solidFill>
                <a:latin typeface="IBM Plex Sans" pitchFamily="34" charset="0"/>
                <a:ea typeface="IBM Plex Sans" pitchFamily="34" charset="-122"/>
                <a:cs typeface="IBM Plex Sans" pitchFamily="34" charset="-120"/>
              </a:rPr>
              <a: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Eight words you'll use daily</a:t>
            </a:r>
            <a:endParaRPr lang="en-US" sz="3600" dirty="0"/>
          </a:p>
        </p:txBody>
      </p:sp>
      <p:sp>
        <p:nvSpPr>
          <p:cNvPr id="3" name="Shape 1"/>
          <p:cNvSpPr/>
          <p:nvPr/>
        </p:nvSpPr>
        <p:spPr>
          <a:xfrm>
            <a:off x="815975" y="1674465"/>
            <a:ext cx="2520950" cy="2104380"/>
          </a:xfrm>
          <a:prstGeom prst="roundRect">
            <a:avLst>
              <a:gd name="adj" fmla="val 5884"/>
            </a:avLst>
          </a:prstGeom>
          <a:solidFill>
            <a:srgbClr val="141922"/>
          </a:solidFill>
          <a:ln w="6350">
            <a:solidFill>
              <a:srgbClr val="263041"/>
            </a:solidFill>
            <a:prstDash val="solid"/>
          </a:ln>
        </p:spPr>
      </p:sp>
      <p:pic>
        <p:nvPicPr>
          <p:cNvPr id="4" name="Image 0" descr="Book">    </p:cNvPr>
          <p:cNvPicPr>
            <a:picLocks noChangeAspect="1"/>
          </p:cNvPicPr>
          <p:nvPr/>
        </p:nvPicPr>
        <p:blipFill>
          <a:blip r:embed="rId1"/>
          <a:srcRect l="0" r="0" t="0" b="0"/>
          <a:stretch/>
        </p:blipFill>
        <p:spPr>
          <a:xfrm>
            <a:off x="1022350" y="1880840"/>
            <a:ext cx="254000" cy="254000"/>
          </a:xfrm>
          <a:prstGeom prst="rect">
            <a:avLst/>
          </a:prstGeom>
        </p:spPr>
      </p:pic>
      <p:sp>
        <p:nvSpPr>
          <p:cNvPr id="5" name="Text 2"/>
          <p:cNvSpPr/>
          <p:nvPr/>
        </p:nvSpPr>
        <p:spPr>
          <a:xfrm>
            <a:off x="1022350" y="221104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Dockerfile</a:t>
            </a:r>
            <a:endParaRPr lang="en-US" sz="2200" dirty="0"/>
          </a:p>
        </p:txBody>
      </p:sp>
      <p:sp>
        <p:nvSpPr>
          <p:cNvPr id="6" name="Text 3"/>
          <p:cNvSpPr/>
          <p:nvPr/>
        </p:nvSpPr>
        <p:spPr>
          <a:xfrm>
            <a:off x="1022350" y="260851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Text recipe that builds an image</a:t>
            </a:r>
            <a:endParaRPr lang="en-US" sz="1400" dirty="0"/>
          </a:p>
        </p:txBody>
      </p:sp>
      <p:sp>
        <p:nvSpPr>
          <p:cNvPr id="7" name="Text 4"/>
          <p:cNvSpPr/>
          <p:nvPr/>
        </p:nvSpPr>
        <p:spPr>
          <a:xfrm>
            <a:off x="1022350" y="335915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the recipe</a:t>
            </a:r>
            <a:endParaRPr lang="en-US" sz="1200" dirty="0"/>
          </a:p>
        </p:txBody>
      </p:sp>
      <p:sp>
        <p:nvSpPr>
          <p:cNvPr id="8" name="Shape 5"/>
          <p:cNvSpPr/>
          <p:nvPr/>
        </p:nvSpPr>
        <p:spPr>
          <a:xfrm>
            <a:off x="3495675" y="1674465"/>
            <a:ext cx="2520950" cy="2104380"/>
          </a:xfrm>
          <a:prstGeom prst="roundRect">
            <a:avLst>
              <a:gd name="adj" fmla="val 5884"/>
            </a:avLst>
          </a:prstGeom>
          <a:solidFill>
            <a:srgbClr val="141922"/>
          </a:solidFill>
          <a:ln w="6350">
            <a:solidFill>
              <a:srgbClr val="263041"/>
            </a:solidFill>
            <a:prstDash val="solid"/>
          </a:ln>
        </p:spPr>
      </p:sp>
      <p:pic>
        <p:nvPicPr>
          <p:cNvPr id="9" name="Image 1" descr="Lock">    </p:cNvPr>
          <p:cNvPicPr>
            <a:picLocks noChangeAspect="1"/>
          </p:cNvPicPr>
          <p:nvPr/>
        </p:nvPicPr>
        <p:blipFill>
          <a:blip r:embed="rId2"/>
          <a:srcRect l="0" r="0" t="0" b="0"/>
          <a:stretch/>
        </p:blipFill>
        <p:spPr>
          <a:xfrm>
            <a:off x="3702050" y="1880840"/>
            <a:ext cx="254000" cy="254000"/>
          </a:xfrm>
          <a:prstGeom prst="rect">
            <a:avLst/>
          </a:prstGeom>
        </p:spPr>
      </p:pic>
      <p:sp>
        <p:nvSpPr>
          <p:cNvPr id="10" name="Text 6"/>
          <p:cNvSpPr/>
          <p:nvPr/>
        </p:nvSpPr>
        <p:spPr>
          <a:xfrm>
            <a:off x="3702050" y="221104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Image</a:t>
            </a:r>
            <a:endParaRPr lang="en-US" sz="2200" dirty="0"/>
          </a:p>
        </p:txBody>
      </p:sp>
      <p:sp>
        <p:nvSpPr>
          <p:cNvPr id="11" name="Text 7"/>
          <p:cNvSpPr/>
          <p:nvPr/>
        </p:nvSpPr>
        <p:spPr>
          <a:xfrm>
            <a:off x="3702050" y="260851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Frozen, read-only package of the app</a:t>
            </a:r>
            <a:endParaRPr lang="en-US" sz="1400" dirty="0"/>
          </a:p>
        </p:txBody>
      </p:sp>
      <p:sp>
        <p:nvSpPr>
          <p:cNvPr id="12" name="Text 8"/>
          <p:cNvSpPr/>
          <p:nvPr/>
        </p:nvSpPr>
        <p:spPr>
          <a:xfrm>
            <a:off x="3702050" y="335915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packed tiffin</a:t>
            </a:r>
            <a:endParaRPr lang="en-US" sz="1200" dirty="0"/>
          </a:p>
        </p:txBody>
      </p:sp>
      <p:sp>
        <p:nvSpPr>
          <p:cNvPr id="13" name="Shape 9"/>
          <p:cNvSpPr/>
          <p:nvPr/>
        </p:nvSpPr>
        <p:spPr>
          <a:xfrm>
            <a:off x="6175375" y="1674465"/>
            <a:ext cx="2520950" cy="2104380"/>
          </a:xfrm>
          <a:prstGeom prst="roundRect">
            <a:avLst>
              <a:gd name="adj" fmla="val 5884"/>
            </a:avLst>
          </a:prstGeom>
          <a:solidFill>
            <a:srgbClr val="141922"/>
          </a:solidFill>
          <a:ln w="6350">
            <a:solidFill>
              <a:srgbClr val="263041"/>
            </a:solidFill>
            <a:prstDash val="solid"/>
          </a:ln>
        </p:spPr>
      </p:sp>
      <p:pic>
        <p:nvPicPr>
          <p:cNvPr id="14" name="Image 2" descr="Play">    </p:cNvPr>
          <p:cNvPicPr>
            <a:picLocks noChangeAspect="1"/>
          </p:cNvPicPr>
          <p:nvPr/>
        </p:nvPicPr>
        <p:blipFill>
          <a:blip r:embed="rId3"/>
          <a:srcRect l="0" r="0" t="0" b="0"/>
          <a:stretch/>
        </p:blipFill>
        <p:spPr>
          <a:xfrm>
            <a:off x="6381750" y="1880840"/>
            <a:ext cx="254000" cy="254000"/>
          </a:xfrm>
          <a:prstGeom prst="rect">
            <a:avLst/>
          </a:prstGeom>
        </p:spPr>
      </p:pic>
      <p:sp>
        <p:nvSpPr>
          <p:cNvPr id="15" name="Text 10"/>
          <p:cNvSpPr/>
          <p:nvPr/>
        </p:nvSpPr>
        <p:spPr>
          <a:xfrm>
            <a:off x="6381750" y="221104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Container</a:t>
            </a:r>
            <a:endParaRPr lang="en-US" sz="2200" dirty="0"/>
          </a:p>
        </p:txBody>
      </p:sp>
      <p:sp>
        <p:nvSpPr>
          <p:cNvPr id="16" name="Text 11"/>
          <p:cNvSpPr/>
          <p:nvPr/>
        </p:nvSpPr>
        <p:spPr>
          <a:xfrm>
            <a:off x="6381750" y="260851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A running instance of an image</a:t>
            </a:r>
            <a:endParaRPr lang="en-US" sz="1400" dirty="0"/>
          </a:p>
        </p:txBody>
      </p:sp>
      <p:sp>
        <p:nvSpPr>
          <p:cNvPr id="17" name="Text 12"/>
          <p:cNvSpPr/>
          <p:nvPr/>
        </p:nvSpPr>
        <p:spPr>
          <a:xfrm>
            <a:off x="6381750" y="335915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tiffin being eaten</a:t>
            </a:r>
            <a:endParaRPr lang="en-US" sz="1200" dirty="0"/>
          </a:p>
        </p:txBody>
      </p:sp>
      <p:sp>
        <p:nvSpPr>
          <p:cNvPr id="18" name="Shape 13"/>
          <p:cNvSpPr/>
          <p:nvPr/>
        </p:nvSpPr>
        <p:spPr>
          <a:xfrm>
            <a:off x="8855075" y="1674465"/>
            <a:ext cx="2520950" cy="2104380"/>
          </a:xfrm>
          <a:prstGeom prst="roundRect">
            <a:avLst>
              <a:gd name="adj" fmla="val 5884"/>
            </a:avLst>
          </a:prstGeom>
          <a:solidFill>
            <a:srgbClr val="141922"/>
          </a:solidFill>
          <a:ln w="6350">
            <a:solidFill>
              <a:srgbClr val="263041"/>
            </a:solidFill>
            <a:prstDash val="solid"/>
          </a:ln>
        </p:spPr>
      </p:sp>
      <p:pic>
        <p:nvPicPr>
          <p:cNvPr id="19" name="Image 3" descr="Cloud">    </p:cNvPr>
          <p:cNvPicPr>
            <a:picLocks noChangeAspect="1"/>
          </p:cNvPicPr>
          <p:nvPr/>
        </p:nvPicPr>
        <p:blipFill>
          <a:blip r:embed="rId4"/>
          <a:srcRect l="0" r="0" t="0" b="0"/>
          <a:stretch/>
        </p:blipFill>
        <p:spPr>
          <a:xfrm>
            <a:off x="9061450" y="1880840"/>
            <a:ext cx="254000" cy="254000"/>
          </a:xfrm>
          <a:prstGeom prst="rect">
            <a:avLst/>
          </a:prstGeom>
        </p:spPr>
      </p:pic>
      <p:sp>
        <p:nvSpPr>
          <p:cNvPr id="20" name="Text 14"/>
          <p:cNvSpPr/>
          <p:nvPr/>
        </p:nvSpPr>
        <p:spPr>
          <a:xfrm>
            <a:off x="9061450" y="221104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Registry</a:t>
            </a:r>
            <a:endParaRPr lang="en-US" sz="2200" dirty="0"/>
          </a:p>
        </p:txBody>
      </p:sp>
      <p:sp>
        <p:nvSpPr>
          <p:cNvPr id="21" name="Text 15"/>
          <p:cNvSpPr/>
          <p:nvPr/>
        </p:nvSpPr>
        <p:spPr>
          <a:xfrm>
            <a:off x="9061450" y="260851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Online store: Docker Hub, GHCR</a:t>
            </a:r>
            <a:endParaRPr lang="en-US" sz="1400" dirty="0"/>
          </a:p>
        </p:txBody>
      </p:sp>
      <p:sp>
        <p:nvSpPr>
          <p:cNvPr id="22" name="Text 16"/>
          <p:cNvSpPr/>
          <p:nvPr/>
        </p:nvSpPr>
        <p:spPr>
          <a:xfrm>
            <a:off x="9061450" y="335915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GitHub for images</a:t>
            </a:r>
            <a:endParaRPr lang="en-US" sz="1200" dirty="0"/>
          </a:p>
        </p:txBody>
      </p:sp>
      <p:sp>
        <p:nvSpPr>
          <p:cNvPr id="23" name="Shape 17"/>
          <p:cNvSpPr/>
          <p:nvPr/>
        </p:nvSpPr>
        <p:spPr>
          <a:xfrm>
            <a:off x="815975" y="3937595"/>
            <a:ext cx="2520950" cy="2104430"/>
          </a:xfrm>
          <a:prstGeom prst="roundRect">
            <a:avLst>
              <a:gd name="adj" fmla="val 5884"/>
            </a:avLst>
          </a:prstGeom>
          <a:solidFill>
            <a:srgbClr val="141922"/>
          </a:solidFill>
          <a:ln w="6350">
            <a:solidFill>
              <a:srgbClr val="263041"/>
            </a:solidFill>
            <a:prstDash val="solid"/>
          </a:ln>
        </p:spPr>
      </p:sp>
      <p:pic>
        <p:nvPicPr>
          <p:cNvPr id="24" name="Image 4" descr="Database">    </p:cNvPr>
          <p:cNvPicPr>
            <a:picLocks noChangeAspect="1"/>
          </p:cNvPicPr>
          <p:nvPr/>
        </p:nvPicPr>
        <p:blipFill>
          <a:blip r:embed="rId5"/>
          <a:srcRect l="0" r="0" t="0" b="0"/>
          <a:stretch/>
        </p:blipFill>
        <p:spPr>
          <a:xfrm>
            <a:off x="1022350" y="4143970"/>
            <a:ext cx="254000" cy="254000"/>
          </a:xfrm>
          <a:prstGeom prst="rect">
            <a:avLst/>
          </a:prstGeom>
        </p:spPr>
      </p:pic>
      <p:sp>
        <p:nvSpPr>
          <p:cNvPr id="25" name="Text 18"/>
          <p:cNvSpPr/>
          <p:nvPr/>
        </p:nvSpPr>
        <p:spPr>
          <a:xfrm>
            <a:off x="1022350" y="447417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Volume</a:t>
            </a:r>
            <a:endParaRPr lang="en-US" sz="2200" dirty="0"/>
          </a:p>
        </p:txBody>
      </p:sp>
      <p:sp>
        <p:nvSpPr>
          <p:cNvPr id="26" name="Text 19"/>
          <p:cNvSpPr/>
          <p:nvPr/>
        </p:nvSpPr>
        <p:spPr>
          <a:xfrm>
            <a:off x="1022350" y="487164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Storage that outlives the container</a:t>
            </a:r>
            <a:endParaRPr lang="en-US" sz="1400" dirty="0"/>
          </a:p>
        </p:txBody>
      </p:sp>
      <p:sp>
        <p:nvSpPr>
          <p:cNvPr id="27" name="Text 20"/>
          <p:cNvSpPr/>
          <p:nvPr/>
        </p:nvSpPr>
        <p:spPr>
          <a:xfrm>
            <a:off x="1022350" y="56223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external hard disk</a:t>
            </a:r>
            <a:endParaRPr lang="en-US" sz="1200" dirty="0"/>
          </a:p>
        </p:txBody>
      </p:sp>
      <p:sp>
        <p:nvSpPr>
          <p:cNvPr id="28" name="Shape 21"/>
          <p:cNvSpPr/>
          <p:nvPr/>
        </p:nvSpPr>
        <p:spPr>
          <a:xfrm>
            <a:off x="3495675" y="3937595"/>
            <a:ext cx="2520950" cy="2104430"/>
          </a:xfrm>
          <a:prstGeom prst="roundRect">
            <a:avLst>
              <a:gd name="adj" fmla="val 5884"/>
            </a:avLst>
          </a:prstGeom>
          <a:solidFill>
            <a:srgbClr val="141922"/>
          </a:solidFill>
          <a:ln w="6350">
            <a:solidFill>
              <a:srgbClr val="263041"/>
            </a:solidFill>
            <a:prstDash val="solid"/>
          </a:ln>
        </p:spPr>
      </p:sp>
      <p:pic>
        <p:nvPicPr>
          <p:cNvPr id="29" name="Image 5" descr="Link">    </p:cNvPr>
          <p:cNvPicPr>
            <a:picLocks noChangeAspect="1"/>
          </p:cNvPicPr>
          <p:nvPr/>
        </p:nvPicPr>
        <p:blipFill>
          <a:blip r:embed="rId6"/>
          <a:srcRect l="0" r="0" t="0" b="0"/>
          <a:stretch/>
        </p:blipFill>
        <p:spPr>
          <a:xfrm>
            <a:off x="3702050" y="4143970"/>
            <a:ext cx="254000" cy="254000"/>
          </a:xfrm>
          <a:prstGeom prst="rect">
            <a:avLst/>
          </a:prstGeom>
        </p:spPr>
      </p:pic>
      <p:sp>
        <p:nvSpPr>
          <p:cNvPr id="30" name="Text 22"/>
          <p:cNvSpPr/>
          <p:nvPr/>
        </p:nvSpPr>
        <p:spPr>
          <a:xfrm>
            <a:off x="3702050" y="447417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Network</a:t>
            </a:r>
            <a:endParaRPr lang="en-US" sz="2200" dirty="0"/>
          </a:p>
        </p:txBody>
      </p:sp>
      <p:sp>
        <p:nvSpPr>
          <p:cNvPr id="31" name="Text 23"/>
          <p:cNvSpPr/>
          <p:nvPr/>
        </p:nvSpPr>
        <p:spPr>
          <a:xfrm>
            <a:off x="3702050" y="487164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Containers talk to each other by name</a:t>
            </a:r>
            <a:endParaRPr lang="en-US" sz="1400" dirty="0"/>
          </a:p>
        </p:txBody>
      </p:sp>
      <p:sp>
        <p:nvSpPr>
          <p:cNvPr id="32" name="Text 24"/>
          <p:cNvSpPr/>
          <p:nvPr/>
        </p:nvSpPr>
        <p:spPr>
          <a:xfrm>
            <a:off x="3702050" y="56223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office intercom</a:t>
            </a:r>
            <a:endParaRPr lang="en-US" sz="1200" dirty="0"/>
          </a:p>
        </p:txBody>
      </p:sp>
      <p:sp>
        <p:nvSpPr>
          <p:cNvPr id="33" name="Shape 25"/>
          <p:cNvSpPr/>
          <p:nvPr/>
        </p:nvSpPr>
        <p:spPr>
          <a:xfrm>
            <a:off x="6175375" y="3937595"/>
            <a:ext cx="2520950" cy="2104430"/>
          </a:xfrm>
          <a:prstGeom prst="roundRect">
            <a:avLst>
              <a:gd name="adj" fmla="val 5884"/>
            </a:avLst>
          </a:prstGeom>
          <a:solidFill>
            <a:srgbClr val="141922"/>
          </a:solidFill>
          <a:ln w="6350">
            <a:solidFill>
              <a:srgbClr val="263041"/>
            </a:solidFill>
            <a:prstDash val="solid"/>
          </a:ln>
        </p:spPr>
      </p:sp>
      <p:pic>
        <p:nvPicPr>
          <p:cNvPr id="34" name="Image 6" descr="Settings">    </p:cNvPr>
          <p:cNvPicPr>
            <a:picLocks noChangeAspect="1"/>
          </p:cNvPicPr>
          <p:nvPr/>
        </p:nvPicPr>
        <p:blipFill>
          <a:blip r:embed="rId7"/>
          <a:srcRect l="0" r="0" t="0" b="0"/>
          <a:stretch/>
        </p:blipFill>
        <p:spPr>
          <a:xfrm>
            <a:off x="6381750" y="4143970"/>
            <a:ext cx="254000" cy="254000"/>
          </a:xfrm>
          <a:prstGeom prst="rect">
            <a:avLst/>
          </a:prstGeom>
        </p:spPr>
      </p:pic>
      <p:sp>
        <p:nvSpPr>
          <p:cNvPr id="35" name="Text 26"/>
          <p:cNvSpPr/>
          <p:nvPr/>
        </p:nvSpPr>
        <p:spPr>
          <a:xfrm>
            <a:off x="6381750" y="447417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Compose</a:t>
            </a:r>
            <a:endParaRPr lang="en-US" sz="2200" dirty="0"/>
          </a:p>
        </p:txBody>
      </p:sp>
      <p:sp>
        <p:nvSpPr>
          <p:cNvPr id="36" name="Text 27"/>
          <p:cNvSpPr/>
          <p:nvPr/>
        </p:nvSpPr>
        <p:spPr>
          <a:xfrm>
            <a:off x="6381750" y="487164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Many containers, one YAML file</a:t>
            </a:r>
            <a:endParaRPr lang="en-US" sz="1400" dirty="0"/>
          </a:p>
        </p:txBody>
      </p:sp>
      <p:sp>
        <p:nvSpPr>
          <p:cNvPr id="37" name="Text 28"/>
          <p:cNvSpPr/>
          <p:nvPr/>
        </p:nvSpPr>
        <p:spPr>
          <a:xfrm>
            <a:off x="6381750" y="56223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orchestra sheet</a:t>
            </a:r>
            <a:endParaRPr lang="en-US" sz="1200" dirty="0"/>
          </a:p>
        </p:txBody>
      </p:sp>
      <p:sp>
        <p:nvSpPr>
          <p:cNvPr id="38" name="Shape 29"/>
          <p:cNvSpPr/>
          <p:nvPr/>
        </p:nvSpPr>
        <p:spPr>
          <a:xfrm>
            <a:off x="8855075" y="3937595"/>
            <a:ext cx="2520950" cy="2104430"/>
          </a:xfrm>
          <a:prstGeom prst="roundRect">
            <a:avLst>
              <a:gd name="adj" fmla="val 5884"/>
            </a:avLst>
          </a:prstGeom>
          <a:solidFill>
            <a:srgbClr val="141922"/>
          </a:solidFill>
          <a:ln w="6350">
            <a:solidFill>
              <a:srgbClr val="263041"/>
            </a:solidFill>
            <a:prstDash val="solid"/>
          </a:ln>
        </p:spPr>
      </p:sp>
      <p:pic>
        <p:nvPicPr>
          <p:cNvPr id="39" name="Image 7" descr="Globe">    </p:cNvPr>
          <p:cNvPicPr>
            <a:picLocks noChangeAspect="1"/>
          </p:cNvPicPr>
          <p:nvPr/>
        </p:nvPicPr>
        <p:blipFill>
          <a:blip r:embed="rId8"/>
          <a:srcRect l="0" r="0" t="0" b="0"/>
          <a:stretch/>
        </p:blipFill>
        <p:spPr>
          <a:xfrm>
            <a:off x="9061450" y="4143970"/>
            <a:ext cx="254000" cy="254000"/>
          </a:xfrm>
          <a:prstGeom prst="rect">
            <a:avLst/>
          </a:prstGeom>
        </p:spPr>
      </p:pic>
      <p:sp>
        <p:nvSpPr>
          <p:cNvPr id="40" name="Text 30"/>
          <p:cNvSpPr/>
          <p:nvPr/>
        </p:nvSpPr>
        <p:spPr>
          <a:xfrm>
            <a:off x="9061450" y="4474170"/>
            <a:ext cx="217144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Ports</a:t>
            </a:r>
            <a:endParaRPr lang="en-US" sz="2200" dirty="0"/>
          </a:p>
        </p:txBody>
      </p:sp>
      <p:sp>
        <p:nvSpPr>
          <p:cNvPr id="41" name="Text 31"/>
          <p:cNvSpPr/>
          <p:nvPr/>
        </p:nvSpPr>
        <p:spPr>
          <a:xfrm>
            <a:off x="9061450" y="4871641"/>
            <a:ext cx="21714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3C2"/>
                </a:solidFill>
                <a:latin typeface="IBM Plex Sans" pitchFamily="34" charset="0"/>
                <a:ea typeface="IBM Plex Sans" pitchFamily="34" charset="-122"/>
                <a:cs typeface="IBM Plex Sans" pitchFamily="34" charset="-120"/>
              </a:rPr>
              <a:t>-p 8080:80 = host : container</a:t>
            </a:r>
            <a:endParaRPr lang="en-US" sz="1400" dirty="0"/>
          </a:p>
        </p:txBody>
      </p:sp>
      <p:sp>
        <p:nvSpPr>
          <p:cNvPr id="42" name="Text 32"/>
          <p:cNvSpPr/>
          <p:nvPr/>
        </p:nvSpPr>
        <p:spPr>
          <a:xfrm>
            <a:off x="9061450" y="56223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door number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1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7811274"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Production React = static files</a:t>
            </a:r>
            <a:endParaRPr lang="en-US" sz="3600" dirty="0"/>
          </a:p>
        </p:txBody>
      </p:sp>
      <p:sp>
        <p:nvSpPr>
          <p:cNvPr id="3" name="Text 1"/>
          <p:cNvSpPr/>
          <p:nvPr/>
        </p:nvSpPr>
        <p:spPr>
          <a:xfrm>
            <a:off x="10430470" y="887710"/>
            <a:ext cx="942380" cy="353020"/>
          </a:xfrm>
          <a:prstGeom prst="roundRect">
            <a:avLst>
              <a:gd name="adj" fmla="val 50000"/>
            </a:avLst>
          </a:prstGeom>
          <a:noFill/>
          <a:ln w="12700">
            <a:solidFill>
              <a:srgbClr val="3BA4F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CASE 1</a:t>
            </a:r>
            <a:endParaRPr lang="en-US" sz="1200" dirty="0"/>
          </a:p>
        </p:txBody>
      </p:sp>
      <p:sp>
        <p:nvSpPr>
          <p:cNvPr id="4" name="Shape 2"/>
          <p:cNvSpPr/>
          <p:nvPr/>
        </p:nvSpPr>
        <p:spPr>
          <a:xfrm>
            <a:off x="815975" y="1802705"/>
            <a:ext cx="1527175" cy="1946870"/>
          </a:xfrm>
          <a:prstGeom prst="roundRect">
            <a:avLst>
              <a:gd name="adj" fmla="val 9771"/>
            </a:avLst>
          </a:prstGeom>
          <a:solidFill>
            <a:srgbClr val="141922"/>
          </a:solidFill>
          <a:ln w="6350">
            <a:solidFill>
              <a:srgbClr val="263041"/>
            </a:solidFill>
            <a:prstDash val="solid"/>
          </a:ln>
        </p:spPr>
      </p:sp>
      <p:pic>
        <p:nvPicPr>
          <p:cNvPr id="5" name="Image 0" descr="Code">    </p:cNvPr>
          <p:cNvPicPr>
            <a:picLocks noChangeAspect="1"/>
          </p:cNvPicPr>
          <p:nvPr/>
        </p:nvPicPr>
        <p:blipFill>
          <a:blip r:embed="rId1"/>
          <a:srcRect l="0" r="0" t="0" b="0"/>
          <a:stretch/>
        </p:blipFill>
        <p:spPr>
          <a:xfrm>
            <a:off x="996950" y="2034480"/>
            <a:ext cx="304800" cy="304800"/>
          </a:xfrm>
          <a:prstGeom prst="rect">
            <a:avLst/>
          </a:prstGeom>
        </p:spPr>
      </p:pic>
      <p:sp>
        <p:nvSpPr>
          <p:cNvPr id="6" name="Text 3"/>
          <p:cNvSpPr/>
          <p:nvPr/>
        </p:nvSpPr>
        <p:spPr>
          <a:xfrm>
            <a:off x="996950" y="2440880"/>
            <a:ext cx="12160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Source</a:t>
            </a:r>
            <a:endParaRPr lang="en-US" sz="1600" dirty="0"/>
          </a:p>
        </p:txBody>
      </p:sp>
      <p:sp>
        <p:nvSpPr>
          <p:cNvPr id="7" name="Text 4"/>
          <p:cNvSpPr/>
          <p:nvPr/>
        </p:nvSpPr>
        <p:spPr>
          <a:xfrm>
            <a:off x="996950" y="2786311"/>
            <a:ext cx="1216025"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App.jsx</a:t>
            </a:r>
            <a:endParaRPr lang="en-US" sz="1200" dirty="0"/>
          </a:p>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components/</a:t>
            </a:r>
            <a:endParaRPr lang="en-US" sz="1200" dirty="0"/>
          </a:p>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package.json</a:t>
            </a:r>
            <a:endParaRPr lang="en-US" sz="1200" dirty="0"/>
          </a:p>
        </p:txBody>
      </p:sp>
      <p:pic>
        <p:nvPicPr>
          <p:cNvPr id="8" name="Image 1" descr="arrow-right">    </p:cNvPr>
          <p:cNvPicPr>
            <a:picLocks noChangeAspect="1"/>
          </p:cNvPicPr>
          <p:nvPr/>
        </p:nvPicPr>
        <p:blipFill>
          <a:blip r:embed="rId2"/>
          <a:srcRect l="0" r="0" t="0" b="0"/>
          <a:stretch/>
        </p:blipFill>
        <p:spPr>
          <a:xfrm>
            <a:off x="2828925" y="2504380"/>
            <a:ext cx="508000" cy="254000"/>
          </a:xfrm>
          <a:prstGeom prst="rect">
            <a:avLst/>
          </a:prstGeom>
        </p:spPr>
      </p:pic>
      <p:sp>
        <p:nvSpPr>
          <p:cNvPr id="9" name="Text 5"/>
          <p:cNvSpPr/>
          <p:nvPr/>
        </p:nvSpPr>
        <p:spPr>
          <a:xfrm>
            <a:off x="2369681" y="2834580"/>
            <a:ext cx="142648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npm run build</a:t>
            </a:r>
            <a:endParaRPr lang="en-US" sz="1200" dirty="0"/>
          </a:p>
        </p:txBody>
      </p:sp>
      <p:sp>
        <p:nvSpPr>
          <p:cNvPr id="10" name="Shape 6"/>
          <p:cNvSpPr/>
          <p:nvPr/>
        </p:nvSpPr>
        <p:spPr>
          <a:xfrm>
            <a:off x="3822700" y="1802705"/>
            <a:ext cx="1527175" cy="1946870"/>
          </a:xfrm>
          <a:prstGeom prst="roundRect">
            <a:avLst>
              <a:gd name="adj" fmla="val 9771"/>
            </a:avLst>
          </a:prstGeom>
          <a:solidFill>
            <a:srgbClr val="141922"/>
          </a:solidFill>
          <a:ln w="6350">
            <a:solidFill>
              <a:srgbClr val="263041"/>
            </a:solidFill>
            <a:prstDash val="solid"/>
          </a:ln>
        </p:spPr>
      </p:sp>
      <p:pic>
        <p:nvPicPr>
          <p:cNvPr id="11" name="Image 2" descr="Book">    </p:cNvPr>
          <p:cNvPicPr>
            <a:picLocks noChangeAspect="1"/>
          </p:cNvPicPr>
          <p:nvPr/>
        </p:nvPicPr>
        <p:blipFill>
          <a:blip r:embed="rId3"/>
          <a:srcRect l="0" r="0" t="0" b="0"/>
          <a:stretch/>
        </p:blipFill>
        <p:spPr>
          <a:xfrm>
            <a:off x="4003675" y="2034480"/>
            <a:ext cx="304800" cy="304800"/>
          </a:xfrm>
          <a:prstGeom prst="rect">
            <a:avLst/>
          </a:prstGeom>
        </p:spPr>
      </p:pic>
      <p:sp>
        <p:nvSpPr>
          <p:cNvPr id="12" name="Text 7"/>
          <p:cNvSpPr/>
          <p:nvPr/>
        </p:nvSpPr>
        <p:spPr>
          <a:xfrm>
            <a:off x="4003675" y="2440880"/>
            <a:ext cx="12160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dist/</a:t>
            </a:r>
            <a:endParaRPr lang="en-US" sz="1600" dirty="0"/>
          </a:p>
        </p:txBody>
      </p:sp>
      <p:sp>
        <p:nvSpPr>
          <p:cNvPr id="13" name="Text 8"/>
          <p:cNvSpPr/>
          <p:nvPr/>
        </p:nvSpPr>
        <p:spPr>
          <a:xfrm>
            <a:off x="4003675" y="2786311"/>
            <a:ext cx="1216025"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index.html</a:t>
            </a:r>
            <a:endParaRPr lang="en-US" sz="1200" dirty="0"/>
          </a:p>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assets/*.js</a:t>
            </a:r>
            <a:endParaRPr lang="en-US" sz="1200" dirty="0"/>
          </a:p>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assets/*.css</a:t>
            </a:r>
            <a:endParaRPr lang="en-US" sz="1200" dirty="0"/>
          </a:p>
        </p:txBody>
      </p:sp>
      <p:pic>
        <p:nvPicPr>
          <p:cNvPr id="14" name="Image 3" descr="arrow-right">    </p:cNvPr>
          <p:cNvPicPr>
            <a:picLocks noChangeAspect="1"/>
          </p:cNvPicPr>
          <p:nvPr/>
        </p:nvPicPr>
        <p:blipFill>
          <a:blip r:embed="rId4"/>
          <a:srcRect l="0" r="0" t="0" b="0"/>
          <a:stretch/>
        </p:blipFill>
        <p:spPr>
          <a:xfrm>
            <a:off x="5835650" y="2504380"/>
            <a:ext cx="508000" cy="254000"/>
          </a:xfrm>
          <a:prstGeom prst="rect">
            <a:avLst/>
          </a:prstGeom>
        </p:spPr>
      </p:pic>
      <p:sp>
        <p:nvSpPr>
          <p:cNvPr id="15" name="Text 9"/>
          <p:cNvSpPr/>
          <p:nvPr/>
        </p:nvSpPr>
        <p:spPr>
          <a:xfrm>
            <a:off x="5870163" y="2834580"/>
            <a:ext cx="43892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copy</a:t>
            </a:r>
            <a:endParaRPr lang="en-US" sz="1200" dirty="0"/>
          </a:p>
        </p:txBody>
      </p:sp>
      <p:sp>
        <p:nvSpPr>
          <p:cNvPr id="16" name="Shape 10"/>
          <p:cNvSpPr/>
          <p:nvPr/>
        </p:nvSpPr>
        <p:spPr>
          <a:xfrm>
            <a:off x="6832600" y="1677640"/>
            <a:ext cx="1533525" cy="2197050"/>
          </a:xfrm>
          <a:prstGeom prst="roundRect">
            <a:avLst>
              <a:gd name="adj" fmla="val 9524"/>
            </a:avLst>
          </a:prstGeom>
          <a:solidFill>
            <a:srgbClr val="141922"/>
          </a:solidFill>
          <a:ln w="12700">
            <a:solidFill>
              <a:srgbClr val="3BA4F5"/>
            </a:solidFill>
            <a:prstDash val="solid"/>
          </a:ln>
        </p:spPr>
      </p:sp>
      <p:pic>
        <p:nvPicPr>
          <p:cNvPr id="17" name="Image 4" descr="Settings">    </p:cNvPr>
          <p:cNvPicPr>
            <a:picLocks noChangeAspect="1"/>
          </p:cNvPicPr>
          <p:nvPr/>
        </p:nvPicPr>
        <p:blipFill>
          <a:blip r:embed="rId5"/>
          <a:srcRect l="0" r="0" t="0" b="0"/>
          <a:stretch/>
        </p:blipFill>
        <p:spPr>
          <a:xfrm>
            <a:off x="7016750" y="1912590"/>
            <a:ext cx="304800" cy="304800"/>
          </a:xfrm>
          <a:prstGeom prst="rect">
            <a:avLst/>
          </a:prstGeom>
        </p:spPr>
      </p:pic>
      <p:sp>
        <p:nvSpPr>
          <p:cNvPr id="18" name="Text 11"/>
          <p:cNvSpPr/>
          <p:nvPr/>
        </p:nvSpPr>
        <p:spPr>
          <a:xfrm>
            <a:off x="7016750" y="2318990"/>
            <a:ext cx="12160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Nginx</a:t>
            </a:r>
            <a:endParaRPr lang="en-US" sz="1600" dirty="0"/>
          </a:p>
        </p:txBody>
      </p:sp>
      <p:sp>
        <p:nvSpPr>
          <p:cNvPr id="19" name="Text 12"/>
          <p:cNvSpPr/>
          <p:nvPr/>
        </p:nvSpPr>
        <p:spPr>
          <a:xfrm>
            <a:off x="7016750" y="2664420"/>
            <a:ext cx="1216025" cy="100072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web server</a:t>
            </a:r>
            <a:endParaRPr lang="en-US" sz="1200" dirty="0"/>
          </a:p>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port 80</a:t>
            </a:r>
            <a:endParaRPr lang="en-US" sz="1200" dirty="0"/>
          </a:p>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in a container</a:t>
            </a:r>
            <a:endParaRPr lang="en-US" sz="1200" dirty="0"/>
          </a:p>
        </p:txBody>
      </p:sp>
      <p:pic>
        <p:nvPicPr>
          <p:cNvPr id="20" name="Image 5" descr="arrow-right">    </p:cNvPr>
          <p:cNvPicPr>
            <a:picLocks noChangeAspect="1"/>
          </p:cNvPicPr>
          <p:nvPr/>
        </p:nvPicPr>
        <p:blipFill>
          <a:blip r:embed="rId6"/>
          <a:srcRect l="0" r="0" t="0" b="0"/>
          <a:stretch/>
        </p:blipFill>
        <p:spPr>
          <a:xfrm>
            <a:off x="8855075" y="2504380"/>
            <a:ext cx="508000" cy="254000"/>
          </a:xfrm>
          <a:prstGeom prst="rect">
            <a:avLst/>
          </a:prstGeom>
        </p:spPr>
      </p:pic>
      <p:sp>
        <p:nvSpPr>
          <p:cNvPr id="21" name="Text 13"/>
          <p:cNvSpPr/>
          <p:nvPr/>
        </p:nvSpPr>
        <p:spPr>
          <a:xfrm>
            <a:off x="8889588" y="2834580"/>
            <a:ext cx="43892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HTTP</a:t>
            </a:r>
            <a:endParaRPr lang="en-US" sz="1200" dirty="0"/>
          </a:p>
        </p:txBody>
      </p:sp>
      <p:sp>
        <p:nvSpPr>
          <p:cNvPr id="22" name="Shape 14"/>
          <p:cNvSpPr/>
          <p:nvPr/>
        </p:nvSpPr>
        <p:spPr>
          <a:xfrm>
            <a:off x="9848850" y="1924645"/>
            <a:ext cx="1527175" cy="1703040"/>
          </a:xfrm>
          <a:prstGeom prst="roundRect">
            <a:avLst>
              <a:gd name="adj" fmla="val 9771"/>
            </a:avLst>
          </a:prstGeom>
          <a:solidFill>
            <a:srgbClr val="141922"/>
          </a:solidFill>
          <a:ln w="6350">
            <a:solidFill>
              <a:srgbClr val="263041"/>
            </a:solidFill>
            <a:prstDash val="solid"/>
          </a:ln>
        </p:spPr>
      </p:sp>
      <p:pic>
        <p:nvPicPr>
          <p:cNvPr id="23" name="Image 6" descr="Globe">    </p:cNvPr>
          <p:cNvPicPr>
            <a:picLocks noChangeAspect="1"/>
          </p:cNvPicPr>
          <p:nvPr/>
        </p:nvPicPr>
        <p:blipFill>
          <a:blip r:embed="rId7"/>
          <a:srcRect l="0" r="0" t="0" b="0"/>
          <a:stretch/>
        </p:blipFill>
        <p:spPr>
          <a:xfrm>
            <a:off x="10029825" y="2156420"/>
            <a:ext cx="304800" cy="304800"/>
          </a:xfrm>
          <a:prstGeom prst="rect">
            <a:avLst/>
          </a:prstGeom>
        </p:spPr>
      </p:pic>
      <p:sp>
        <p:nvSpPr>
          <p:cNvPr id="24" name="Text 15"/>
          <p:cNvSpPr/>
          <p:nvPr/>
        </p:nvSpPr>
        <p:spPr>
          <a:xfrm>
            <a:off x="10029825" y="2562820"/>
            <a:ext cx="12160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Browser</a:t>
            </a:r>
            <a:endParaRPr lang="en-US" sz="1600" dirty="0"/>
          </a:p>
        </p:txBody>
      </p:sp>
      <p:sp>
        <p:nvSpPr>
          <p:cNvPr id="25" name="Text 16"/>
          <p:cNvSpPr/>
          <p:nvPr/>
        </p:nvSpPr>
        <p:spPr>
          <a:xfrm>
            <a:off x="10029825" y="2908250"/>
            <a:ext cx="1216025" cy="51306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downloads JS</a:t>
            </a:r>
            <a:endParaRPr lang="en-US" sz="1200" dirty="0"/>
          </a:p>
          <a:p>
            <a:pPr algn="l" indent="0" marL="0">
              <a:lnSpc>
                <a:spcPts val="1920"/>
              </a:lnSpc>
              <a:buNone/>
            </a:pPr>
            <a:r>
              <a:rPr lang="en-US" sz="1200" dirty="0">
                <a:solidFill>
                  <a:srgbClr val="A9B3C2"/>
                </a:solidFill>
                <a:latin typeface="JetBrains Mono" pitchFamily="49" charset="0"/>
                <a:ea typeface="JetBrains Mono" pitchFamily="49" charset="-122"/>
                <a:cs typeface="JetBrains Mono" pitchFamily="49" charset="-120"/>
              </a:rPr>
              <a:t>runs the app</a:t>
            </a:r>
            <a:endParaRPr lang="en-US" sz="1200" dirty="0"/>
          </a:p>
        </p:txBody>
      </p:sp>
      <p:sp>
        <p:nvSpPr>
          <p:cNvPr id="26" name="Shape 17"/>
          <p:cNvSpPr/>
          <p:nvPr/>
        </p:nvSpPr>
        <p:spPr>
          <a:xfrm>
            <a:off x="815975" y="4239816"/>
            <a:ext cx="5175250" cy="1802209"/>
          </a:xfrm>
          <a:prstGeom prst="roundRect">
            <a:avLst>
              <a:gd name="adj" fmla="val 8280"/>
            </a:avLst>
          </a:prstGeom>
          <a:solidFill>
            <a:srgbClr val="141922"/>
          </a:solidFill>
          <a:ln w="6350">
            <a:solidFill>
              <a:srgbClr val="263041"/>
            </a:solidFill>
            <a:prstDash val="solid"/>
          </a:ln>
        </p:spPr>
      </p:sp>
      <p:pic>
        <p:nvPicPr>
          <p:cNvPr id="27" name="Image 7" descr="Lightning">    </p:cNvPr>
          <p:cNvPicPr>
            <a:picLocks noChangeAspect="1"/>
          </p:cNvPicPr>
          <p:nvPr/>
        </p:nvPicPr>
        <p:blipFill>
          <a:blip r:embed="rId8"/>
          <a:srcRect l="0" r="0" t="0" b="0"/>
          <a:stretch/>
        </p:blipFill>
        <p:spPr>
          <a:xfrm>
            <a:off x="1098550" y="4522391"/>
            <a:ext cx="355600" cy="355600"/>
          </a:xfrm>
          <a:prstGeom prst="rect">
            <a:avLst/>
          </a:prstGeom>
        </p:spPr>
      </p:pic>
      <p:sp>
        <p:nvSpPr>
          <p:cNvPr id="28" name="Text 18"/>
          <p:cNvSpPr/>
          <p:nvPr/>
        </p:nvSpPr>
        <p:spPr>
          <a:xfrm>
            <a:off x="1631950" y="4522391"/>
            <a:ext cx="419900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No Node at runtime</a:t>
            </a:r>
            <a:endParaRPr lang="en-US" sz="2200" dirty="0"/>
          </a:p>
        </p:txBody>
      </p:sp>
      <p:sp>
        <p:nvSpPr>
          <p:cNvPr id="29" name="Text 19"/>
          <p:cNvSpPr/>
          <p:nvPr/>
        </p:nvSpPr>
        <p:spPr>
          <a:xfrm>
            <a:off x="1631950" y="4919861"/>
            <a:ext cx="41990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Node is only needed to build. The server just hands out files.</a:t>
            </a:r>
            <a:endParaRPr lang="en-US" sz="1400" dirty="0"/>
          </a:p>
        </p:txBody>
      </p:sp>
      <p:sp>
        <p:nvSpPr>
          <p:cNvPr id="30" name="Shape 20"/>
          <p:cNvSpPr/>
          <p:nvPr/>
        </p:nvSpPr>
        <p:spPr>
          <a:xfrm>
            <a:off x="6200775" y="4239816"/>
            <a:ext cx="5175250" cy="1802209"/>
          </a:xfrm>
          <a:prstGeom prst="roundRect">
            <a:avLst>
              <a:gd name="adj" fmla="val 8280"/>
            </a:avLst>
          </a:prstGeom>
          <a:solidFill>
            <a:srgbClr val="141922"/>
          </a:solidFill>
          <a:ln w="6350">
            <a:solidFill>
              <a:srgbClr val="263041"/>
            </a:solidFill>
            <a:prstDash val="solid"/>
          </a:ln>
        </p:spPr>
      </p:sp>
      <p:pic>
        <p:nvPicPr>
          <p:cNvPr id="31" name="Image 8" descr="Globe">    </p:cNvPr>
          <p:cNvPicPr>
            <a:picLocks noChangeAspect="1"/>
          </p:cNvPicPr>
          <p:nvPr/>
        </p:nvPicPr>
        <p:blipFill>
          <a:blip r:embed="rId9"/>
          <a:srcRect l="0" r="0" t="0" b="0"/>
          <a:stretch/>
        </p:blipFill>
        <p:spPr>
          <a:xfrm>
            <a:off x="6483350" y="4522391"/>
            <a:ext cx="355600" cy="355600"/>
          </a:xfrm>
          <a:prstGeom prst="rect">
            <a:avLst/>
          </a:prstGeom>
        </p:spPr>
      </p:pic>
      <p:sp>
        <p:nvSpPr>
          <p:cNvPr id="32" name="Text 21"/>
          <p:cNvSpPr/>
          <p:nvPr/>
        </p:nvSpPr>
        <p:spPr>
          <a:xfrm>
            <a:off x="7016750" y="4522391"/>
            <a:ext cx="419900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Any static host works</a:t>
            </a:r>
            <a:endParaRPr lang="en-US" sz="2200" dirty="0"/>
          </a:p>
        </p:txBody>
      </p:sp>
      <p:sp>
        <p:nvSpPr>
          <p:cNvPr id="33" name="Text 22"/>
          <p:cNvSpPr/>
          <p:nvPr/>
        </p:nvSpPr>
        <p:spPr>
          <a:xfrm>
            <a:off x="7016750" y="4919861"/>
            <a:ext cx="41990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Nginx container, Vercel's CDN, AWS S3: the same dist/ folder.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5079504"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Build big, ship small</a:t>
            </a:r>
            <a:endParaRPr lang="en-US" sz="3600" dirty="0"/>
          </a:p>
        </p:txBody>
      </p:sp>
      <p:sp>
        <p:nvSpPr>
          <p:cNvPr id="3" name="Text 1"/>
          <p:cNvSpPr/>
          <p:nvPr/>
        </p:nvSpPr>
        <p:spPr>
          <a:xfrm>
            <a:off x="10430470" y="887710"/>
            <a:ext cx="942380" cy="353020"/>
          </a:xfrm>
          <a:prstGeom prst="roundRect">
            <a:avLst>
              <a:gd name="adj" fmla="val 50000"/>
            </a:avLst>
          </a:prstGeom>
          <a:noFill/>
          <a:ln w="12700">
            <a:solidFill>
              <a:srgbClr val="3BA4F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CASE 1</a:t>
            </a:r>
            <a:endParaRPr lang="en-US" sz="1200" dirty="0"/>
          </a:p>
        </p:txBody>
      </p:sp>
      <p:sp>
        <p:nvSpPr>
          <p:cNvPr id="4" name="Text 2"/>
          <p:cNvSpPr/>
          <p:nvPr/>
        </p:nvSpPr>
        <p:spPr>
          <a:xfrm>
            <a:off x="815975" y="1674465"/>
            <a:ext cx="5200650" cy="4367560"/>
          </a:xfrm>
          <a:prstGeom prst="roundRect">
            <a:avLst>
              <a:gd name="adj" fmla="val 3417"/>
            </a:avLst>
          </a:prstGeom>
          <a:solidFill>
            <a:srgbClr val="06080B"/>
          </a:solidFill>
          <a:ln w="6350">
            <a:solidFill>
              <a:srgbClr val="263041"/>
            </a:solidFill>
            <a:prstDash val="solid"/>
          </a:ln>
        </p:spPr>
        <p:txBody>
          <a:bodyPr wrap="square" lIns="213468" tIns="213468" rIns="72879" bIns="213468" rtlCol="0" anchor="t">
            <a:normAutofit/>
          </a:bodyPr>
          <a:lstStyle/>
          <a:p>
            <a:pPr algn="l" indent="0" marL="0">
              <a:lnSpc>
                <a:spcPts val="1800"/>
              </a:lnSpc>
              <a:buNone/>
            </a:pPr>
            <a:r>
              <a:rPr lang="en-US" sz="1200" dirty="0">
                <a:solidFill>
                  <a:srgbClr val="6B7689"/>
                </a:solidFill>
                <a:latin typeface="JetBrains Mono" pitchFamily="49" charset="0"/>
                <a:ea typeface="JetBrains Mono" pitchFamily="49" charset="-122"/>
                <a:cs typeface="JetBrains Mono" pitchFamily="49" charset="-120"/>
              </a:rPr>
              <a:t># Stage 1 — build</a:t>
            </a:r>
            <a:endParaRPr lang="en-US" sz="1200" dirty="0"/>
          </a:p>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FROM</a:t>
            </a:r>
            <a:r>
              <a:rPr lang="en-US" sz="1200" dirty="0">
                <a:solidFill>
                  <a:srgbClr val="E6EAF0"/>
                </a:solidFill>
                <a:latin typeface="JetBrains Mono" pitchFamily="49" charset="0"/>
                <a:ea typeface="JetBrains Mono" pitchFamily="49" charset="-122"/>
                <a:cs typeface="JetBrains Mono" pitchFamily="49" charset="-120"/>
              </a:rPr>
              <a:t> node:20-alpine AS build</a:t>
            </a:r>
            <a:endParaRPr lang="en-US" sz="1200" dirty="0"/>
          </a:p>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WORKDIR</a:t>
            </a:r>
            <a:r>
              <a:rPr lang="en-US" sz="1200" dirty="0">
                <a:solidFill>
                  <a:srgbClr val="E6EAF0"/>
                </a:solidFill>
                <a:latin typeface="JetBrains Mono" pitchFamily="49" charset="0"/>
                <a:ea typeface="JetBrains Mono" pitchFamily="49" charset="-122"/>
                <a:cs typeface="JetBrains Mono" pitchFamily="49" charset="-120"/>
              </a:rPr>
              <a:t> /app</a:t>
            </a:r>
            <a:endParaRPr lang="en-US" sz="1200" dirty="0"/>
          </a:p>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COPY</a:t>
            </a:r>
            <a:r>
              <a:rPr lang="en-US" sz="1200" dirty="0">
                <a:solidFill>
                  <a:srgbClr val="E6EAF0"/>
                </a:solidFill>
                <a:latin typeface="JetBrains Mono" pitchFamily="49" charset="0"/>
                <a:ea typeface="JetBrains Mono" pitchFamily="49" charset="-122"/>
                <a:cs typeface="JetBrains Mono" pitchFamily="49" charset="-120"/>
              </a:rPr>
              <a:t> package*.json ./</a:t>
            </a:r>
            <a:endParaRPr lang="en-US" sz="1200" dirty="0"/>
          </a:p>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RUN</a:t>
            </a:r>
            <a:r>
              <a:rPr lang="en-US" sz="1200" dirty="0">
                <a:solidFill>
                  <a:srgbClr val="E6EAF0"/>
                </a:solidFill>
                <a:latin typeface="JetBrains Mono" pitchFamily="49" charset="0"/>
                <a:ea typeface="JetBrains Mono" pitchFamily="49" charset="-122"/>
                <a:cs typeface="JetBrains Mono" pitchFamily="49" charset="-120"/>
              </a:rPr>
              <a:t> npm ci</a:t>
            </a:r>
            <a:endParaRPr lang="en-US" sz="1200" dirty="0"/>
          </a:p>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COPY</a:t>
            </a:r>
            <a:r>
              <a:rPr lang="en-US" sz="1200" dirty="0">
                <a:solidFill>
                  <a:srgbClr val="E6EAF0"/>
                </a:solidFill>
                <a:latin typeface="JetBrains Mono" pitchFamily="49" charset="0"/>
                <a:ea typeface="JetBrains Mono" pitchFamily="49" charset="-122"/>
                <a:cs typeface="JetBrains Mono" pitchFamily="49" charset="-120"/>
              </a:rPr>
              <a:t> . .</a:t>
            </a:r>
            <a:endParaRPr lang="en-US" sz="1200" dirty="0"/>
          </a:p>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RUN</a:t>
            </a:r>
            <a:r>
              <a:rPr lang="en-US" sz="1200" dirty="0">
                <a:solidFill>
                  <a:srgbClr val="E6EAF0"/>
                </a:solidFill>
                <a:latin typeface="JetBrains Mono" pitchFamily="49" charset="0"/>
                <a:ea typeface="JetBrains Mono" pitchFamily="49" charset="-122"/>
                <a:cs typeface="JetBrains Mono" pitchFamily="49" charset="-120"/>
              </a:rPr>
              <a:t> npm run build</a:t>
            </a:r>
            <a:endParaRPr lang="en-US" sz="1200" dirty="0"/>
          </a:p>
          <a:p>
            <a:pPr algn="l" indent="0" marL="0">
              <a:lnSpc>
                <a:spcPts val="1800"/>
              </a:lnSpc>
              <a:buNone/>
            </a:pPr>
            <a:endParaRPr lang="en-US" sz="1200" dirty="0"/>
          </a:p>
          <a:p>
            <a:pPr algn="l" indent="0" marL="0">
              <a:lnSpc>
                <a:spcPts val="1800"/>
              </a:lnSpc>
              <a:buNone/>
            </a:pPr>
            <a:r>
              <a:rPr lang="en-US" sz="1200" dirty="0">
                <a:solidFill>
                  <a:srgbClr val="6B7689"/>
                </a:solidFill>
                <a:latin typeface="JetBrains Mono" pitchFamily="49" charset="0"/>
                <a:ea typeface="JetBrains Mono" pitchFamily="49" charset="-122"/>
                <a:cs typeface="JetBrains Mono" pitchFamily="49" charset="-120"/>
              </a:rPr>
              <a:t># Stage 2 — serve</a:t>
            </a:r>
            <a:endParaRPr lang="en-US" sz="1200" dirty="0"/>
          </a:p>
          <a:p>
            <a:pPr algn="l" indent="0" marL="0">
              <a:lnSpc>
                <a:spcPts val="1800"/>
              </a:lnSpc>
              <a:buNone/>
            </a:pPr>
            <a:r>
              <a:rPr lang="en-US" sz="1200" dirty="0">
                <a:solidFill>
                  <a:srgbClr val="FF9F45"/>
                </a:solidFill>
                <a:latin typeface="JetBrains Mono" pitchFamily="49" charset="0"/>
                <a:ea typeface="JetBrains Mono" pitchFamily="49" charset="-122"/>
                <a:cs typeface="JetBrains Mono" pitchFamily="49" charset="-120"/>
              </a:rPr>
              <a:t>FROM</a:t>
            </a:r>
            <a:r>
              <a:rPr lang="en-US" sz="1200" dirty="0">
                <a:solidFill>
                  <a:srgbClr val="E6EAF0"/>
                </a:solidFill>
                <a:latin typeface="JetBrains Mono" pitchFamily="49" charset="0"/>
                <a:ea typeface="JetBrains Mono" pitchFamily="49" charset="-122"/>
                <a:cs typeface="JetBrains Mono" pitchFamily="49" charset="-120"/>
              </a:rPr>
              <a:t> nginx:alpine</a:t>
            </a:r>
            <a:endParaRPr lang="en-US" sz="1200" dirty="0"/>
          </a:p>
          <a:p>
            <a:pPr algn="l" indent="0" marL="0">
              <a:lnSpc>
                <a:spcPts val="1800"/>
              </a:lnSpc>
              <a:buNone/>
            </a:pPr>
            <a:r>
              <a:rPr lang="en-US" sz="1200" dirty="0">
                <a:solidFill>
                  <a:srgbClr val="FF9F45"/>
                </a:solidFill>
                <a:latin typeface="JetBrains Mono" pitchFamily="49" charset="0"/>
                <a:ea typeface="JetBrains Mono" pitchFamily="49" charset="-122"/>
                <a:cs typeface="JetBrains Mono" pitchFamily="49" charset="-120"/>
              </a:rPr>
              <a:t>COPY</a:t>
            </a:r>
            <a:r>
              <a:rPr lang="en-US" sz="1200" dirty="0">
                <a:solidFill>
                  <a:srgbClr val="E6EAF0"/>
                </a:solidFill>
                <a:latin typeface="JetBrains Mono" pitchFamily="49" charset="0"/>
                <a:ea typeface="JetBrains Mono" pitchFamily="49" charset="-122"/>
                <a:cs typeface="JetBrains Mono" pitchFamily="49" charset="-120"/>
              </a:rPr>
              <a:t> --from=build /app/dist /usr/share/nginx/html</a:t>
            </a:r>
            <a:endParaRPr lang="en-US" sz="1200" dirty="0"/>
          </a:p>
          <a:p>
            <a:pPr algn="l" indent="0" marL="0">
              <a:lnSpc>
                <a:spcPts val="1800"/>
              </a:lnSpc>
              <a:buNone/>
            </a:pPr>
            <a:r>
              <a:rPr lang="en-US" sz="1200" dirty="0">
                <a:solidFill>
                  <a:srgbClr val="FF9F45"/>
                </a:solidFill>
                <a:latin typeface="JetBrains Mono" pitchFamily="49" charset="0"/>
                <a:ea typeface="JetBrains Mono" pitchFamily="49" charset="-122"/>
                <a:cs typeface="JetBrains Mono" pitchFamily="49" charset="-120"/>
              </a:rPr>
              <a:t>COPY</a:t>
            </a:r>
            <a:r>
              <a:rPr lang="en-US" sz="1200" dirty="0">
                <a:solidFill>
                  <a:srgbClr val="E6EAF0"/>
                </a:solidFill>
                <a:latin typeface="JetBrains Mono" pitchFamily="49" charset="0"/>
                <a:ea typeface="JetBrains Mono" pitchFamily="49" charset="-122"/>
                <a:cs typeface="JetBrains Mono" pitchFamily="49" charset="-120"/>
              </a:rPr>
              <a:t> nginx.conf /etc/nginx/conf.d/default.conf</a:t>
            </a:r>
            <a:endParaRPr lang="en-US" sz="1200" dirty="0"/>
          </a:p>
          <a:p>
            <a:pPr algn="l" indent="0" marL="0">
              <a:lnSpc>
                <a:spcPts val="1800"/>
              </a:lnSpc>
              <a:buNone/>
            </a:pPr>
            <a:r>
              <a:rPr lang="en-US" sz="1200" dirty="0">
                <a:solidFill>
                  <a:srgbClr val="FF9F45"/>
                </a:solidFill>
                <a:latin typeface="JetBrains Mono" pitchFamily="49" charset="0"/>
                <a:ea typeface="JetBrains Mono" pitchFamily="49" charset="-122"/>
                <a:cs typeface="JetBrains Mono" pitchFamily="49" charset="-120"/>
              </a:rPr>
              <a:t>EXPOSE</a:t>
            </a:r>
            <a:r>
              <a:rPr lang="en-US" sz="1200" dirty="0">
                <a:solidFill>
                  <a:srgbClr val="E6EAF0"/>
                </a:solidFill>
                <a:latin typeface="JetBrains Mono" pitchFamily="49" charset="0"/>
                <a:ea typeface="JetBrains Mono" pitchFamily="49" charset="-122"/>
                <a:cs typeface="JetBrains Mono" pitchFamily="49" charset="-120"/>
              </a:rPr>
              <a:t> 80</a:t>
            </a:r>
            <a:endParaRPr lang="en-US" sz="1200" dirty="0"/>
          </a:p>
        </p:txBody>
      </p:sp>
      <p:sp>
        <p:nvSpPr>
          <p:cNvPr id="5" name="Text 3"/>
          <p:cNvSpPr/>
          <p:nvPr/>
        </p:nvSpPr>
        <p:spPr>
          <a:xfrm>
            <a:off x="6324600" y="1671290"/>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Single stage: node + source</a:t>
            </a:r>
            <a:endParaRPr lang="en-US" sz="1400" dirty="0"/>
          </a:p>
        </p:txBody>
      </p:sp>
      <p:sp>
        <p:nvSpPr>
          <p:cNvPr id="6" name="Shape 4"/>
          <p:cNvSpPr/>
          <p:nvPr/>
        </p:nvSpPr>
        <p:spPr>
          <a:xfrm>
            <a:off x="6324600" y="2072580"/>
            <a:ext cx="4127500" cy="330200"/>
          </a:xfrm>
          <a:prstGeom prst="roundRect">
            <a:avLst>
              <a:gd name="adj" fmla="val 19231"/>
            </a:avLst>
          </a:prstGeom>
          <a:solidFill>
            <a:srgbClr val="FF9F45"/>
          </a:solidFill>
          <a:ln/>
        </p:spPr>
      </p:sp>
      <p:sp>
        <p:nvSpPr>
          <p:cNvPr id="7" name="Text 5"/>
          <p:cNvSpPr/>
          <p:nvPr/>
        </p:nvSpPr>
        <p:spPr>
          <a:xfrm>
            <a:off x="10553700" y="2113211"/>
            <a:ext cx="876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JetBrains Mono" pitchFamily="49" charset="0"/>
                <a:ea typeface="JetBrains Mono" pitchFamily="49" charset="-122"/>
                <a:cs typeface="JetBrains Mono" pitchFamily="49" charset="-120"/>
              </a:rPr>
              <a:t>~1 GB</a:t>
            </a:r>
            <a:endParaRPr lang="en-US" sz="1400" dirty="0"/>
          </a:p>
        </p:txBody>
      </p:sp>
      <p:sp>
        <p:nvSpPr>
          <p:cNvPr id="8" name="Text 6"/>
          <p:cNvSpPr/>
          <p:nvPr/>
        </p:nvSpPr>
        <p:spPr>
          <a:xfrm>
            <a:off x="6324600" y="2555180"/>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Multi-stage: nginx + dist/</a:t>
            </a:r>
            <a:endParaRPr lang="en-US" sz="1400" dirty="0"/>
          </a:p>
        </p:txBody>
      </p:sp>
      <p:sp>
        <p:nvSpPr>
          <p:cNvPr id="9" name="Shape 7"/>
          <p:cNvSpPr/>
          <p:nvPr/>
        </p:nvSpPr>
        <p:spPr>
          <a:xfrm>
            <a:off x="6324600" y="2956471"/>
            <a:ext cx="279400" cy="330200"/>
          </a:xfrm>
          <a:prstGeom prst="roundRect">
            <a:avLst>
              <a:gd name="adj" fmla="val 22727"/>
            </a:avLst>
          </a:prstGeom>
          <a:solidFill>
            <a:srgbClr val="3BA4F5"/>
          </a:solidFill>
          <a:ln/>
        </p:spPr>
      </p:sp>
      <p:sp>
        <p:nvSpPr>
          <p:cNvPr id="10" name="Text 8"/>
          <p:cNvSpPr/>
          <p:nvPr/>
        </p:nvSpPr>
        <p:spPr>
          <a:xfrm>
            <a:off x="6705600" y="2997101"/>
            <a:ext cx="76813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A4F5"/>
                </a:solidFill>
                <a:latin typeface="JetBrains Mono" pitchFamily="49" charset="0"/>
                <a:ea typeface="JetBrains Mono" pitchFamily="49" charset="-122"/>
                <a:cs typeface="JetBrains Mono" pitchFamily="49" charset="-120"/>
              </a:rPr>
              <a:t>~50 MB</a:t>
            </a:r>
            <a:endParaRPr lang="en-US" sz="1400" dirty="0"/>
          </a:p>
        </p:txBody>
      </p:sp>
      <p:sp>
        <p:nvSpPr>
          <p:cNvPr id="11" name="Shape 9"/>
          <p:cNvSpPr/>
          <p:nvPr/>
        </p:nvSpPr>
        <p:spPr>
          <a:xfrm>
            <a:off x="6327775" y="4133354"/>
            <a:ext cx="5048250" cy="874961"/>
          </a:xfrm>
          <a:prstGeom prst="roundRect">
            <a:avLst>
              <a:gd name="adj" fmla="val 11249"/>
            </a:avLst>
          </a:prstGeom>
          <a:solidFill>
            <a:srgbClr val="141922"/>
          </a:solidFill>
          <a:ln w="6350">
            <a:solidFill>
              <a:srgbClr val="263041"/>
            </a:solidFill>
            <a:prstDash val="solid"/>
          </a:ln>
        </p:spPr>
      </p:sp>
      <p:pic>
        <p:nvPicPr>
          <p:cNvPr id="12" name="Image 0" descr="Warning">    </p:cNvPr>
          <p:cNvPicPr>
            <a:picLocks noChangeAspect="1"/>
          </p:cNvPicPr>
          <p:nvPr/>
        </p:nvPicPr>
        <p:blipFill>
          <a:blip r:embed="rId1"/>
          <a:srcRect l="0" r="0" t="0" b="0"/>
          <a:stretch/>
        </p:blipFill>
        <p:spPr>
          <a:xfrm>
            <a:off x="6508750" y="4314329"/>
            <a:ext cx="254000" cy="254000"/>
          </a:xfrm>
          <a:prstGeom prst="rect">
            <a:avLst/>
          </a:prstGeom>
        </p:spPr>
      </p:pic>
      <p:sp>
        <p:nvSpPr>
          <p:cNvPr id="13" name="Text 10"/>
          <p:cNvSpPr/>
          <p:nvPr/>
        </p:nvSpPr>
        <p:spPr>
          <a:xfrm>
            <a:off x="6889750" y="4314329"/>
            <a:ext cx="4434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Refresh /about → 404</a:t>
            </a:r>
            <a:endParaRPr lang="en-US" sz="1400" dirty="0"/>
          </a:p>
        </p:txBody>
      </p:sp>
      <p:sp>
        <p:nvSpPr>
          <p:cNvPr id="14" name="Text 11"/>
          <p:cNvSpPr/>
          <p:nvPr/>
        </p:nvSpPr>
        <p:spPr>
          <a:xfrm>
            <a:off x="6889750" y="4614019"/>
            <a:ext cx="4434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fix: try_files $uri /index.html</a:t>
            </a:r>
            <a:endParaRPr lang="en-US" sz="1200" dirty="0"/>
          </a:p>
        </p:txBody>
      </p:sp>
      <p:sp>
        <p:nvSpPr>
          <p:cNvPr id="15" name="Shape 12"/>
          <p:cNvSpPr/>
          <p:nvPr/>
        </p:nvSpPr>
        <p:spPr>
          <a:xfrm>
            <a:off x="6327775" y="5167064"/>
            <a:ext cx="5048250" cy="874961"/>
          </a:xfrm>
          <a:prstGeom prst="roundRect">
            <a:avLst>
              <a:gd name="adj" fmla="val 11249"/>
            </a:avLst>
          </a:prstGeom>
          <a:solidFill>
            <a:srgbClr val="141922"/>
          </a:solidFill>
          <a:ln w="6350">
            <a:solidFill>
              <a:srgbClr val="263041"/>
            </a:solidFill>
            <a:prstDash val="solid"/>
          </a:ln>
        </p:spPr>
      </p:sp>
      <p:pic>
        <p:nvPicPr>
          <p:cNvPr id="16" name="Image 1" descr="Warning">    </p:cNvPr>
          <p:cNvPicPr>
            <a:picLocks noChangeAspect="1"/>
          </p:cNvPicPr>
          <p:nvPr/>
        </p:nvPicPr>
        <p:blipFill>
          <a:blip r:embed="rId2"/>
          <a:srcRect l="0" r="0" t="0" b="0"/>
          <a:stretch/>
        </p:blipFill>
        <p:spPr>
          <a:xfrm>
            <a:off x="6508750" y="5348039"/>
            <a:ext cx="254000" cy="254000"/>
          </a:xfrm>
          <a:prstGeom prst="rect">
            <a:avLst/>
          </a:prstGeom>
        </p:spPr>
      </p:pic>
      <p:sp>
        <p:nvSpPr>
          <p:cNvPr id="17" name="Text 13"/>
          <p:cNvSpPr/>
          <p:nvPr/>
        </p:nvSpPr>
        <p:spPr>
          <a:xfrm>
            <a:off x="6889750" y="5348039"/>
            <a:ext cx="4434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VITE_ vars are baked at build time</a:t>
            </a:r>
            <a:endParaRPr lang="en-US" sz="1400" dirty="0"/>
          </a:p>
        </p:txBody>
      </p:sp>
      <p:sp>
        <p:nvSpPr>
          <p:cNvPr id="18" name="Text 14"/>
          <p:cNvSpPr/>
          <p:nvPr/>
        </p:nvSpPr>
        <p:spPr>
          <a:xfrm>
            <a:off x="6889750" y="5647730"/>
            <a:ext cx="4434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Change the API URL → rebuild the image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7732693"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Two containers that must talk</a:t>
            </a:r>
            <a:endParaRPr lang="en-US" sz="3600" dirty="0"/>
          </a:p>
        </p:txBody>
      </p:sp>
      <p:sp>
        <p:nvSpPr>
          <p:cNvPr id="3" name="Text 1"/>
          <p:cNvSpPr/>
          <p:nvPr/>
        </p:nvSpPr>
        <p:spPr>
          <a:xfrm>
            <a:off x="10430470" y="887710"/>
            <a:ext cx="942380" cy="353020"/>
          </a:xfrm>
          <a:prstGeom prst="roundRect">
            <a:avLst>
              <a:gd name="adj" fmla="val 50000"/>
            </a:avLst>
          </a:prstGeom>
          <a:noFill/>
          <a:ln w="12700">
            <a:solidFill>
              <a:srgbClr val="3BA4F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CASE 2</a:t>
            </a:r>
            <a:endParaRPr lang="en-US" sz="1200" dirty="0"/>
          </a:p>
        </p:txBody>
      </p:sp>
      <p:sp>
        <p:nvSpPr>
          <p:cNvPr id="4" name="Shape 2"/>
          <p:cNvSpPr/>
          <p:nvPr/>
        </p:nvSpPr>
        <p:spPr>
          <a:xfrm>
            <a:off x="815975" y="1985615"/>
            <a:ext cx="1390650" cy="1250900"/>
          </a:xfrm>
          <a:prstGeom prst="roundRect">
            <a:avLst>
              <a:gd name="adj" fmla="val 11929"/>
            </a:avLst>
          </a:prstGeom>
          <a:solidFill>
            <a:srgbClr val="141922"/>
          </a:solidFill>
          <a:ln w="6350">
            <a:solidFill>
              <a:srgbClr val="263041"/>
            </a:solidFill>
            <a:prstDash val="solid"/>
          </a:ln>
        </p:spPr>
      </p:sp>
      <p:pic>
        <p:nvPicPr>
          <p:cNvPr id="5" name="Image 0" descr="Globe">    </p:cNvPr>
          <p:cNvPicPr>
            <a:picLocks noChangeAspect="1"/>
          </p:cNvPicPr>
          <p:nvPr/>
        </p:nvPicPr>
        <p:blipFill>
          <a:blip r:embed="rId1"/>
          <a:srcRect l="0" r="0" t="0" b="0"/>
          <a:stretch/>
        </p:blipFill>
        <p:spPr>
          <a:xfrm>
            <a:off x="996950" y="2166590"/>
            <a:ext cx="279400" cy="279400"/>
          </a:xfrm>
          <a:prstGeom prst="rect">
            <a:avLst/>
          </a:prstGeom>
        </p:spPr>
      </p:pic>
      <p:sp>
        <p:nvSpPr>
          <p:cNvPr id="6" name="Text 3"/>
          <p:cNvSpPr/>
          <p:nvPr/>
        </p:nvSpPr>
        <p:spPr>
          <a:xfrm>
            <a:off x="996950" y="2522190"/>
            <a:ext cx="10795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Browser</a:t>
            </a:r>
            <a:endParaRPr lang="en-US" sz="1600" dirty="0"/>
          </a:p>
        </p:txBody>
      </p:sp>
      <p:sp>
        <p:nvSpPr>
          <p:cNvPr id="7" name="Text 4"/>
          <p:cNvSpPr/>
          <p:nvPr/>
        </p:nvSpPr>
        <p:spPr>
          <a:xfrm>
            <a:off x="996950" y="2842220"/>
            <a:ext cx="1079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shop.com</a:t>
            </a:r>
            <a:endParaRPr lang="en-US" sz="1200" dirty="0"/>
          </a:p>
        </p:txBody>
      </p:sp>
      <p:pic>
        <p:nvPicPr>
          <p:cNvPr id="8" name="Image 1" descr="arrow-right">    </p:cNvPr>
          <p:cNvPicPr>
            <a:picLocks noChangeAspect="1"/>
          </p:cNvPicPr>
          <p:nvPr/>
        </p:nvPicPr>
        <p:blipFill>
          <a:blip r:embed="rId2"/>
          <a:srcRect l="0" r="0" t="0" b="0"/>
          <a:stretch/>
        </p:blipFill>
        <p:spPr>
          <a:xfrm>
            <a:off x="2336800" y="2509441"/>
            <a:ext cx="406400" cy="203200"/>
          </a:xfrm>
          <a:prstGeom prst="rect">
            <a:avLst/>
          </a:prstGeom>
        </p:spPr>
      </p:pic>
      <p:sp>
        <p:nvSpPr>
          <p:cNvPr id="9" name="Shape 5"/>
          <p:cNvSpPr/>
          <p:nvPr/>
        </p:nvSpPr>
        <p:spPr>
          <a:xfrm>
            <a:off x="2876550" y="1677640"/>
            <a:ext cx="8496300" cy="1866850"/>
          </a:xfrm>
          <a:prstGeom prst="roundRect">
            <a:avLst>
              <a:gd name="adj" fmla="val 9184"/>
            </a:avLst>
          </a:prstGeom>
          <a:solidFill>
            <a:srgbClr val="0D1520"/>
          </a:solidFill>
          <a:ln w="12700">
            <a:solidFill>
              <a:srgbClr val="3BA4F5"/>
            </a:solidFill>
            <a:prstDash val="dash"/>
          </a:ln>
        </p:spPr>
      </p:sp>
      <p:sp>
        <p:nvSpPr>
          <p:cNvPr id="10" name="Text 6"/>
          <p:cNvSpPr/>
          <p:nvPr/>
        </p:nvSpPr>
        <p:spPr>
          <a:xfrm>
            <a:off x="3086100" y="1861790"/>
            <a:ext cx="83195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A4F5"/>
                </a:solidFill>
                <a:latin typeface="JetBrains Mono" pitchFamily="49" charset="0"/>
                <a:ea typeface="JetBrains Mono" pitchFamily="49" charset="-122"/>
                <a:cs typeface="JetBrains Mono" pitchFamily="49" charset="-120"/>
              </a:rPr>
              <a:t>docker network · shop-net</a:t>
            </a:r>
            <a:endParaRPr lang="en-US" sz="1200" dirty="0"/>
          </a:p>
        </p:txBody>
      </p:sp>
      <p:sp>
        <p:nvSpPr>
          <p:cNvPr id="11" name="Shape 7"/>
          <p:cNvSpPr/>
          <p:nvPr/>
        </p:nvSpPr>
        <p:spPr>
          <a:xfrm>
            <a:off x="3092450" y="2208461"/>
            <a:ext cx="3422650" cy="1145530"/>
          </a:xfrm>
          <a:prstGeom prst="roundRect">
            <a:avLst>
              <a:gd name="adj" fmla="val 10532"/>
            </a:avLst>
          </a:prstGeom>
          <a:solidFill>
            <a:srgbClr val="141922"/>
          </a:solidFill>
          <a:ln w="12700">
            <a:solidFill>
              <a:srgbClr val="3BA4F5"/>
            </a:solidFill>
            <a:prstDash val="solid"/>
          </a:ln>
        </p:spPr>
      </p:sp>
      <p:sp>
        <p:nvSpPr>
          <p:cNvPr id="12" name="Text 8"/>
          <p:cNvSpPr/>
          <p:nvPr/>
        </p:nvSpPr>
        <p:spPr>
          <a:xfrm>
            <a:off x="3276600" y="2392611"/>
            <a:ext cx="31459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frontend</a:t>
            </a:r>
            <a:endParaRPr lang="en-US" sz="1600" dirty="0"/>
          </a:p>
        </p:txBody>
      </p:sp>
      <p:sp>
        <p:nvSpPr>
          <p:cNvPr id="13" name="Text 9"/>
          <p:cNvSpPr/>
          <p:nvPr/>
        </p:nvSpPr>
        <p:spPr>
          <a:xfrm>
            <a:off x="3276600" y="2712641"/>
            <a:ext cx="314598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3C2"/>
                </a:solidFill>
                <a:latin typeface="JetBrains Mono" pitchFamily="49" charset="0"/>
                <a:ea typeface="JetBrains Mono" pitchFamily="49" charset="-122"/>
                <a:cs typeface="JetBrains Mono" pitchFamily="49" charset="-120"/>
              </a:rPr>
              <a:t>Nginx :80</a:t>
            </a:r>
            <a:endParaRPr lang="en-US" sz="1200" dirty="0"/>
          </a:p>
          <a:p>
            <a:pPr algn="l" indent="0" marL="0">
              <a:lnSpc>
                <a:spcPts val="1800"/>
              </a:lnSpc>
              <a:buNone/>
            </a:pPr>
            <a:r>
              <a:rPr lang="en-US" sz="1200" dirty="0">
                <a:solidFill>
                  <a:srgbClr val="A9B3C2"/>
                </a:solidFill>
                <a:latin typeface="JetBrains Mono" pitchFamily="49" charset="0"/>
                <a:ea typeface="JetBrains Mono" pitchFamily="49" charset="-122"/>
                <a:cs typeface="JetBrains Mono" pitchFamily="49" charset="-120"/>
              </a:rPr>
              <a:t>React dist/</a:t>
            </a:r>
            <a:endParaRPr lang="en-US" sz="1200" dirty="0"/>
          </a:p>
        </p:txBody>
      </p:sp>
      <p:pic>
        <p:nvPicPr>
          <p:cNvPr id="14" name="Image 2" descr="arrow-right">    </p:cNvPr>
          <p:cNvPicPr>
            <a:picLocks noChangeAspect="1"/>
          </p:cNvPicPr>
          <p:nvPr/>
        </p:nvPicPr>
        <p:blipFill>
          <a:blip r:embed="rId3"/>
          <a:srcRect l="0" r="0" t="0" b="0"/>
          <a:stretch/>
        </p:blipFill>
        <p:spPr>
          <a:xfrm>
            <a:off x="6870700" y="2515791"/>
            <a:ext cx="508000" cy="254000"/>
          </a:xfrm>
          <a:prstGeom prst="rect">
            <a:avLst/>
          </a:prstGeom>
        </p:spPr>
      </p:pic>
      <p:sp>
        <p:nvSpPr>
          <p:cNvPr id="15" name="Text 10"/>
          <p:cNvSpPr/>
          <p:nvPr/>
        </p:nvSpPr>
        <p:spPr>
          <a:xfrm>
            <a:off x="6795492" y="2833291"/>
            <a:ext cx="65841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/api/*</a:t>
            </a:r>
            <a:endParaRPr lang="en-US" sz="1200" dirty="0"/>
          </a:p>
        </p:txBody>
      </p:sp>
      <p:sp>
        <p:nvSpPr>
          <p:cNvPr id="16" name="Shape 11"/>
          <p:cNvSpPr/>
          <p:nvPr/>
        </p:nvSpPr>
        <p:spPr>
          <a:xfrm>
            <a:off x="7734300" y="2208461"/>
            <a:ext cx="3422650" cy="1145530"/>
          </a:xfrm>
          <a:prstGeom prst="roundRect">
            <a:avLst>
              <a:gd name="adj" fmla="val 10532"/>
            </a:avLst>
          </a:prstGeom>
          <a:solidFill>
            <a:srgbClr val="141922"/>
          </a:solidFill>
          <a:ln w="12700">
            <a:solidFill>
              <a:srgbClr val="FF9F45"/>
            </a:solidFill>
            <a:prstDash val="solid"/>
          </a:ln>
        </p:spPr>
      </p:sp>
      <p:sp>
        <p:nvSpPr>
          <p:cNvPr id="17" name="Text 12"/>
          <p:cNvSpPr/>
          <p:nvPr/>
        </p:nvSpPr>
        <p:spPr>
          <a:xfrm>
            <a:off x="7918450" y="2392611"/>
            <a:ext cx="31459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backend</a:t>
            </a:r>
            <a:endParaRPr lang="en-US" sz="1600" dirty="0"/>
          </a:p>
        </p:txBody>
      </p:sp>
      <p:sp>
        <p:nvSpPr>
          <p:cNvPr id="18" name="Text 13"/>
          <p:cNvSpPr/>
          <p:nvPr/>
        </p:nvSpPr>
        <p:spPr>
          <a:xfrm>
            <a:off x="7918450" y="2712641"/>
            <a:ext cx="314598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9B3C2"/>
                </a:solidFill>
                <a:latin typeface="JetBrains Mono" pitchFamily="49" charset="0"/>
                <a:ea typeface="JetBrains Mono" pitchFamily="49" charset="-122"/>
                <a:cs typeface="JetBrains Mono" pitchFamily="49" charset="-120"/>
              </a:rPr>
              <a:t>Express :5000</a:t>
            </a:r>
            <a:endParaRPr lang="en-US" sz="1200" dirty="0"/>
          </a:p>
          <a:p>
            <a:pPr algn="l" indent="0" marL="0">
              <a:lnSpc>
                <a:spcPts val="1800"/>
              </a:lnSpc>
              <a:buNone/>
            </a:pPr>
            <a:r>
              <a:rPr lang="en-US" sz="1200" dirty="0">
                <a:solidFill>
                  <a:srgbClr val="A9B3C2"/>
                </a:solidFill>
                <a:latin typeface="JetBrains Mono" pitchFamily="49" charset="0"/>
                <a:ea typeface="JetBrains Mono" pitchFamily="49" charset="-122"/>
                <a:cs typeface="JetBrains Mono" pitchFamily="49" charset="-120"/>
              </a:rPr>
              <a:t>REST API</a:t>
            </a:r>
            <a:endParaRPr lang="en-US" sz="1200" dirty="0"/>
          </a:p>
        </p:txBody>
      </p:sp>
      <p:sp>
        <p:nvSpPr>
          <p:cNvPr id="19" name="Shape 14"/>
          <p:cNvSpPr/>
          <p:nvPr/>
        </p:nvSpPr>
        <p:spPr>
          <a:xfrm>
            <a:off x="815975" y="3909616"/>
            <a:ext cx="5175250" cy="2132409"/>
          </a:xfrm>
          <a:prstGeom prst="roundRect">
            <a:avLst>
              <a:gd name="adj" fmla="val 5807"/>
            </a:avLst>
          </a:prstGeom>
          <a:solidFill>
            <a:srgbClr val="141922"/>
          </a:solidFill>
          <a:ln w="6350">
            <a:solidFill>
              <a:srgbClr val="263041"/>
            </a:solidFill>
            <a:prstDash val="solid"/>
          </a:ln>
        </p:spPr>
      </p:sp>
      <p:sp>
        <p:nvSpPr>
          <p:cNvPr id="20" name="Text 15"/>
          <p:cNvSpPr/>
          <p:nvPr/>
        </p:nvSpPr>
        <p:spPr>
          <a:xfrm>
            <a:off x="1047750" y="4141391"/>
            <a:ext cx="48530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The localhost trap</a:t>
            </a:r>
            <a:endParaRPr lang="en-US" sz="1600" dirty="0"/>
          </a:p>
        </p:txBody>
      </p:sp>
      <p:sp>
        <p:nvSpPr>
          <p:cNvPr id="21" name="Text 16"/>
          <p:cNvSpPr/>
          <p:nvPr/>
        </p:nvSpPr>
        <p:spPr>
          <a:xfrm>
            <a:off x="1047750" y="4486821"/>
            <a:ext cx="485305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Inside a container, localhost means that container itself.</a:t>
            </a:r>
            <a:endParaRPr lang="en-US" sz="1400" dirty="0"/>
          </a:p>
        </p:txBody>
      </p:sp>
      <p:sp>
        <p:nvSpPr>
          <p:cNvPr id="22" name="Text 17"/>
          <p:cNvSpPr/>
          <p:nvPr/>
        </p:nvSpPr>
        <p:spPr>
          <a:xfrm>
            <a:off x="1047750" y="4837311"/>
            <a:ext cx="4853051" cy="51306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F8A8A"/>
                </a:solidFill>
                <a:latin typeface="JetBrains Mono" pitchFamily="49" charset="0"/>
                <a:ea typeface="JetBrains Mono" pitchFamily="49" charset="-122"/>
                <a:cs typeface="JetBrains Mono" pitchFamily="49" charset="-120"/>
              </a:rPr>
              <a:t>Wrong</a:t>
            </a:r>
            <a:r>
              <a:rPr lang="en-US" sz="1200" dirty="0">
                <a:solidFill>
                  <a:srgbClr val="F3F5F8"/>
                </a:solidFill>
                <a:latin typeface="JetBrains Mono" pitchFamily="49" charset="0"/>
                <a:ea typeface="JetBrains Mono" pitchFamily="49" charset="-122"/>
                <a:cs typeface="JetBrains Mono" pitchFamily="49" charset="-120"/>
              </a:rPr>
              <a:t> http://localhost:5000</a:t>
            </a:r>
            <a:endParaRPr lang="en-US" sz="1200" dirty="0"/>
          </a:p>
          <a:p>
            <a:pPr algn="l" indent="0" marL="0">
              <a:lnSpc>
                <a:spcPts val="1920"/>
              </a:lnSpc>
              <a:buNone/>
            </a:pPr>
            <a:r>
              <a:rPr lang="en-US" sz="1200" dirty="0">
                <a:solidFill>
                  <a:srgbClr val="8EE0AE"/>
                </a:solidFill>
                <a:latin typeface="JetBrains Mono" pitchFamily="49" charset="0"/>
                <a:ea typeface="JetBrains Mono" pitchFamily="49" charset="-122"/>
                <a:cs typeface="JetBrains Mono" pitchFamily="49" charset="-120"/>
              </a:rPr>
              <a:t>Right</a:t>
            </a:r>
            <a:r>
              <a:rPr lang="en-US" sz="1200" dirty="0">
                <a:solidFill>
                  <a:srgbClr val="F3F5F8"/>
                </a:solidFill>
                <a:latin typeface="JetBrains Mono" pitchFamily="49" charset="0"/>
                <a:ea typeface="JetBrains Mono" pitchFamily="49" charset="-122"/>
                <a:cs typeface="JetBrains Mono" pitchFamily="49" charset="-120"/>
              </a:rPr>
              <a:t> http://backend:5000</a:t>
            </a:r>
            <a:endParaRPr lang="en-US" sz="1200" dirty="0"/>
          </a:p>
        </p:txBody>
      </p:sp>
      <p:sp>
        <p:nvSpPr>
          <p:cNvPr id="23" name="Shape 18"/>
          <p:cNvSpPr/>
          <p:nvPr/>
        </p:nvSpPr>
        <p:spPr>
          <a:xfrm>
            <a:off x="6200775" y="3909616"/>
            <a:ext cx="5175250" cy="2132409"/>
          </a:xfrm>
          <a:prstGeom prst="roundRect">
            <a:avLst>
              <a:gd name="adj" fmla="val 5807"/>
            </a:avLst>
          </a:prstGeom>
          <a:solidFill>
            <a:srgbClr val="141922"/>
          </a:solidFill>
          <a:ln w="6350">
            <a:solidFill>
              <a:srgbClr val="263041"/>
            </a:solidFill>
            <a:prstDash val="solid"/>
          </a:ln>
        </p:spPr>
      </p:sp>
      <p:sp>
        <p:nvSpPr>
          <p:cNvPr id="24" name="Text 19"/>
          <p:cNvSpPr/>
          <p:nvPr/>
        </p:nvSpPr>
        <p:spPr>
          <a:xfrm>
            <a:off x="6432550" y="4141391"/>
            <a:ext cx="48530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Why a reverse proxy?</a:t>
            </a:r>
            <a:endParaRPr lang="en-US" sz="1600" dirty="0"/>
          </a:p>
        </p:txBody>
      </p:sp>
      <p:sp>
        <p:nvSpPr>
          <p:cNvPr id="25" name="Text 20"/>
          <p:cNvSpPr/>
          <p:nvPr/>
        </p:nvSpPr>
        <p:spPr>
          <a:xfrm>
            <a:off x="6432550" y="448682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The browser calls /api on the same origin. Nginx forwards it to backend. No CORS setup needed.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7592199"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Three containers, one volume</a:t>
            </a:r>
            <a:endParaRPr lang="en-US" sz="3600" dirty="0"/>
          </a:p>
        </p:txBody>
      </p:sp>
      <p:sp>
        <p:nvSpPr>
          <p:cNvPr id="3" name="Text 1"/>
          <p:cNvSpPr/>
          <p:nvPr/>
        </p:nvSpPr>
        <p:spPr>
          <a:xfrm>
            <a:off x="10430470" y="887710"/>
            <a:ext cx="942380" cy="353020"/>
          </a:xfrm>
          <a:prstGeom prst="roundRect">
            <a:avLst>
              <a:gd name="adj" fmla="val 50000"/>
            </a:avLst>
          </a:prstGeom>
          <a:noFill/>
          <a:ln w="12700">
            <a:solidFill>
              <a:srgbClr val="3BA4F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CASE 3</a:t>
            </a:r>
            <a:endParaRPr lang="en-US" sz="1200" dirty="0"/>
          </a:p>
        </p:txBody>
      </p:sp>
      <p:sp>
        <p:nvSpPr>
          <p:cNvPr id="4" name="Shape 2"/>
          <p:cNvSpPr/>
          <p:nvPr/>
        </p:nvSpPr>
        <p:spPr>
          <a:xfrm>
            <a:off x="815975" y="1976686"/>
            <a:ext cx="1263650" cy="961380"/>
          </a:xfrm>
          <a:prstGeom prst="roundRect">
            <a:avLst>
              <a:gd name="adj" fmla="val 15522"/>
            </a:avLst>
          </a:prstGeom>
          <a:solidFill>
            <a:srgbClr val="141922"/>
          </a:solidFill>
          <a:ln w="6350">
            <a:solidFill>
              <a:srgbClr val="263041"/>
            </a:solidFill>
            <a:prstDash val="solid"/>
          </a:ln>
        </p:spPr>
      </p:sp>
      <p:pic>
        <p:nvPicPr>
          <p:cNvPr id="5" name="Image 0" descr="Globe">    </p:cNvPr>
          <p:cNvPicPr>
            <a:picLocks noChangeAspect="1"/>
          </p:cNvPicPr>
          <p:nvPr/>
        </p:nvPicPr>
        <p:blipFill>
          <a:blip r:embed="rId1"/>
          <a:srcRect l="0" r="0" t="0" b="0"/>
          <a:stretch/>
        </p:blipFill>
        <p:spPr>
          <a:xfrm>
            <a:off x="996950" y="2157661"/>
            <a:ext cx="279400" cy="279400"/>
          </a:xfrm>
          <a:prstGeom prst="rect">
            <a:avLst/>
          </a:prstGeom>
        </p:spPr>
      </p:pic>
      <p:sp>
        <p:nvSpPr>
          <p:cNvPr id="6" name="Text 3"/>
          <p:cNvSpPr/>
          <p:nvPr/>
        </p:nvSpPr>
        <p:spPr>
          <a:xfrm>
            <a:off x="996950" y="2513261"/>
            <a:ext cx="9525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Browser</a:t>
            </a:r>
            <a:endParaRPr lang="en-US" sz="1600" dirty="0"/>
          </a:p>
        </p:txBody>
      </p:sp>
      <p:pic>
        <p:nvPicPr>
          <p:cNvPr id="7" name="Image 1" descr="arrow-right">    </p:cNvPr>
          <p:cNvPicPr>
            <a:picLocks noChangeAspect="1"/>
          </p:cNvPicPr>
          <p:nvPr/>
        </p:nvPicPr>
        <p:blipFill>
          <a:blip r:embed="rId2"/>
          <a:srcRect l="0" r="0" t="0" b="0"/>
          <a:stretch/>
        </p:blipFill>
        <p:spPr>
          <a:xfrm>
            <a:off x="2209800" y="2355751"/>
            <a:ext cx="406400" cy="203200"/>
          </a:xfrm>
          <a:prstGeom prst="rect">
            <a:avLst/>
          </a:prstGeom>
        </p:spPr>
      </p:pic>
      <p:sp>
        <p:nvSpPr>
          <p:cNvPr id="8" name="Shape 4"/>
          <p:cNvSpPr/>
          <p:nvPr/>
        </p:nvSpPr>
        <p:spPr>
          <a:xfrm>
            <a:off x="2749550" y="1677640"/>
            <a:ext cx="8623300" cy="1559471"/>
          </a:xfrm>
          <a:prstGeom prst="roundRect">
            <a:avLst>
              <a:gd name="adj" fmla="val 10994"/>
            </a:avLst>
          </a:prstGeom>
          <a:solidFill>
            <a:srgbClr val="0D1520"/>
          </a:solidFill>
          <a:ln w="12700">
            <a:solidFill>
              <a:srgbClr val="3BA4F5"/>
            </a:solidFill>
            <a:prstDash val="dash"/>
          </a:ln>
        </p:spPr>
      </p:sp>
      <p:sp>
        <p:nvSpPr>
          <p:cNvPr id="9" name="Text 5"/>
          <p:cNvSpPr/>
          <p:nvPr/>
        </p:nvSpPr>
        <p:spPr>
          <a:xfrm>
            <a:off x="2959100" y="1861790"/>
            <a:ext cx="84503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A4F5"/>
                </a:solidFill>
                <a:latin typeface="JetBrains Mono" pitchFamily="49" charset="0"/>
                <a:ea typeface="JetBrains Mono" pitchFamily="49" charset="-122"/>
                <a:cs typeface="JetBrains Mono" pitchFamily="49" charset="-120"/>
              </a:rPr>
              <a:t>docker network · shop-net</a:t>
            </a:r>
            <a:endParaRPr lang="en-US" sz="1200" dirty="0"/>
          </a:p>
        </p:txBody>
      </p:sp>
      <p:sp>
        <p:nvSpPr>
          <p:cNvPr id="10" name="Shape 6"/>
          <p:cNvSpPr/>
          <p:nvPr/>
        </p:nvSpPr>
        <p:spPr>
          <a:xfrm>
            <a:off x="2965450" y="2208461"/>
            <a:ext cx="2349500" cy="838150"/>
          </a:xfrm>
          <a:prstGeom prst="roundRect">
            <a:avLst>
              <a:gd name="adj" fmla="val 14395"/>
            </a:avLst>
          </a:prstGeom>
          <a:solidFill>
            <a:srgbClr val="141922"/>
          </a:solidFill>
          <a:ln w="12700">
            <a:solidFill>
              <a:srgbClr val="3BA4F5"/>
            </a:solidFill>
            <a:prstDash val="solid"/>
          </a:ln>
        </p:spPr>
      </p:sp>
      <p:sp>
        <p:nvSpPr>
          <p:cNvPr id="11" name="Text 7"/>
          <p:cNvSpPr/>
          <p:nvPr/>
        </p:nvSpPr>
        <p:spPr>
          <a:xfrm>
            <a:off x="3124200" y="2367211"/>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frontend</a:t>
            </a:r>
            <a:endParaRPr lang="en-US" sz="1600" dirty="0"/>
          </a:p>
        </p:txBody>
      </p:sp>
      <p:sp>
        <p:nvSpPr>
          <p:cNvPr id="12" name="Text 8"/>
          <p:cNvSpPr/>
          <p:nvPr/>
        </p:nvSpPr>
        <p:spPr>
          <a:xfrm>
            <a:off x="3124200" y="2674541"/>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Nginx :80</a:t>
            </a:r>
            <a:endParaRPr lang="en-US" sz="1200" dirty="0"/>
          </a:p>
        </p:txBody>
      </p:sp>
      <p:pic>
        <p:nvPicPr>
          <p:cNvPr id="13" name="Image 2" descr="arrow-right">    </p:cNvPr>
          <p:cNvPicPr>
            <a:picLocks noChangeAspect="1"/>
          </p:cNvPicPr>
          <p:nvPr/>
        </p:nvPicPr>
        <p:blipFill>
          <a:blip r:embed="rId3"/>
          <a:srcRect l="0" r="0" t="0" b="0"/>
          <a:stretch/>
        </p:blipFill>
        <p:spPr>
          <a:xfrm>
            <a:off x="5422900" y="2538611"/>
            <a:ext cx="355600" cy="177800"/>
          </a:xfrm>
          <a:prstGeom prst="rect">
            <a:avLst/>
          </a:prstGeom>
        </p:spPr>
      </p:pic>
      <p:sp>
        <p:nvSpPr>
          <p:cNvPr id="14" name="Shape 9"/>
          <p:cNvSpPr/>
          <p:nvPr/>
        </p:nvSpPr>
        <p:spPr>
          <a:xfrm>
            <a:off x="5886450" y="2208461"/>
            <a:ext cx="2349500" cy="838150"/>
          </a:xfrm>
          <a:prstGeom prst="roundRect">
            <a:avLst>
              <a:gd name="adj" fmla="val 14395"/>
            </a:avLst>
          </a:prstGeom>
          <a:solidFill>
            <a:srgbClr val="141922"/>
          </a:solidFill>
          <a:ln w="12700">
            <a:solidFill>
              <a:srgbClr val="FF9F45"/>
            </a:solidFill>
            <a:prstDash val="solid"/>
          </a:ln>
        </p:spPr>
      </p:sp>
      <p:sp>
        <p:nvSpPr>
          <p:cNvPr id="15" name="Text 10"/>
          <p:cNvSpPr/>
          <p:nvPr/>
        </p:nvSpPr>
        <p:spPr>
          <a:xfrm>
            <a:off x="6045200" y="2367211"/>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backend</a:t>
            </a:r>
            <a:endParaRPr lang="en-US" sz="1600" dirty="0"/>
          </a:p>
        </p:txBody>
      </p:sp>
      <p:sp>
        <p:nvSpPr>
          <p:cNvPr id="16" name="Text 11"/>
          <p:cNvSpPr/>
          <p:nvPr/>
        </p:nvSpPr>
        <p:spPr>
          <a:xfrm>
            <a:off x="6045200" y="2674541"/>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Express :5000</a:t>
            </a:r>
            <a:endParaRPr lang="en-US" sz="1200" dirty="0"/>
          </a:p>
        </p:txBody>
      </p:sp>
      <p:pic>
        <p:nvPicPr>
          <p:cNvPr id="17" name="Image 3" descr="arrow-right">    </p:cNvPr>
          <p:cNvPicPr>
            <a:picLocks noChangeAspect="1"/>
          </p:cNvPicPr>
          <p:nvPr/>
        </p:nvPicPr>
        <p:blipFill>
          <a:blip r:embed="rId4"/>
          <a:srcRect l="0" r="0" t="0" b="0"/>
          <a:stretch/>
        </p:blipFill>
        <p:spPr>
          <a:xfrm>
            <a:off x="8343900" y="2538611"/>
            <a:ext cx="355600" cy="177800"/>
          </a:xfrm>
          <a:prstGeom prst="rect">
            <a:avLst/>
          </a:prstGeom>
        </p:spPr>
      </p:pic>
      <p:sp>
        <p:nvSpPr>
          <p:cNvPr id="18" name="Shape 12"/>
          <p:cNvSpPr/>
          <p:nvPr/>
        </p:nvSpPr>
        <p:spPr>
          <a:xfrm>
            <a:off x="8807450" y="2208461"/>
            <a:ext cx="2349500" cy="838150"/>
          </a:xfrm>
          <a:prstGeom prst="roundRect">
            <a:avLst>
              <a:gd name="adj" fmla="val 14395"/>
            </a:avLst>
          </a:prstGeom>
          <a:solidFill>
            <a:srgbClr val="141922"/>
          </a:solidFill>
          <a:ln w="12700">
            <a:solidFill>
              <a:srgbClr val="4FC27A"/>
            </a:solidFill>
            <a:prstDash val="solid"/>
          </a:ln>
        </p:spPr>
      </p:sp>
      <p:sp>
        <p:nvSpPr>
          <p:cNvPr id="19" name="Text 13"/>
          <p:cNvSpPr/>
          <p:nvPr/>
        </p:nvSpPr>
        <p:spPr>
          <a:xfrm>
            <a:off x="8966200" y="2367211"/>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mongo</a:t>
            </a:r>
            <a:endParaRPr lang="en-US" sz="1600" dirty="0"/>
          </a:p>
        </p:txBody>
      </p:sp>
      <p:sp>
        <p:nvSpPr>
          <p:cNvPr id="20" name="Text 14"/>
          <p:cNvSpPr/>
          <p:nvPr/>
        </p:nvSpPr>
        <p:spPr>
          <a:xfrm>
            <a:off x="8966200" y="2674541"/>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MongoDB :27017</a:t>
            </a:r>
            <a:endParaRPr lang="en-US" sz="1200" dirty="0"/>
          </a:p>
        </p:txBody>
      </p:sp>
      <p:sp>
        <p:nvSpPr>
          <p:cNvPr id="21" name="Shape 15"/>
          <p:cNvSpPr/>
          <p:nvPr/>
        </p:nvSpPr>
        <p:spPr>
          <a:xfrm>
            <a:off x="815975" y="3602236"/>
            <a:ext cx="6546850" cy="2439789"/>
          </a:xfrm>
          <a:prstGeom prst="roundRect">
            <a:avLst>
              <a:gd name="adj" fmla="val 6116"/>
            </a:avLst>
          </a:prstGeom>
          <a:solidFill>
            <a:srgbClr val="141922"/>
          </a:solidFill>
          <a:ln w="6350">
            <a:solidFill>
              <a:srgbClr val="263041"/>
            </a:solidFill>
            <a:prstDash val="solid"/>
          </a:ln>
        </p:spPr>
      </p:sp>
      <p:pic>
        <p:nvPicPr>
          <p:cNvPr id="22" name="Image 4" descr="Link">    </p:cNvPr>
          <p:cNvPicPr>
            <a:picLocks noChangeAspect="1"/>
          </p:cNvPicPr>
          <p:nvPr/>
        </p:nvPicPr>
        <p:blipFill>
          <a:blip r:embed="rId5"/>
          <a:srcRect l="0" r="0" t="0" b="0"/>
          <a:stretch/>
        </p:blipFill>
        <p:spPr>
          <a:xfrm>
            <a:off x="1073150" y="3859411"/>
            <a:ext cx="279400" cy="279400"/>
          </a:xfrm>
          <a:prstGeom prst="rect">
            <a:avLst/>
          </a:prstGeom>
        </p:spPr>
      </p:pic>
      <p:sp>
        <p:nvSpPr>
          <p:cNvPr id="23" name="Text 16"/>
          <p:cNvSpPr/>
          <p:nvPr/>
        </p:nvSpPr>
        <p:spPr>
          <a:xfrm>
            <a:off x="1073150" y="4240411"/>
            <a:ext cx="62134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Hostname = service name</a:t>
            </a:r>
            <a:endParaRPr lang="en-US" sz="1600" dirty="0"/>
          </a:p>
        </p:txBody>
      </p:sp>
      <p:sp>
        <p:nvSpPr>
          <p:cNvPr id="24" name="Text 17"/>
          <p:cNvSpPr/>
          <p:nvPr/>
        </p:nvSpPr>
        <p:spPr>
          <a:xfrm>
            <a:off x="1073150" y="4585841"/>
            <a:ext cx="62134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8F5"/>
                </a:solidFill>
                <a:latin typeface="JetBrains Mono" pitchFamily="49" charset="0"/>
                <a:ea typeface="JetBrains Mono" pitchFamily="49" charset="-122"/>
                <a:cs typeface="JetBrains Mono" pitchFamily="49" charset="-120"/>
              </a:rPr>
              <a:t>MONGO_URL=mongodb://mongo:27017/shop</a:t>
            </a:r>
            <a:endParaRPr lang="en-US" sz="1400" dirty="0"/>
          </a:p>
        </p:txBody>
      </p:sp>
      <p:sp>
        <p:nvSpPr>
          <p:cNvPr id="25" name="Text 18"/>
          <p:cNvSpPr/>
          <p:nvPr/>
        </p:nvSpPr>
        <p:spPr>
          <a:xfrm>
            <a:off x="1073150" y="4936331"/>
            <a:ext cx="62134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Kept in .env, never committed to GitHub.</a:t>
            </a:r>
            <a:endParaRPr lang="en-US" sz="1400" dirty="0"/>
          </a:p>
        </p:txBody>
      </p:sp>
      <p:sp>
        <p:nvSpPr>
          <p:cNvPr id="26" name="Shape 19"/>
          <p:cNvSpPr/>
          <p:nvPr/>
        </p:nvSpPr>
        <p:spPr>
          <a:xfrm>
            <a:off x="7575550" y="3605411"/>
            <a:ext cx="3797300" cy="2433439"/>
          </a:xfrm>
          <a:prstGeom prst="roundRect">
            <a:avLst>
              <a:gd name="adj" fmla="val 6002"/>
            </a:avLst>
          </a:prstGeom>
          <a:solidFill>
            <a:srgbClr val="10261A"/>
          </a:solidFill>
          <a:ln w="12700">
            <a:solidFill>
              <a:srgbClr val="4FC27A"/>
            </a:solidFill>
            <a:prstDash val="solid"/>
          </a:ln>
        </p:spPr>
      </p:sp>
      <p:pic>
        <p:nvPicPr>
          <p:cNvPr id="27" name="Image 5" descr="Database">    </p:cNvPr>
          <p:cNvPicPr>
            <a:picLocks noChangeAspect="1"/>
          </p:cNvPicPr>
          <p:nvPr/>
        </p:nvPicPr>
        <p:blipFill>
          <a:blip r:embed="rId6"/>
          <a:srcRect l="0" r="0" t="0" b="0"/>
          <a:stretch/>
        </p:blipFill>
        <p:spPr>
          <a:xfrm>
            <a:off x="7835900" y="3865761"/>
            <a:ext cx="279400" cy="279400"/>
          </a:xfrm>
          <a:prstGeom prst="rect">
            <a:avLst/>
          </a:prstGeom>
        </p:spPr>
      </p:pic>
      <p:sp>
        <p:nvSpPr>
          <p:cNvPr id="28" name="Text 20"/>
          <p:cNvSpPr/>
          <p:nvPr/>
        </p:nvSpPr>
        <p:spPr>
          <a:xfrm>
            <a:off x="7835900" y="4246761"/>
            <a:ext cx="337489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Volume: mongo-data</a:t>
            </a:r>
            <a:endParaRPr lang="en-US" sz="1600" dirty="0"/>
          </a:p>
        </p:txBody>
      </p:sp>
      <p:sp>
        <p:nvSpPr>
          <p:cNvPr id="29" name="Text 21"/>
          <p:cNvSpPr/>
          <p:nvPr/>
        </p:nvSpPr>
        <p:spPr>
          <a:xfrm>
            <a:off x="7835900" y="4592191"/>
            <a:ext cx="337489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E8CC"/>
                </a:solidFill>
                <a:latin typeface="IBM Plex Sans" pitchFamily="34" charset="0"/>
                <a:ea typeface="IBM Plex Sans" pitchFamily="34" charset="-122"/>
                <a:cs typeface="IBM Plex Sans" pitchFamily="34" charset="-120"/>
              </a:rPr>
              <a:t>Mounted at /data/db on the host. Survives when the container is deleted.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Containers forget. Volumes remember.</a:t>
            </a:r>
            <a:endParaRPr lang="en-US" sz="3600" dirty="0"/>
          </a:p>
        </p:txBody>
      </p:sp>
      <p:sp>
        <p:nvSpPr>
          <p:cNvPr id="3" name="Shape 1"/>
          <p:cNvSpPr/>
          <p:nvPr/>
        </p:nvSpPr>
        <p:spPr>
          <a:xfrm>
            <a:off x="815975" y="1623665"/>
            <a:ext cx="10560050" cy="1245791"/>
          </a:xfrm>
          <a:prstGeom prst="roundRect">
            <a:avLst>
              <a:gd name="adj" fmla="val 11978"/>
            </a:avLst>
          </a:prstGeom>
          <a:solidFill>
            <a:srgbClr val="141922"/>
          </a:solidFill>
          <a:ln w="6350">
            <a:solidFill>
              <a:srgbClr val="263041"/>
            </a:solidFill>
            <a:prstDash val="solid"/>
          </a:ln>
        </p:spPr>
      </p:sp>
      <p:sp>
        <p:nvSpPr>
          <p:cNvPr id="4" name="Text 2"/>
          <p:cNvSpPr/>
          <p:nvPr/>
        </p:nvSpPr>
        <p:spPr>
          <a:xfrm>
            <a:off x="1073150" y="1992561"/>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F45"/>
                </a:solidFill>
                <a:latin typeface="JetBrains Mono" pitchFamily="49" charset="0"/>
                <a:ea typeface="JetBrains Mono" pitchFamily="49" charset="-122"/>
                <a:cs typeface="JetBrains Mono" pitchFamily="49" charset="-120"/>
              </a:rPr>
              <a:t>WITHOUT</a:t>
            </a:r>
            <a:endParaRPr lang="en-US" sz="1200" dirty="0"/>
          </a:p>
        </p:txBody>
      </p:sp>
      <p:sp>
        <p:nvSpPr>
          <p:cNvPr id="5" name="Text 3"/>
          <p:cNvSpPr/>
          <p:nvPr/>
        </p:nvSpPr>
        <p:spPr>
          <a:xfrm>
            <a:off x="1073150" y="2256681"/>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No volume</a:t>
            </a:r>
            <a:endParaRPr lang="en-US" sz="1600" dirty="0"/>
          </a:p>
        </p:txBody>
      </p:sp>
      <p:sp>
        <p:nvSpPr>
          <p:cNvPr id="6" name="Text 4"/>
          <p:cNvSpPr/>
          <p:nvPr/>
        </p:nvSpPr>
        <p:spPr>
          <a:xfrm>
            <a:off x="3232150" y="1987500"/>
            <a:ext cx="1546225" cy="518120"/>
          </a:xfrm>
          <a:prstGeom prst="roundRect">
            <a:avLst>
              <a:gd name="adj" fmla="val 17158"/>
            </a:avLst>
          </a:prstGeom>
          <a:solidFill>
            <a:srgbClr val="1C2330"/>
          </a:solidFill>
          <a:ln/>
        </p:spPr>
        <p:txBody>
          <a:bodyPr wrap="square" lIns="50162" tIns="126362" rIns="50162" bIns="10096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add 5 products</a:t>
            </a:r>
            <a:endParaRPr lang="en-US" sz="1200" dirty="0"/>
          </a:p>
        </p:txBody>
      </p:sp>
      <p:pic>
        <p:nvPicPr>
          <p:cNvPr id="7" name="Image 0" descr="arrow-right">    </p:cNvPr>
          <p:cNvPicPr>
            <a:picLocks noChangeAspect="1"/>
          </p:cNvPicPr>
          <p:nvPr/>
        </p:nvPicPr>
        <p:blipFill>
          <a:blip r:embed="rId1"/>
          <a:srcRect l="0" r="0" t="0" b="0"/>
          <a:stretch/>
        </p:blipFill>
        <p:spPr>
          <a:xfrm>
            <a:off x="4905375" y="2164011"/>
            <a:ext cx="304800" cy="165100"/>
          </a:xfrm>
          <a:prstGeom prst="rect">
            <a:avLst/>
          </a:prstGeom>
        </p:spPr>
      </p:pic>
      <p:sp>
        <p:nvSpPr>
          <p:cNvPr id="8" name="Text 5"/>
          <p:cNvSpPr/>
          <p:nvPr/>
        </p:nvSpPr>
        <p:spPr>
          <a:xfrm>
            <a:off x="5337175" y="1880840"/>
            <a:ext cx="1546225" cy="731441"/>
          </a:xfrm>
          <a:prstGeom prst="roundRect">
            <a:avLst>
              <a:gd name="adj" fmla="val 12154"/>
            </a:avLst>
          </a:prstGeom>
          <a:solidFill>
            <a:srgbClr val="1C2330"/>
          </a:solidFill>
          <a:ln/>
        </p:spPr>
        <p:txBody>
          <a:bodyPr wrap="square" lIns="50162" tIns="126362" rIns="50162" bIns="10096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docker rm -f mongo</a:t>
            </a:r>
            <a:endParaRPr lang="en-US" sz="1200" dirty="0"/>
          </a:p>
        </p:txBody>
      </p:sp>
      <p:pic>
        <p:nvPicPr>
          <p:cNvPr id="9" name="Image 1" descr="arrow-right">    </p:cNvPr>
          <p:cNvPicPr>
            <a:picLocks noChangeAspect="1"/>
          </p:cNvPicPr>
          <p:nvPr/>
        </p:nvPicPr>
        <p:blipFill>
          <a:blip r:embed="rId2"/>
          <a:srcRect l="0" r="0" t="0" b="0"/>
          <a:stretch/>
        </p:blipFill>
        <p:spPr>
          <a:xfrm>
            <a:off x="7010400" y="2164011"/>
            <a:ext cx="304800" cy="165100"/>
          </a:xfrm>
          <a:prstGeom prst="rect">
            <a:avLst/>
          </a:prstGeom>
        </p:spPr>
      </p:pic>
      <p:sp>
        <p:nvSpPr>
          <p:cNvPr id="10" name="Text 6"/>
          <p:cNvSpPr/>
          <p:nvPr/>
        </p:nvSpPr>
        <p:spPr>
          <a:xfrm>
            <a:off x="7442200" y="1880840"/>
            <a:ext cx="1546225" cy="731441"/>
          </a:xfrm>
          <a:prstGeom prst="roundRect">
            <a:avLst>
              <a:gd name="adj" fmla="val 12154"/>
            </a:avLst>
          </a:prstGeom>
          <a:solidFill>
            <a:srgbClr val="1C2330"/>
          </a:solidFill>
          <a:ln/>
        </p:spPr>
        <p:txBody>
          <a:bodyPr wrap="square" lIns="50162" tIns="126362" rIns="50162" bIns="10096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start new mongo</a:t>
            </a:r>
            <a:endParaRPr lang="en-US" sz="1200" dirty="0"/>
          </a:p>
        </p:txBody>
      </p:sp>
      <p:pic>
        <p:nvPicPr>
          <p:cNvPr id="11" name="Image 2" descr="arrow-right">    </p:cNvPr>
          <p:cNvPicPr>
            <a:picLocks noChangeAspect="1"/>
          </p:cNvPicPr>
          <p:nvPr/>
        </p:nvPicPr>
        <p:blipFill>
          <a:blip r:embed="rId3"/>
          <a:srcRect l="0" r="0" t="0" b="0"/>
          <a:stretch/>
        </p:blipFill>
        <p:spPr>
          <a:xfrm>
            <a:off x="9115425" y="2164011"/>
            <a:ext cx="304800" cy="165100"/>
          </a:xfrm>
          <a:prstGeom prst="rect">
            <a:avLst/>
          </a:prstGeom>
        </p:spPr>
      </p:pic>
      <p:sp>
        <p:nvSpPr>
          <p:cNvPr id="12" name="Shape 7"/>
          <p:cNvSpPr/>
          <p:nvPr/>
        </p:nvSpPr>
        <p:spPr>
          <a:xfrm>
            <a:off x="9553575" y="1998911"/>
            <a:ext cx="1558925" cy="495300"/>
          </a:xfrm>
          <a:prstGeom prst="roundRect">
            <a:avLst>
              <a:gd name="adj" fmla="val 16667"/>
            </a:avLst>
          </a:prstGeom>
          <a:solidFill>
            <a:srgbClr val="24131A"/>
          </a:solidFill>
          <a:ln w="12700">
            <a:solidFill>
              <a:srgbClr val="FF6B6B"/>
            </a:solidFill>
            <a:prstDash val="solid"/>
          </a:ln>
        </p:spPr>
      </p:sp>
      <p:pic>
        <p:nvPicPr>
          <p:cNvPr id="13" name="Image 3" descr="Warning">    </p:cNvPr>
          <p:cNvPicPr>
            <a:picLocks noChangeAspect="1"/>
          </p:cNvPicPr>
          <p:nvPr/>
        </p:nvPicPr>
        <p:blipFill>
          <a:blip r:embed="rId4"/>
          <a:srcRect l="0" r="0" t="0" b="0"/>
          <a:stretch/>
        </p:blipFill>
        <p:spPr>
          <a:xfrm>
            <a:off x="9723438" y="2132261"/>
            <a:ext cx="228600" cy="228600"/>
          </a:xfrm>
          <a:prstGeom prst="rect">
            <a:avLst/>
          </a:prstGeom>
        </p:spPr>
      </p:pic>
      <p:sp>
        <p:nvSpPr>
          <p:cNvPr id="14" name="Text 8"/>
          <p:cNvSpPr/>
          <p:nvPr/>
        </p:nvSpPr>
        <p:spPr>
          <a:xfrm>
            <a:off x="10028238" y="2139900"/>
            <a:ext cx="10779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A8A"/>
                </a:solidFill>
                <a:latin typeface="JetBrains Mono" pitchFamily="49" charset="0"/>
                <a:ea typeface="JetBrains Mono" pitchFamily="49" charset="-122"/>
                <a:cs typeface="JetBrains Mono" pitchFamily="49" charset="-120"/>
              </a:rPr>
              <a:t>0 products</a:t>
            </a:r>
            <a:endParaRPr lang="en-US" sz="1200" dirty="0"/>
          </a:p>
        </p:txBody>
      </p:sp>
      <p:sp>
        <p:nvSpPr>
          <p:cNvPr id="15" name="Shape 9"/>
          <p:cNvSpPr/>
          <p:nvPr/>
        </p:nvSpPr>
        <p:spPr>
          <a:xfrm>
            <a:off x="815975" y="3180606"/>
            <a:ext cx="10560050" cy="1245791"/>
          </a:xfrm>
          <a:prstGeom prst="roundRect">
            <a:avLst>
              <a:gd name="adj" fmla="val 11978"/>
            </a:avLst>
          </a:prstGeom>
          <a:solidFill>
            <a:srgbClr val="141922"/>
          </a:solidFill>
          <a:ln w="6350">
            <a:solidFill>
              <a:srgbClr val="263041"/>
            </a:solidFill>
            <a:prstDash val="solid"/>
          </a:ln>
        </p:spPr>
      </p:sp>
      <p:sp>
        <p:nvSpPr>
          <p:cNvPr id="16" name="Text 10"/>
          <p:cNvSpPr/>
          <p:nvPr/>
        </p:nvSpPr>
        <p:spPr>
          <a:xfrm>
            <a:off x="1073150" y="3549501"/>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C27A"/>
                </a:solidFill>
                <a:latin typeface="JetBrains Mono" pitchFamily="49" charset="0"/>
                <a:ea typeface="JetBrains Mono" pitchFamily="49" charset="-122"/>
                <a:cs typeface="JetBrains Mono" pitchFamily="49" charset="-120"/>
              </a:rPr>
              <a:t>WITH</a:t>
            </a:r>
            <a:endParaRPr lang="en-US" sz="1200" dirty="0"/>
          </a:p>
        </p:txBody>
      </p:sp>
      <p:sp>
        <p:nvSpPr>
          <p:cNvPr id="17" name="Text 11"/>
          <p:cNvSpPr/>
          <p:nvPr/>
        </p:nvSpPr>
        <p:spPr>
          <a:xfrm>
            <a:off x="1073150" y="3813621"/>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-v mongo-data</a:t>
            </a:r>
            <a:endParaRPr lang="en-US" sz="1600" dirty="0"/>
          </a:p>
        </p:txBody>
      </p:sp>
      <p:sp>
        <p:nvSpPr>
          <p:cNvPr id="18" name="Text 12"/>
          <p:cNvSpPr/>
          <p:nvPr/>
        </p:nvSpPr>
        <p:spPr>
          <a:xfrm>
            <a:off x="3232150" y="3544441"/>
            <a:ext cx="1546225" cy="518120"/>
          </a:xfrm>
          <a:prstGeom prst="roundRect">
            <a:avLst>
              <a:gd name="adj" fmla="val 17158"/>
            </a:avLst>
          </a:prstGeom>
          <a:solidFill>
            <a:srgbClr val="1C2330"/>
          </a:solidFill>
          <a:ln/>
        </p:spPr>
        <p:txBody>
          <a:bodyPr wrap="square" lIns="50162" tIns="126362" rIns="50162" bIns="10096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add 5 products</a:t>
            </a:r>
            <a:endParaRPr lang="en-US" sz="1200" dirty="0"/>
          </a:p>
        </p:txBody>
      </p:sp>
      <p:pic>
        <p:nvPicPr>
          <p:cNvPr id="19" name="Image 4" descr="arrow-right">    </p:cNvPr>
          <p:cNvPicPr>
            <a:picLocks noChangeAspect="1"/>
          </p:cNvPicPr>
          <p:nvPr/>
        </p:nvPicPr>
        <p:blipFill>
          <a:blip r:embed="rId5"/>
          <a:srcRect l="0" r="0" t="0" b="0"/>
          <a:stretch/>
        </p:blipFill>
        <p:spPr>
          <a:xfrm>
            <a:off x="4905375" y="3720951"/>
            <a:ext cx="304800" cy="165100"/>
          </a:xfrm>
          <a:prstGeom prst="rect">
            <a:avLst/>
          </a:prstGeom>
        </p:spPr>
      </p:pic>
      <p:sp>
        <p:nvSpPr>
          <p:cNvPr id="20" name="Text 13"/>
          <p:cNvSpPr/>
          <p:nvPr/>
        </p:nvSpPr>
        <p:spPr>
          <a:xfrm>
            <a:off x="5337175" y="3437781"/>
            <a:ext cx="1546225" cy="731441"/>
          </a:xfrm>
          <a:prstGeom prst="roundRect">
            <a:avLst>
              <a:gd name="adj" fmla="val 12154"/>
            </a:avLst>
          </a:prstGeom>
          <a:solidFill>
            <a:srgbClr val="1C2330"/>
          </a:solidFill>
          <a:ln/>
        </p:spPr>
        <p:txBody>
          <a:bodyPr wrap="square" lIns="50162" tIns="126362" rIns="50162" bIns="10096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docker rm -f mongo</a:t>
            </a:r>
            <a:endParaRPr lang="en-US" sz="1200" dirty="0"/>
          </a:p>
        </p:txBody>
      </p:sp>
      <p:pic>
        <p:nvPicPr>
          <p:cNvPr id="21" name="Image 5" descr="arrow-right">    </p:cNvPr>
          <p:cNvPicPr>
            <a:picLocks noChangeAspect="1"/>
          </p:cNvPicPr>
          <p:nvPr/>
        </p:nvPicPr>
        <p:blipFill>
          <a:blip r:embed="rId6"/>
          <a:srcRect l="0" r="0" t="0" b="0"/>
          <a:stretch/>
        </p:blipFill>
        <p:spPr>
          <a:xfrm>
            <a:off x="7010400" y="3720951"/>
            <a:ext cx="304800" cy="165100"/>
          </a:xfrm>
          <a:prstGeom prst="rect">
            <a:avLst/>
          </a:prstGeom>
        </p:spPr>
      </p:pic>
      <p:sp>
        <p:nvSpPr>
          <p:cNvPr id="22" name="Text 14"/>
          <p:cNvSpPr/>
          <p:nvPr/>
        </p:nvSpPr>
        <p:spPr>
          <a:xfrm>
            <a:off x="7442200" y="3437781"/>
            <a:ext cx="1546225" cy="731441"/>
          </a:xfrm>
          <a:prstGeom prst="roundRect">
            <a:avLst>
              <a:gd name="adj" fmla="val 12154"/>
            </a:avLst>
          </a:prstGeom>
          <a:solidFill>
            <a:srgbClr val="1C2330"/>
          </a:solidFill>
          <a:ln/>
        </p:spPr>
        <p:txBody>
          <a:bodyPr wrap="square" lIns="50162" tIns="126362" rIns="50162" bIns="10096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start new mongo</a:t>
            </a:r>
            <a:endParaRPr lang="en-US" sz="1200" dirty="0"/>
          </a:p>
        </p:txBody>
      </p:sp>
      <p:pic>
        <p:nvPicPr>
          <p:cNvPr id="23" name="Image 6" descr="arrow-right">    </p:cNvPr>
          <p:cNvPicPr>
            <a:picLocks noChangeAspect="1"/>
          </p:cNvPicPr>
          <p:nvPr/>
        </p:nvPicPr>
        <p:blipFill>
          <a:blip r:embed="rId7"/>
          <a:srcRect l="0" r="0" t="0" b="0"/>
          <a:stretch/>
        </p:blipFill>
        <p:spPr>
          <a:xfrm>
            <a:off x="9115425" y="3720951"/>
            <a:ext cx="304800" cy="165100"/>
          </a:xfrm>
          <a:prstGeom prst="rect">
            <a:avLst/>
          </a:prstGeom>
        </p:spPr>
      </p:pic>
      <p:sp>
        <p:nvSpPr>
          <p:cNvPr id="24" name="Shape 15"/>
          <p:cNvSpPr/>
          <p:nvPr/>
        </p:nvSpPr>
        <p:spPr>
          <a:xfrm>
            <a:off x="9553575" y="3555851"/>
            <a:ext cx="1558925" cy="495300"/>
          </a:xfrm>
          <a:prstGeom prst="roundRect">
            <a:avLst>
              <a:gd name="adj" fmla="val 16667"/>
            </a:avLst>
          </a:prstGeom>
          <a:solidFill>
            <a:srgbClr val="10261A"/>
          </a:solidFill>
          <a:ln w="12700">
            <a:solidFill>
              <a:srgbClr val="4FC27A"/>
            </a:solidFill>
            <a:prstDash val="solid"/>
          </a:ln>
        </p:spPr>
      </p:sp>
      <p:pic>
        <p:nvPicPr>
          <p:cNvPr id="25" name="Image 7" descr="CheckCircle">    </p:cNvPr>
          <p:cNvPicPr>
            <a:picLocks noChangeAspect="1"/>
          </p:cNvPicPr>
          <p:nvPr/>
        </p:nvPicPr>
        <p:blipFill>
          <a:blip r:embed="rId8"/>
          <a:srcRect l="0" r="0" t="0" b="0"/>
          <a:stretch/>
        </p:blipFill>
        <p:spPr>
          <a:xfrm>
            <a:off x="9723438" y="3689201"/>
            <a:ext cx="228600" cy="228600"/>
          </a:xfrm>
          <a:prstGeom prst="rect">
            <a:avLst/>
          </a:prstGeom>
        </p:spPr>
      </p:pic>
      <p:sp>
        <p:nvSpPr>
          <p:cNvPr id="26" name="Text 16"/>
          <p:cNvSpPr/>
          <p:nvPr/>
        </p:nvSpPr>
        <p:spPr>
          <a:xfrm>
            <a:off x="10028238" y="3696841"/>
            <a:ext cx="10779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EE0AE"/>
                </a:solidFill>
                <a:latin typeface="JetBrains Mono" pitchFamily="49" charset="0"/>
                <a:ea typeface="JetBrains Mono" pitchFamily="49" charset="-122"/>
                <a:cs typeface="JetBrains Mono" pitchFamily="49" charset="-120"/>
              </a:rPr>
              <a:t>5 products</a:t>
            </a:r>
            <a:endParaRPr lang="en-US" sz="1200" dirty="0"/>
          </a:p>
        </p:txBody>
      </p:sp>
      <p:sp>
        <p:nvSpPr>
          <p:cNvPr id="27" name="Shape 17"/>
          <p:cNvSpPr/>
          <p:nvPr/>
        </p:nvSpPr>
        <p:spPr>
          <a:xfrm>
            <a:off x="815975" y="4737546"/>
            <a:ext cx="5175250" cy="1304479"/>
          </a:xfrm>
          <a:prstGeom prst="roundRect">
            <a:avLst>
              <a:gd name="adj" fmla="val 11439"/>
            </a:avLst>
          </a:prstGeom>
          <a:solidFill>
            <a:srgbClr val="141922"/>
          </a:solidFill>
          <a:ln w="6350">
            <a:solidFill>
              <a:srgbClr val="263041"/>
            </a:solidFill>
            <a:prstDash val="solid"/>
          </a:ln>
        </p:spPr>
      </p:sp>
      <p:pic>
        <p:nvPicPr>
          <p:cNvPr id="28" name="Image 8" descr="Play">    </p:cNvPr>
          <p:cNvPicPr>
            <a:picLocks noChangeAspect="1"/>
          </p:cNvPicPr>
          <p:nvPr/>
        </p:nvPicPr>
        <p:blipFill>
          <a:blip r:embed="rId9"/>
          <a:srcRect l="0" r="0" t="-439" b="-439"/>
          <a:stretch/>
        </p:blipFill>
        <p:spPr>
          <a:xfrm>
            <a:off x="1047750" y="5224661"/>
            <a:ext cx="327323" cy="330200"/>
          </a:xfrm>
          <a:prstGeom prst="rect">
            <a:avLst/>
          </a:prstGeom>
        </p:spPr>
      </p:pic>
      <p:sp>
        <p:nvSpPr>
          <p:cNvPr id="29" name="Text 18"/>
          <p:cNvSpPr/>
          <p:nvPr/>
        </p:nvSpPr>
        <p:spPr>
          <a:xfrm>
            <a:off x="1527473" y="5140871"/>
            <a:ext cx="435893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Container: disposable.</a:t>
            </a:r>
            <a:r>
              <a:rPr lang="en-US" sz="1400" dirty="0">
                <a:solidFill>
                  <a:srgbClr val="A9B3C2"/>
                </a:solidFill>
                <a:latin typeface="IBM Plex Sans" pitchFamily="34" charset="0"/>
                <a:ea typeface="IBM Plex Sans" pitchFamily="34" charset="-122"/>
                <a:cs typeface="IBM Plex Sans" pitchFamily="34" charset="-120"/>
              </a:rPr>
              <a:t> Delete and recreate any time.</a:t>
            </a:r>
            <a:endParaRPr lang="en-US" sz="1400" dirty="0"/>
          </a:p>
        </p:txBody>
      </p:sp>
      <p:sp>
        <p:nvSpPr>
          <p:cNvPr id="30" name="Shape 19"/>
          <p:cNvSpPr/>
          <p:nvPr/>
        </p:nvSpPr>
        <p:spPr>
          <a:xfrm>
            <a:off x="6200775" y="4737546"/>
            <a:ext cx="5175250" cy="1304479"/>
          </a:xfrm>
          <a:prstGeom prst="roundRect">
            <a:avLst>
              <a:gd name="adj" fmla="val 11439"/>
            </a:avLst>
          </a:prstGeom>
          <a:solidFill>
            <a:srgbClr val="141922"/>
          </a:solidFill>
          <a:ln w="6350">
            <a:solidFill>
              <a:srgbClr val="263041"/>
            </a:solidFill>
            <a:prstDash val="solid"/>
          </a:ln>
        </p:spPr>
      </p:sp>
      <p:pic>
        <p:nvPicPr>
          <p:cNvPr id="31" name="Image 9" descr="Database">    </p:cNvPr>
          <p:cNvPicPr>
            <a:picLocks noChangeAspect="1"/>
          </p:cNvPicPr>
          <p:nvPr/>
        </p:nvPicPr>
        <p:blipFill>
          <a:blip r:embed="rId10"/>
          <a:srcRect l="0" r="0" t="-102" b="-102"/>
          <a:stretch/>
        </p:blipFill>
        <p:spPr>
          <a:xfrm>
            <a:off x="6432550" y="5224661"/>
            <a:ext cx="291505" cy="330200"/>
          </a:xfrm>
          <a:prstGeom prst="rect">
            <a:avLst/>
          </a:prstGeom>
        </p:spPr>
      </p:pic>
      <p:sp>
        <p:nvSpPr>
          <p:cNvPr id="32" name="Text 20"/>
          <p:cNvSpPr/>
          <p:nvPr/>
        </p:nvSpPr>
        <p:spPr>
          <a:xfrm>
            <a:off x="6876455" y="5140871"/>
            <a:ext cx="4395829"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Volume: persistent.</a:t>
            </a:r>
            <a:r>
              <a:rPr lang="en-US" sz="1400" dirty="0">
                <a:solidFill>
                  <a:srgbClr val="A9B3C2"/>
                </a:solidFill>
                <a:latin typeface="IBM Plex Sans" pitchFamily="34" charset="0"/>
                <a:ea typeface="IBM Plex Sans" pitchFamily="34" charset="-122"/>
                <a:cs typeface="IBM Plex Sans" pitchFamily="34" charset="-120"/>
              </a:rPr>
              <a:t> Lives on the host, outside the container.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One file. One command. Whole stack.</a:t>
            </a:r>
            <a:endParaRPr lang="en-US" sz="3600" dirty="0"/>
          </a:p>
        </p:txBody>
      </p:sp>
      <p:sp>
        <p:nvSpPr>
          <p:cNvPr id="3" name="Shape 1"/>
          <p:cNvSpPr/>
          <p:nvPr/>
        </p:nvSpPr>
        <p:spPr>
          <a:xfrm>
            <a:off x="815975" y="1674465"/>
            <a:ext cx="4819650" cy="4367560"/>
          </a:xfrm>
          <a:prstGeom prst="roundRect">
            <a:avLst>
              <a:gd name="adj" fmla="val 3417"/>
            </a:avLst>
          </a:prstGeom>
          <a:solidFill>
            <a:srgbClr val="06080B"/>
          </a:solidFill>
          <a:ln w="6350">
            <a:solidFill>
              <a:srgbClr val="263041"/>
            </a:solidFill>
            <a:prstDash val="solid"/>
          </a:ln>
        </p:spPr>
      </p:sp>
      <p:sp>
        <p:nvSpPr>
          <p:cNvPr id="4" name="Text 2"/>
          <p:cNvSpPr/>
          <p:nvPr/>
        </p:nvSpPr>
        <p:spPr>
          <a:xfrm>
            <a:off x="1073150" y="1931640"/>
            <a:ext cx="4434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JetBrains Mono" pitchFamily="49" charset="0"/>
                <a:ea typeface="JetBrains Mono" pitchFamily="49" charset="-122"/>
                <a:cs typeface="JetBrains Mono" pitchFamily="49" charset="-120"/>
              </a:rPr>
              <a:t>docker-compose.yml</a:t>
            </a:r>
            <a:endParaRPr lang="en-US" sz="1200" dirty="0"/>
          </a:p>
        </p:txBody>
      </p:sp>
      <p:sp>
        <p:nvSpPr>
          <p:cNvPr id="5" name="Text 3"/>
          <p:cNvSpPr/>
          <p:nvPr/>
        </p:nvSpPr>
        <p:spPr>
          <a:xfrm>
            <a:off x="1073150" y="2246561"/>
            <a:ext cx="4434459" cy="2997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services:</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a:t>
            </a:r>
            <a:r>
              <a:rPr lang="en-US" sz="1200" dirty="0">
                <a:solidFill>
                  <a:srgbClr val="3BA4F5"/>
                </a:solidFill>
                <a:latin typeface="JetBrains Mono" pitchFamily="49" charset="0"/>
                <a:ea typeface="JetBrains Mono" pitchFamily="49" charset="-122"/>
                <a:cs typeface="JetBrains Mono" pitchFamily="49" charset="-120"/>
              </a:rPr>
              <a:t>frontend:</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build: ./client</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ports: ["80:80"]</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a:t>
            </a:r>
            <a:r>
              <a:rPr lang="en-US" sz="1200" dirty="0">
                <a:solidFill>
                  <a:srgbClr val="FF9F45"/>
                </a:solidFill>
                <a:latin typeface="JetBrains Mono" pitchFamily="49" charset="0"/>
                <a:ea typeface="JetBrains Mono" pitchFamily="49" charset="-122"/>
                <a:cs typeface="JetBrains Mono" pitchFamily="49" charset="-120"/>
              </a:rPr>
              <a:t>backend:</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build: ./server</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env_file: .env</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depends_on: [mongo]</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a:t>
            </a:r>
            <a:r>
              <a:rPr lang="en-US" sz="1200" dirty="0">
                <a:solidFill>
                  <a:srgbClr val="4FC27A"/>
                </a:solidFill>
                <a:latin typeface="JetBrains Mono" pitchFamily="49" charset="0"/>
                <a:ea typeface="JetBrains Mono" pitchFamily="49" charset="-122"/>
                <a:cs typeface="JetBrains Mono" pitchFamily="49" charset="-120"/>
              </a:rPr>
              <a:t>mongo:</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image: mongo:7</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volumes: ["mongo-data:/data/db"]</a:t>
            </a:r>
            <a:endParaRPr lang="en-US" sz="1200" dirty="0"/>
          </a:p>
          <a:p>
            <a:pPr algn="l" indent="0" marL="0">
              <a:lnSpc>
                <a:spcPts val="1800"/>
              </a:lnSpc>
              <a:buNone/>
            </a:pPr>
            <a:r>
              <a:rPr lang="en-US" sz="1200" dirty="0">
                <a:solidFill>
                  <a:srgbClr val="3BA4F5"/>
                </a:solidFill>
                <a:latin typeface="JetBrains Mono" pitchFamily="49" charset="0"/>
                <a:ea typeface="JetBrains Mono" pitchFamily="49" charset="-122"/>
                <a:cs typeface="JetBrains Mono" pitchFamily="49" charset="-120"/>
              </a:rPr>
              <a:t>volumes:</a:t>
            </a:r>
            <a:endParaRPr lang="en-US" sz="1200" dirty="0"/>
          </a:p>
          <a:p>
            <a:pPr algn="l" indent="0" marL="0">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mongo-data:</a:t>
            </a:r>
            <a:endParaRPr lang="en-US" sz="1200" dirty="0"/>
          </a:p>
        </p:txBody>
      </p:sp>
      <p:sp>
        <p:nvSpPr>
          <p:cNvPr id="6" name="Shape 4"/>
          <p:cNvSpPr/>
          <p:nvPr/>
        </p:nvSpPr>
        <p:spPr>
          <a:xfrm>
            <a:off x="5946775" y="1674465"/>
            <a:ext cx="5429250" cy="2388642"/>
          </a:xfrm>
          <a:prstGeom prst="roundRect">
            <a:avLst>
              <a:gd name="adj" fmla="val 5184"/>
            </a:avLst>
          </a:prstGeom>
          <a:solidFill>
            <a:srgbClr val="06080B"/>
          </a:solidFill>
          <a:ln w="6350">
            <a:solidFill>
              <a:srgbClr val="263041"/>
            </a:solidFill>
            <a:prstDash val="solid"/>
          </a:ln>
        </p:spPr>
      </p:sp>
      <p:sp>
        <p:nvSpPr>
          <p:cNvPr id="7" name="Shape 5"/>
          <p:cNvSpPr/>
          <p:nvPr/>
        </p:nvSpPr>
        <p:spPr>
          <a:xfrm>
            <a:off x="5949950" y="1677640"/>
            <a:ext cx="5422900" cy="342900"/>
          </a:xfrm>
          <a:custGeom>
            <a:avLst/>
            <a:gdLst/>
            <a:ahLst/>
            <a:cxnLst/>
            <a:rect l="l" t="t" r="r" b="b"/>
            <a:pathLst>
              <a:path w="5422900" h="342900">
                <a:moveTo>
                  <a:pt x="127000" y="0"/>
                </a:moveTo>
                <a:lnTo>
                  <a:pt x="5295900" y="0"/>
                </a:lnTo>
                <a:arcTo hR="127000" wR="127000" stAng="16200000" swAng="5400000"/>
                <a:lnTo>
                  <a:pt x="5422900" y="342900"/>
                </a:lnTo>
                <a:lnTo>
                  <a:pt x="0" y="342900"/>
                </a:lnTo>
                <a:lnTo>
                  <a:pt x="0" y="127000"/>
                </a:lnTo>
                <a:arcTo hR="127000" wR="127000" stAng="10800000" swAng="5400000"/>
                <a:close/>
              </a:path>
            </a:pathLst>
          </a:custGeom>
          <a:solidFill>
            <a:srgbClr val="11151C"/>
          </a:solidFill>
          <a:ln/>
        </p:spPr>
      </p:sp>
      <p:pic>
        <p:nvPicPr>
          <p:cNvPr id="8" name="Image 0" descr="ellipse">    </p:cNvPr>
          <p:cNvPicPr>
            <a:picLocks noChangeAspect="1"/>
          </p:cNvPicPr>
          <p:nvPr/>
        </p:nvPicPr>
        <p:blipFill>
          <a:blip r:embed="rId1"/>
          <a:srcRect l="0" r="0" t="0" b="0"/>
          <a:stretch/>
        </p:blipFill>
        <p:spPr>
          <a:xfrm>
            <a:off x="6102350" y="1791940"/>
            <a:ext cx="114300" cy="114300"/>
          </a:xfrm>
          <a:prstGeom prst="rect">
            <a:avLst/>
          </a:prstGeom>
        </p:spPr>
      </p:pic>
      <p:pic>
        <p:nvPicPr>
          <p:cNvPr id="9" name="Image 1" descr="ellipse">    </p:cNvPr>
          <p:cNvPicPr>
            <a:picLocks noChangeAspect="1"/>
          </p:cNvPicPr>
          <p:nvPr/>
        </p:nvPicPr>
        <p:blipFill>
          <a:blip r:embed="rId2"/>
          <a:srcRect l="0" r="0" t="0" b="0"/>
          <a:stretch/>
        </p:blipFill>
        <p:spPr>
          <a:xfrm>
            <a:off x="6280150" y="1791940"/>
            <a:ext cx="114300" cy="114300"/>
          </a:xfrm>
          <a:prstGeom prst="rect">
            <a:avLst/>
          </a:prstGeom>
        </p:spPr>
      </p:pic>
      <p:pic>
        <p:nvPicPr>
          <p:cNvPr id="10" name="Image 2" descr="ellipse">    </p:cNvPr>
          <p:cNvPicPr>
            <a:picLocks noChangeAspect="1"/>
          </p:cNvPicPr>
          <p:nvPr/>
        </p:nvPicPr>
        <p:blipFill>
          <a:blip r:embed="rId3"/>
          <a:srcRect l="0" r="0" t="0" b="0"/>
          <a:stretch/>
        </p:blipFill>
        <p:spPr>
          <a:xfrm>
            <a:off x="6457950" y="1791940"/>
            <a:ext cx="114300" cy="114300"/>
          </a:xfrm>
          <a:prstGeom prst="rect">
            <a:avLst/>
          </a:prstGeom>
        </p:spPr>
      </p:pic>
      <p:sp>
        <p:nvSpPr>
          <p:cNvPr id="11" name="Text 6"/>
          <p:cNvSpPr/>
          <p:nvPr/>
        </p:nvSpPr>
        <p:spPr>
          <a:xfrm>
            <a:off x="6153150" y="2223740"/>
            <a:ext cx="516699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A4F5"/>
                </a:solidFill>
                <a:latin typeface="JetBrains Mono" pitchFamily="49" charset="0"/>
                <a:ea typeface="JetBrains Mono" pitchFamily="49" charset="-122"/>
                <a:cs typeface="JetBrains Mono" pitchFamily="49" charset="-120"/>
              </a:rPr>
              <a:t>$</a:t>
            </a:r>
            <a:r>
              <a:rPr lang="en-US" sz="1400" b="1" dirty="0">
                <a:solidFill>
                  <a:srgbClr val="F3F5F8"/>
                </a:solidFill>
                <a:latin typeface="JetBrains Mono" pitchFamily="49" charset="0"/>
                <a:ea typeface="JetBrains Mono" pitchFamily="49" charset="-122"/>
                <a:cs typeface="JetBrains Mono" pitchFamily="49" charset="-120"/>
              </a:rPr>
              <a:t> docker compose up -d</a:t>
            </a:r>
            <a:endParaRPr lang="en-US" sz="1400" dirty="0"/>
          </a:p>
        </p:txBody>
      </p:sp>
      <p:sp>
        <p:nvSpPr>
          <p:cNvPr id="12" name="Text 7"/>
          <p:cNvSpPr/>
          <p:nvPr/>
        </p:nvSpPr>
        <p:spPr>
          <a:xfrm>
            <a:off x="6153150" y="2536130"/>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Network shop_default </a:t>
            </a:r>
            <a:r>
              <a:rPr lang="en-US" sz="1200" dirty="0">
                <a:solidFill>
                  <a:srgbClr val="8EE0AE"/>
                </a:solidFill>
                <a:latin typeface="JetBrains Mono" pitchFamily="49" charset="0"/>
                <a:ea typeface="JetBrains Mono" pitchFamily="49" charset="-122"/>
                <a:cs typeface="JetBrains Mono" pitchFamily="49" charset="-120"/>
              </a:rPr>
              <a:t>Created</a:t>
            </a:r>
            <a:endParaRPr lang="en-US" sz="1200" dirty="0"/>
          </a:p>
        </p:txBody>
      </p:sp>
      <p:sp>
        <p:nvSpPr>
          <p:cNvPr id="13" name="Text 8"/>
          <p:cNvSpPr/>
          <p:nvPr/>
        </p:nvSpPr>
        <p:spPr>
          <a:xfrm>
            <a:off x="6153150" y="281295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Volume mongo-data </a:t>
            </a:r>
            <a:r>
              <a:rPr lang="en-US" sz="1200" dirty="0">
                <a:solidFill>
                  <a:srgbClr val="8EE0AE"/>
                </a:solidFill>
                <a:latin typeface="JetBrains Mono" pitchFamily="49" charset="0"/>
                <a:ea typeface="JetBrains Mono" pitchFamily="49" charset="-122"/>
                <a:cs typeface="JetBrains Mono" pitchFamily="49" charset="-120"/>
              </a:rPr>
              <a:t>Created</a:t>
            </a:r>
            <a:endParaRPr lang="en-US" sz="1200" dirty="0"/>
          </a:p>
        </p:txBody>
      </p:sp>
      <p:sp>
        <p:nvSpPr>
          <p:cNvPr id="14" name="Text 9"/>
          <p:cNvSpPr/>
          <p:nvPr/>
        </p:nvSpPr>
        <p:spPr>
          <a:xfrm>
            <a:off x="6153150" y="308977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Container mongo </a:t>
            </a:r>
            <a:r>
              <a:rPr lang="en-US" sz="1200" dirty="0">
                <a:solidFill>
                  <a:srgbClr val="8EE0AE"/>
                </a:solidFill>
                <a:latin typeface="JetBrains Mono" pitchFamily="49" charset="0"/>
                <a:ea typeface="JetBrains Mono" pitchFamily="49" charset="-122"/>
                <a:cs typeface="JetBrains Mono" pitchFamily="49" charset="-120"/>
              </a:rPr>
              <a:t>Started</a:t>
            </a:r>
            <a:endParaRPr lang="en-US" sz="1200" dirty="0"/>
          </a:p>
        </p:txBody>
      </p:sp>
      <p:sp>
        <p:nvSpPr>
          <p:cNvPr id="15" name="Text 10"/>
          <p:cNvSpPr/>
          <p:nvPr/>
        </p:nvSpPr>
        <p:spPr>
          <a:xfrm>
            <a:off x="6153150" y="336659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Container backend </a:t>
            </a:r>
            <a:r>
              <a:rPr lang="en-US" sz="1200" dirty="0">
                <a:solidFill>
                  <a:srgbClr val="8EE0AE"/>
                </a:solidFill>
                <a:latin typeface="JetBrains Mono" pitchFamily="49" charset="0"/>
                <a:ea typeface="JetBrains Mono" pitchFamily="49" charset="-122"/>
                <a:cs typeface="JetBrains Mono" pitchFamily="49" charset="-120"/>
              </a:rPr>
              <a:t>Started</a:t>
            </a:r>
            <a:endParaRPr lang="en-US" sz="1200" dirty="0"/>
          </a:p>
        </p:txBody>
      </p:sp>
      <p:sp>
        <p:nvSpPr>
          <p:cNvPr id="16" name="Text 11"/>
          <p:cNvSpPr/>
          <p:nvPr/>
        </p:nvSpPr>
        <p:spPr>
          <a:xfrm>
            <a:off x="6153150" y="3643412"/>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Container frontend </a:t>
            </a:r>
            <a:r>
              <a:rPr lang="en-US" sz="1200" dirty="0">
                <a:solidFill>
                  <a:srgbClr val="8EE0AE"/>
                </a:solidFill>
                <a:latin typeface="JetBrains Mono" pitchFamily="49" charset="0"/>
                <a:ea typeface="JetBrains Mono" pitchFamily="49" charset="-122"/>
                <a:cs typeface="JetBrains Mono" pitchFamily="49" charset="-120"/>
              </a:rPr>
              <a:t>Started</a:t>
            </a:r>
            <a:endParaRPr lang="en-US" sz="1200" dirty="0"/>
          </a:p>
        </p:txBody>
      </p:sp>
      <p:sp>
        <p:nvSpPr>
          <p:cNvPr id="17" name="Shape 12"/>
          <p:cNvSpPr/>
          <p:nvPr/>
        </p:nvSpPr>
        <p:spPr>
          <a:xfrm>
            <a:off x="5946775" y="4272657"/>
            <a:ext cx="5429250" cy="1769368"/>
          </a:xfrm>
          <a:prstGeom prst="roundRect">
            <a:avLst>
              <a:gd name="adj" fmla="val 8434"/>
            </a:avLst>
          </a:prstGeom>
          <a:solidFill>
            <a:srgbClr val="141922"/>
          </a:solidFill>
          <a:ln w="6350">
            <a:solidFill>
              <a:srgbClr val="263041"/>
            </a:solidFill>
            <a:prstDash val="solid"/>
          </a:ln>
        </p:spPr>
      </p:sp>
      <p:pic>
        <p:nvPicPr>
          <p:cNvPr id="18" name="Image 3" descr="Globe">    </p:cNvPr>
          <p:cNvPicPr>
            <a:picLocks noChangeAspect="1"/>
          </p:cNvPicPr>
          <p:nvPr/>
        </p:nvPicPr>
        <p:blipFill>
          <a:blip r:embed="rId4"/>
          <a:srcRect l="0" r="0" t="0" b="0"/>
          <a:stretch/>
        </p:blipFill>
        <p:spPr>
          <a:xfrm>
            <a:off x="6178550" y="4992241"/>
            <a:ext cx="330200" cy="330200"/>
          </a:xfrm>
          <a:prstGeom prst="rect">
            <a:avLst/>
          </a:prstGeom>
        </p:spPr>
      </p:pic>
      <p:sp>
        <p:nvSpPr>
          <p:cNvPr id="19" name="Text 13"/>
          <p:cNvSpPr/>
          <p:nvPr/>
        </p:nvSpPr>
        <p:spPr>
          <a:xfrm>
            <a:off x="6661150" y="4903341"/>
            <a:ext cx="301389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localhost → full MERN app</a:t>
            </a:r>
            <a:endParaRPr lang="en-US" sz="1600" dirty="0"/>
          </a:p>
        </p:txBody>
      </p:sp>
      <p:sp>
        <p:nvSpPr>
          <p:cNvPr id="20" name="Text 14"/>
          <p:cNvSpPr/>
          <p:nvPr/>
        </p:nvSpPr>
        <p:spPr>
          <a:xfrm>
            <a:off x="6661150" y="5197971"/>
            <a:ext cx="35113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stop it all: docker compose down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21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Code → GitHub. Image → registry.</a:t>
            </a:r>
            <a:endParaRPr lang="en-US" sz="3600" dirty="0"/>
          </a:p>
        </p:txBody>
      </p:sp>
      <p:sp>
        <p:nvSpPr>
          <p:cNvPr id="3" name="Shape 1"/>
          <p:cNvSpPr/>
          <p:nvPr/>
        </p:nvSpPr>
        <p:spPr>
          <a:xfrm>
            <a:off x="815975" y="1887339"/>
            <a:ext cx="4483100" cy="3014663"/>
          </a:xfrm>
          <a:prstGeom prst="roundRect">
            <a:avLst>
              <a:gd name="adj" fmla="val 4950"/>
            </a:avLst>
          </a:prstGeom>
          <a:solidFill>
            <a:srgbClr val="141922"/>
          </a:solidFill>
          <a:ln w="6350">
            <a:solidFill>
              <a:srgbClr val="263041"/>
            </a:solidFill>
            <a:prstDash val="solid"/>
          </a:ln>
        </p:spPr>
      </p:sp>
      <p:pic>
        <p:nvPicPr>
          <p:cNvPr id="4" name="Image 0" descr="Code">    </p:cNvPr>
          <p:cNvPicPr>
            <a:picLocks noChangeAspect="1"/>
          </p:cNvPicPr>
          <p:nvPr/>
        </p:nvPicPr>
        <p:blipFill>
          <a:blip r:embed="rId1"/>
          <a:srcRect l="0" r="0" t="0" b="0"/>
          <a:stretch/>
        </p:blipFill>
        <p:spPr>
          <a:xfrm>
            <a:off x="1073150" y="2152749"/>
            <a:ext cx="304800" cy="304800"/>
          </a:xfrm>
          <a:prstGeom prst="rect">
            <a:avLst/>
          </a:prstGeom>
        </p:spPr>
      </p:pic>
      <p:sp>
        <p:nvSpPr>
          <p:cNvPr id="5" name="Text 2"/>
          <p:cNvSpPr/>
          <p:nvPr/>
        </p:nvSpPr>
        <p:spPr>
          <a:xfrm>
            <a:off x="1504950" y="2144514"/>
            <a:ext cx="1928872"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GitHub repo</a:t>
            </a:r>
            <a:endParaRPr lang="en-US" sz="2200" dirty="0"/>
          </a:p>
        </p:txBody>
      </p:sp>
      <p:sp>
        <p:nvSpPr>
          <p:cNvPr id="6" name="Text 3"/>
          <p:cNvSpPr/>
          <p:nvPr/>
        </p:nvSpPr>
        <p:spPr>
          <a:xfrm>
            <a:off x="4242296" y="2180679"/>
            <a:ext cx="95952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9F45"/>
                </a:solidFill>
                <a:latin typeface="IBM Plex Sans" pitchFamily="34" charset="0"/>
                <a:ea typeface="IBM Plex Sans" pitchFamily="34" charset="-122"/>
                <a:cs typeface="IBM Plex Sans" pitchFamily="34" charset="-120"/>
              </a:rPr>
              <a:t>the recipe</a:t>
            </a:r>
            <a:endParaRPr lang="en-US" sz="1400" dirty="0"/>
          </a:p>
        </p:txBody>
      </p:sp>
      <p:sp>
        <p:nvSpPr>
          <p:cNvPr id="7" name="Text 4"/>
          <p:cNvSpPr/>
          <p:nvPr/>
        </p:nvSpPr>
        <p:spPr>
          <a:xfrm>
            <a:off x="1073150" y="2592784"/>
            <a:ext cx="4087812" cy="161012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client/</a:t>
            </a:r>
            <a:endParaRPr lang="en-US" sz="1300" dirty="0"/>
          </a:p>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server/</a:t>
            </a:r>
            <a:endParaRPr lang="en-US" sz="1300" dirty="0"/>
          </a:p>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client/Dockerfile</a:t>
            </a:r>
            <a:endParaRPr lang="en-US" sz="1300" dirty="0"/>
          </a:p>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server/Dockerfile</a:t>
            </a:r>
            <a:endParaRPr lang="en-US" sz="1300" dirty="0"/>
          </a:p>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docker-compose.yml</a:t>
            </a:r>
            <a:endParaRPr lang="en-US" sz="1300" dirty="0"/>
          </a:p>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.github/workflows/deploy.yml</a:t>
            </a:r>
            <a:endParaRPr lang="en-US" sz="1300" dirty="0"/>
          </a:p>
        </p:txBody>
      </p:sp>
      <p:sp>
        <p:nvSpPr>
          <p:cNvPr id="8" name="Text 5"/>
          <p:cNvSpPr/>
          <p:nvPr/>
        </p:nvSpPr>
        <p:spPr>
          <a:xfrm>
            <a:off x="1073150" y="4304506"/>
            <a:ext cx="3968750" cy="340320"/>
          </a:xfrm>
          <a:prstGeom prst="roundRect">
            <a:avLst>
              <a:gd name="adj" fmla="val 18659"/>
            </a:avLst>
          </a:prstGeom>
          <a:solidFill>
            <a:srgbClr val="F3F5F8"/>
          </a:solidFill>
          <a:ln/>
        </p:spPr>
        <p:txBody>
          <a:bodyPr wrap="square" lIns="95701" tIns="44901" rIns="0" bIns="19501" rtlCol="0" anchor="t">
            <a:normAutofit/>
          </a:bodyPr>
          <a:lstStyle/>
          <a:p>
            <a:pPr algn="l"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 git push</a:t>
            </a:r>
            <a:endParaRPr lang="en-US" sz="1200" dirty="0"/>
          </a:p>
        </p:txBody>
      </p:sp>
      <p:pic>
        <p:nvPicPr>
          <p:cNvPr id="9" name="Image 1" descr="arrow-right">    </p:cNvPr>
          <p:cNvPicPr>
            <a:picLocks noChangeAspect="1"/>
          </p:cNvPicPr>
          <p:nvPr/>
        </p:nvPicPr>
        <p:blipFill>
          <a:blip r:embed="rId2"/>
          <a:srcRect l="0" r="0" t="0" b="0"/>
          <a:stretch/>
        </p:blipFill>
        <p:spPr>
          <a:xfrm>
            <a:off x="5784850" y="3110210"/>
            <a:ext cx="609600" cy="279400"/>
          </a:xfrm>
          <a:prstGeom prst="rect">
            <a:avLst/>
          </a:prstGeom>
        </p:spPr>
      </p:pic>
      <p:sp>
        <p:nvSpPr>
          <p:cNvPr id="10" name="Text 6"/>
          <p:cNvSpPr/>
          <p:nvPr/>
        </p:nvSpPr>
        <p:spPr>
          <a:xfrm>
            <a:off x="5431239" y="3465810"/>
            <a:ext cx="131677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docker build</a:t>
            </a:r>
            <a:endParaRPr lang="en-US" sz="1200" dirty="0"/>
          </a:p>
        </p:txBody>
      </p:sp>
      <p:sp>
        <p:nvSpPr>
          <p:cNvPr id="11" name="Shape 7"/>
          <p:cNvSpPr/>
          <p:nvPr/>
        </p:nvSpPr>
        <p:spPr>
          <a:xfrm>
            <a:off x="6883400" y="1967954"/>
            <a:ext cx="4489450" cy="2853432"/>
          </a:xfrm>
          <a:prstGeom prst="roundRect">
            <a:avLst>
              <a:gd name="adj" fmla="val 5118"/>
            </a:avLst>
          </a:prstGeom>
          <a:solidFill>
            <a:srgbClr val="0D1A28"/>
          </a:solidFill>
          <a:ln w="12700">
            <a:solidFill>
              <a:srgbClr val="3BA4F5"/>
            </a:solidFill>
            <a:prstDash val="solid"/>
          </a:ln>
        </p:spPr>
      </p:sp>
      <p:pic>
        <p:nvPicPr>
          <p:cNvPr id="12" name="Image 2" descr="Cloud">    </p:cNvPr>
          <p:cNvPicPr>
            <a:picLocks noChangeAspect="1"/>
          </p:cNvPicPr>
          <p:nvPr/>
        </p:nvPicPr>
        <p:blipFill>
          <a:blip r:embed="rId3"/>
          <a:srcRect l="0" r="0" t="0" b="0"/>
          <a:stretch/>
        </p:blipFill>
        <p:spPr>
          <a:xfrm>
            <a:off x="7143750" y="2236539"/>
            <a:ext cx="304800" cy="304800"/>
          </a:xfrm>
          <a:prstGeom prst="rect">
            <a:avLst/>
          </a:prstGeom>
        </p:spPr>
      </p:pic>
      <p:sp>
        <p:nvSpPr>
          <p:cNvPr id="13" name="Text 8"/>
          <p:cNvSpPr/>
          <p:nvPr/>
        </p:nvSpPr>
        <p:spPr>
          <a:xfrm>
            <a:off x="7575550" y="2228304"/>
            <a:ext cx="137302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Registry</a:t>
            </a:r>
            <a:endParaRPr lang="en-US" sz="2200" dirty="0"/>
          </a:p>
        </p:txBody>
      </p:sp>
      <p:sp>
        <p:nvSpPr>
          <p:cNvPr id="14" name="Text 9"/>
          <p:cNvSpPr/>
          <p:nvPr/>
        </p:nvSpPr>
        <p:spPr>
          <a:xfrm>
            <a:off x="9822359" y="2264470"/>
            <a:ext cx="154414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9F45"/>
                </a:solidFill>
                <a:latin typeface="IBM Plex Sans" pitchFamily="34" charset="0"/>
                <a:ea typeface="IBM Plex Sans" pitchFamily="34" charset="-122"/>
                <a:cs typeface="IBM Plex Sans" pitchFamily="34" charset="-120"/>
              </a:rPr>
              <a:t>the packed tiffin</a:t>
            </a:r>
            <a:endParaRPr lang="en-US" sz="1400" dirty="0"/>
          </a:p>
        </p:txBody>
      </p:sp>
      <p:sp>
        <p:nvSpPr>
          <p:cNvPr id="15" name="Text 10"/>
          <p:cNvSpPr/>
          <p:nvPr/>
        </p:nvSpPr>
        <p:spPr>
          <a:xfrm>
            <a:off x="7143750" y="2676575"/>
            <a:ext cx="4087812" cy="81776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ghcr.io/you/shop-client:1.0</a:t>
            </a:r>
            <a:endParaRPr lang="en-US" sz="1300" dirty="0"/>
          </a:p>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ghcr.io/you/shop-api:1.0</a:t>
            </a:r>
            <a:endParaRPr lang="en-US" sz="1300" dirty="0"/>
          </a:p>
          <a:p>
            <a:pPr algn="l" indent="0" marL="0">
              <a:lnSpc>
                <a:spcPts val="2080"/>
              </a:lnSpc>
              <a:buNone/>
            </a:pPr>
            <a:r>
              <a:rPr lang="en-US" sz="1300" dirty="0">
                <a:solidFill>
                  <a:srgbClr val="BFD8F5"/>
                </a:solidFill>
                <a:latin typeface="JetBrains Mono" pitchFamily="49" charset="0"/>
                <a:ea typeface="JetBrains Mono" pitchFamily="49" charset="-122"/>
                <a:cs typeface="JetBrains Mono" pitchFamily="49" charset="-120"/>
              </a:rPr>
              <a:t>ghcr.io/you/shop-api:a1b2c3d</a:t>
            </a:r>
            <a:endParaRPr lang="en-US" sz="1300" dirty="0"/>
          </a:p>
        </p:txBody>
      </p:sp>
      <p:sp>
        <p:nvSpPr>
          <p:cNvPr id="16" name="Text 11"/>
          <p:cNvSpPr/>
          <p:nvPr/>
        </p:nvSpPr>
        <p:spPr>
          <a:xfrm>
            <a:off x="7143750" y="3595936"/>
            <a:ext cx="40878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Docker Hub · GitHub Container Registry · AWS ECR</a:t>
            </a:r>
            <a:endParaRPr lang="en-US" sz="1400" dirty="0"/>
          </a:p>
        </p:txBody>
      </p:sp>
      <p:sp>
        <p:nvSpPr>
          <p:cNvPr id="17" name="Text 12"/>
          <p:cNvSpPr/>
          <p:nvPr/>
        </p:nvSpPr>
        <p:spPr>
          <a:xfrm>
            <a:off x="7143750" y="4220716"/>
            <a:ext cx="3968750" cy="340320"/>
          </a:xfrm>
          <a:prstGeom prst="roundRect">
            <a:avLst>
              <a:gd name="adj" fmla="val 18659"/>
            </a:avLst>
          </a:prstGeom>
          <a:solidFill>
            <a:srgbClr val="3BA4F5"/>
          </a:solidFill>
          <a:ln/>
        </p:spPr>
        <p:txBody>
          <a:bodyPr wrap="square" lIns="95701" tIns="44901" rIns="0" bIns="19501" rtlCol="0" anchor="t">
            <a:normAutofit/>
          </a:bodyPr>
          <a:lstStyle/>
          <a:p>
            <a:pPr algn="l"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 docker push</a:t>
            </a:r>
            <a:endParaRPr lang="en-US" sz="1200" dirty="0"/>
          </a:p>
        </p:txBody>
      </p:sp>
      <p:sp>
        <p:nvSpPr>
          <p:cNvPr id="18" name="Shape 13"/>
          <p:cNvSpPr/>
          <p:nvPr/>
        </p:nvSpPr>
        <p:spPr>
          <a:xfrm>
            <a:off x="815975" y="5476875"/>
            <a:ext cx="10560050" cy="565150"/>
          </a:xfrm>
          <a:prstGeom prst="roundRect">
            <a:avLst>
              <a:gd name="adj" fmla="val 21910"/>
            </a:avLst>
          </a:prstGeom>
          <a:solidFill>
            <a:srgbClr val="24131A"/>
          </a:solidFill>
          <a:ln w="6350">
            <a:solidFill>
              <a:srgbClr val="FF6B6B"/>
            </a:solidFill>
            <a:prstDash val="solid"/>
          </a:ln>
        </p:spPr>
      </p:sp>
      <p:pic>
        <p:nvPicPr>
          <p:cNvPr id="19" name="Image 3" descr="Key">    </p:cNvPr>
          <p:cNvPicPr>
            <a:picLocks noChangeAspect="1"/>
          </p:cNvPicPr>
          <p:nvPr/>
        </p:nvPicPr>
        <p:blipFill>
          <a:blip r:embed="rId4"/>
          <a:srcRect l="0" r="0" t="0" b="0"/>
          <a:stretch/>
        </p:blipFill>
        <p:spPr>
          <a:xfrm>
            <a:off x="1047750" y="5632450"/>
            <a:ext cx="254000" cy="254000"/>
          </a:xfrm>
          <a:prstGeom prst="rect">
            <a:avLst/>
          </a:prstGeom>
        </p:spPr>
      </p:pic>
      <p:sp>
        <p:nvSpPr>
          <p:cNvPr id="20" name="Text 14"/>
          <p:cNvSpPr/>
          <p:nvPr/>
        </p:nvSpPr>
        <p:spPr>
          <a:xfrm>
            <a:off x="1428750" y="5634980"/>
            <a:ext cx="662767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.env goes in neither.</a:t>
            </a:r>
            <a:r>
              <a:rPr lang="en-US" sz="1400" dirty="0">
                <a:solidFill>
                  <a:srgbClr val="F3F5F8"/>
                </a:solidFill>
                <a:latin typeface="IBM Plex Sans" pitchFamily="34" charset="0"/>
                <a:ea typeface="IBM Plex Sans" pitchFamily="34" charset="-122"/>
                <a:cs typeface="IBM Plex Sans" pitchFamily="34" charset="-120"/>
              </a:rPr>
              <a:t> </a:t>
            </a:r>
            <a:r>
              <a:rPr lang="en-US" sz="1400" dirty="0">
                <a:solidFill>
                  <a:srgbClr val="A9B3C2"/>
                </a:solidFill>
                <a:latin typeface="IBM Plex Sans" pitchFamily="34" charset="0"/>
                <a:ea typeface="IBM Plex Sans" pitchFamily="34" charset="-122"/>
                <a:cs typeface="IBM Plex Sans" pitchFamily="34" charset="-120"/>
              </a:rPr>
              <a:t>Secrets live in GitHub Secrets and on the server.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From git push to live app</a:t>
            </a:r>
            <a:endParaRPr lang="en-US" sz="3600" dirty="0"/>
          </a:p>
        </p:txBody>
      </p:sp>
      <p:sp>
        <p:nvSpPr>
          <p:cNvPr id="3" name="Shape 1"/>
          <p:cNvSpPr/>
          <p:nvPr/>
        </p:nvSpPr>
        <p:spPr>
          <a:xfrm>
            <a:off x="815975" y="1680815"/>
            <a:ext cx="1413917" cy="1603921"/>
          </a:xfrm>
          <a:prstGeom prst="roundRect">
            <a:avLst>
              <a:gd name="adj" fmla="val 8758"/>
            </a:avLst>
          </a:prstGeom>
          <a:solidFill>
            <a:srgbClr val="141922"/>
          </a:solidFill>
          <a:ln w="6350">
            <a:solidFill>
              <a:srgbClr val="263041"/>
            </a:solidFill>
            <a:prstDash val="solid"/>
          </a:ln>
        </p:spPr>
      </p:sp>
      <p:sp>
        <p:nvSpPr>
          <p:cNvPr id="4" name="Text 2"/>
          <p:cNvSpPr/>
          <p:nvPr/>
        </p:nvSpPr>
        <p:spPr>
          <a:xfrm>
            <a:off x="971550" y="1861790"/>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JetBrains Mono" pitchFamily="49" charset="0"/>
                <a:ea typeface="JetBrains Mono" pitchFamily="49" charset="-122"/>
                <a:cs typeface="JetBrains Mono" pitchFamily="49" charset="-120"/>
              </a:rPr>
              <a:t>01</a:t>
            </a:r>
            <a:endParaRPr lang="en-US" sz="1200" dirty="0"/>
          </a:p>
        </p:txBody>
      </p:sp>
      <p:pic>
        <p:nvPicPr>
          <p:cNvPr id="5" name="Image 0" descr="Code">    </p:cNvPr>
          <p:cNvPicPr>
            <a:picLocks noChangeAspect="1"/>
          </p:cNvPicPr>
          <p:nvPr/>
        </p:nvPicPr>
        <p:blipFill>
          <a:blip r:embed="rId1"/>
          <a:srcRect l="0" r="0" t="0" b="0"/>
          <a:stretch/>
        </p:blipFill>
        <p:spPr>
          <a:xfrm>
            <a:off x="971550" y="2164011"/>
            <a:ext cx="304800" cy="304800"/>
          </a:xfrm>
          <a:prstGeom prst="rect">
            <a:avLst/>
          </a:prstGeom>
        </p:spPr>
      </p:pic>
      <p:sp>
        <p:nvSpPr>
          <p:cNvPr id="6" name="Text 3"/>
          <p:cNvSpPr/>
          <p:nvPr/>
        </p:nvSpPr>
        <p:spPr>
          <a:xfrm>
            <a:off x="971550" y="2557711"/>
            <a:ext cx="11535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Push</a:t>
            </a:r>
            <a:endParaRPr lang="en-US" sz="1600" dirty="0"/>
          </a:p>
        </p:txBody>
      </p:sp>
      <p:sp>
        <p:nvSpPr>
          <p:cNvPr id="7" name="Text 4"/>
          <p:cNvSpPr/>
          <p:nvPr/>
        </p:nvSpPr>
        <p:spPr>
          <a:xfrm>
            <a:off x="971550" y="2890441"/>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to main</a:t>
            </a:r>
            <a:endParaRPr lang="en-US" sz="1200" dirty="0"/>
          </a:p>
        </p:txBody>
      </p:sp>
      <p:pic>
        <p:nvPicPr>
          <p:cNvPr id="8" name="Image 1" descr="arrow-right">    </p:cNvPr>
          <p:cNvPicPr>
            <a:picLocks noChangeAspect="1"/>
          </p:cNvPicPr>
          <p:nvPr/>
        </p:nvPicPr>
        <p:blipFill>
          <a:blip r:embed="rId2"/>
          <a:srcRect l="0" r="0" t="0" b="0"/>
          <a:stretch/>
        </p:blipFill>
        <p:spPr>
          <a:xfrm>
            <a:off x="2309267" y="2412901"/>
            <a:ext cx="254000" cy="139700"/>
          </a:xfrm>
          <a:prstGeom prst="rect">
            <a:avLst/>
          </a:prstGeom>
        </p:spPr>
      </p:pic>
      <p:sp>
        <p:nvSpPr>
          <p:cNvPr id="9" name="Shape 5"/>
          <p:cNvSpPr/>
          <p:nvPr/>
        </p:nvSpPr>
        <p:spPr>
          <a:xfrm>
            <a:off x="2642642" y="1680815"/>
            <a:ext cx="1413966" cy="1603921"/>
          </a:xfrm>
          <a:prstGeom prst="roundRect">
            <a:avLst>
              <a:gd name="adj" fmla="val 8757"/>
            </a:avLst>
          </a:prstGeom>
          <a:solidFill>
            <a:srgbClr val="141922"/>
          </a:solidFill>
          <a:ln w="6350">
            <a:solidFill>
              <a:srgbClr val="263041"/>
            </a:solidFill>
            <a:prstDash val="solid"/>
          </a:ln>
        </p:spPr>
      </p:sp>
      <p:sp>
        <p:nvSpPr>
          <p:cNvPr id="10" name="Text 6"/>
          <p:cNvSpPr/>
          <p:nvPr/>
        </p:nvSpPr>
        <p:spPr>
          <a:xfrm>
            <a:off x="2798217" y="1861790"/>
            <a:ext cx="1153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JetBrains Mono" pitchFamily="49" charset="0"/>
                <a:ea typeface="JetBrains Mono" pitchFamily="49" charset="-122"/>
                <a:cs typeface="JetBrains Mono" pitchFamily="49" charset="-120"/>
              </a:rPr>
              <a:t>02</a:t>
            </a:r>
            <a:endParaRPr lang="en-US" sz="1200" dirty="0"/>
          </a:p>
        </p:txBody>
      </p:sp>
      <p:pic>
        <p:nvPicPr>
          <p:cNvPr id="11" name="Image 2" descr="Lightning">    </p:cNvPr>
          <p:cNvPicPr>
            <a:picLocks noChangeAspect="1"/>
          </p:cNvPicPr>
          <p:nvPr/>
        </p:nvPicPr>
        <p:blipFill>
          <a:blip r:embed="rId3"/>
          <a:srcRect l="0" r="0" t="0" b="0"/>
          <a:stretch/>
        </p:blipFill>
        <p:spPr>
          <a:xfrm>
            <a:off x="2798217" y="2164011"/>
            <a:ext cx="304800" cy="304800"/>
          </a:xfrm>
          <a:prstGeom prst="rect">
            <a:avLst/>
          </a:prstGeom>
        </p:spPr>
      </p:pic>
      <p:sp>
        <p:nvSpPr>
          <p:cNvPr id="12" name="Text 7"/>
          <p:cNvSpPr/>
          <p:nvPr/>
        </p:nvSpPr>
        <p:spPr>
          <a:xfrm>
            <a:off x="2798217" y="2557711"/>
            <a:ext cx="11536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Trigger</a:t>
            </a:r>
            <a:endParaRPr lang="en-US" sz="1600" dirty="0"/>
          </a:p>
        </p:txBody>
      </p:sp>
      <p:sp>
        <p:nvSpPr>
          <p:cNvPr id="13" name="Text 8"/>
          <p:cNvSpPr/>
          <p:nvPr/>
        </p:nvSpPr>
        <p:spPr>
          <a:xfrm>
            <a:off x="2798217" y="2890441"/>
            <a:ext cx="1153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Actions starts</a:t>
            </a:r>
            <a:endParaRPr lang="en-US" sz="1200" dirty="0"/>
          </a:p>
        </p:txBody>
      </p:sp>
      <p:pic>
        <p:nvPicPr>
          <p:cNvPr id="14" name="Image 3" descr="arrow-right">    </p:cNvPr>
          <p:cNvPicPr>
            <a:picLocks noChangeAspect="1"/>
          </p:cNvPicPr>
          <p:nvPr/>
        </p:nvPicPr>
        <p:blipFill>
          <a:blip r:embed="rId4"/>
          <a:srcRect l="0" r="0" t="0" b="0"/>
          <a:stretch/>
        </p:blipFill>
        <p:spPr>
          <a:xfrm>
            <a:off x="4135983" y="2412901"/>
            <a:ext cx="254000" cy="139700"/>
          </a:xfrm>
          <a:prstGeom prst="rect">
            <a:avLst/>
          </a:prstGeom>
        </p:spPr>
      </p:pic>
      <p:sp>
        <p:nvSpPr>
          <p:cNvPr id="15" name="Shape 9"/>
          <p:cNvSpPr/>
          <p:nvPr/>
        </p:nvSpPr>
        <p:spPr>
          <a:xfrm>
            <a:off x="4469358" y="1680815"/>
            <a:ext cx="1413917" cy="1603921"/>
          </a:xfrm>
          <a:prstGeom prst="roundRect">
            <a:avLst>
              <a:gd name="adj" fmla="val 8758"/>
            </a:avLst>
          </a:prstGeom>
          <a:solidFill>
            <a:srgbClr val="141922"/>
          </a:solidFill>
          <a:ln w="6350">
            <a:solidFill>
              <a:srgbClr val="263041"/>
            </a:solidFill>
            <a:prstDash val="solid"/>
          </a:ln>
        </p:spPr>
      </p:sp>
      <p:sp>
        <p:nvSpPr>
          <p:cNvPr id="16" name="Text 10"/>
          <p:cNvSpPr/>
          <p:nvPr/>
        </p:nvSpPr>
        <p:spPr>
          <a:xfrm>
            <a:off x="4624933" y="1861790"/>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JetBrains Mono" pitchFamily="49" charset="0"/>
                <a:ea typeface="JetBrains Mono" pitchFamily="49" charset="-122"/>
                <a:cs typeface="JetBrains Mono" pitchFamily="49" charset="-120"/>
              </a:rPr>
              <a:t>03</a:t>
            </a:r>
            <a:endParaRPr lang="en-US" sz="1200" dirty="0"/>
          </a:p>
        </p:txBody>
      </p:sp>
      <p:pic>
        <p:nvPicPr>
          <p:cNvPr id="17" name="Image 4" descr="CheckCircle">    </p:cNvPr>
          <p:cNvPicPr>
            <a:picLocks noChangeAspect="1"/>
          </p:cNvPicPr>
          <p:nvPr/>
        </p:nvPicPr>
        <p:blipFill>
          <a:blip r:embed="rId5"/>
          <a:srcRect l="0" r="0" t="0" b="0"/>
          <a:stretch/>
        </p:blipFill>
        <p:spPr>
          <a:xfrm>
            <a:off x="4624933" y="2164011"/>
            <a:ext cx="304800" cy="304800"/>
          </a:xfrm>
          <a:prstGeom prst="rect">
            <a:avLst/>
          </a:prstGeom>
        </p:spPr>
      </p:pic>
      <p:sp>
        <p:nvSpPr>
          <p:cNvPr id="18" name="Text 11"/>
          <p:cNvSpPr/>
          <p:nvPr/>
        </p:nvSpPr>
        <p:spPr>
          <a:xfrm>
            <a:off x="4624933" y="2557711"/>
            <a:ext cx="11535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Test</a:t>
            </a:r>
            <a:endParaRPr lang="en-US" sz="1600" dirty="0"/>
          </a:p>
        </p:txBody>
      </p:sp>
      <p:sp>
        <p:nvSpPr>
          <p:cNvPr id="19" name="Text 12"/>
          <p:cNvSpPr/>
          <p:nvPr/>
        </p:nvSpPr>
        <p:spPr>
          <a:xfrm>
            <a:off x="4624933" y="2890441"/>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npm test</a:t>
            </a:r>
            <a:endParaRPr lang="en-US" sz="1200" dirty="0"/>
          </a:p>
        </p:txBody>
      </p:sp>
      <p:pic>
        <p:nvPicPr>
          <p:cNvPr id="20" name="Image 5" descr="arrow-right">    </p:cNvPr>
          <p:cNvPicPr>
            <a:picLocks noChangeAspect="1"/>
          </p:cNvPicPr>
          <p:nvPr/>
        </p:nvPicPr>
        <p:blipFill>
          <a:blip r:embed="rId6"/>
          <a:srcRect l="0" r="0" t="0" b="0"/>
          <a:stretch/>
        </p:blipFill>
        <p:spPr>
          <a:xfrm>
            <a:off x="5962650" y="2412901"/>
            <a:ext cx="254000" cy="139700"/>
          </a:xfrm>
          <a:prstGeom prst="rect">
            <a:avLst/>
          </a:prstGeom>
        </p:spPr>
      </p:pic>
      <p:sp>
        <p:nvSpPr>
          <p:cNvPr id="21" name="Shape 13"/>
          <p:cNvSpPr/>
          <p:nvPr/>
        </p:nvSpPr>
        <p:spPr>
          <a:xfrm>
            <a:off x="6296025" y="1680815"/>
            <a:ext cx="1413966" cy="1603921"/>
          </a:xfrm>
          <a:prstGeom prst="roundRect">
            <a:avLst>
              <a:gd name="adj" fmla="val 8757"/>
            </a:avLst>
          </a:prstGeom>
          <a:solidFill>
            <a:srgbClr val="141922"/>
          </a:solidFill>
          <a:ln w="6350">
            <a:solidFill>
              <a:srgbClr val="263041"/>
            </a:solidFill>
            <a:prstDash val="solid"/>
          </a:ln>
        </p:spPr>
      </p:sp>
      <p:sp>
        <p:nvSpPr>
          <p:cNvPr id="22" name="Text 14"/>
          <p:cNvSpPr/>
          <p:nvPr/>
        </p:nvSpPr>
        <p:spPr>
          <a:xfrm>
            <a:off x="6451600" y="1861790"/>
            <a:ext cx="1153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JetBrains Mono" pitchFamily="49" charset="0"/>
                <a:ea typeface="JetBrains Mono" pitchFamily="49" charset="-122"/>
                <a:cs typeface="JetBrains Mono" pitchFamily="49" charset="-120"/>
              </a:rPr>
              <a:t>04</a:t>
            </a:r>
            <a:endParaRPr lang="en-US" sz="1200" dirty="0"/>
          </a:p>
        </p:txBody>
      </p:sp>
      <p:pic>
        <p:nvPicPr>
          <p:cNvPr id="23" name="Image 6" descr="Settings">    </p:cNvPr>
          <p:cNvPicPr>
            <a:picLocks noChangeAspect="1"/>
          </p:cNvPicPr>
          <p:nvPr/>
        </p:nvPicPr>
        <p:blipFill>
          <a:blip r:embed="rId7"/>
          <a:srcRect l="0" r="0" t="0" b="0"/>
          <a:stretch/>
        </p:blipFill>
        <p:spPr>
          <a:xfrm>
            <a:off x="6451600" y="2164011"/>
            <a:ext cx="304800" cy="304800"/>
          </a:xfrm>
          <a:prstGeom prst="rect">
            <a:avLst/>
          </a:prstGeom>
        </p:spPr>
      </p:pic>
      <p:sp>
        <p:nvSpPr>
          <p:cNvPr id="24" name="Text 15"/>
          <p:cNvSpPr/>
          <p:nvPr/>
        </p:nvSpPr>
        <p:spPr>
          <a:xfrm>
            <a:off x="6451600" y="2557711"/>
            <a:ext cx="11536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Build</a:t>
            </a:r>
            <a:endParaRPr lang="en-US" sz="1600" dirty="0"/>
          </a:p>
        </p:txBody>
      </p:sp>
      <p:sp>
        <p:nvSpPr>
          <p:cNvPr id="25" name="Text 16"/>
          <p:cNvSpPr/>
          <p:nvPr/>
        </p:nvSpPr>
        <p:spPr>
          <a:xfrm>
            <a:off x="6451600" y="2890441"/>
            <a:ext cx="1153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docker build</a:t>
            </a:r>
            <a:endParaRPr lang="en-US" sz="1200" dirty="0"/>
          </a:p>
        </p:txBody>
      </p:sp>
      <p:pic>
        <p:nvPicPr>
          <p:cNvPr id="26" name="Image 7" descr="arrow-right">    </p:cNvPr>
          <p:cNvPicPr>
            <a:picLocks noChangeAspect="1"/>
          </p:cNvPicPr>
          <p:nvPr/>
        </p:nvPicPr>
        <p:blipFill>
          <a:blip r:embed="rId8"/>
          <a:srcRect l="0" r="0" t="0" b="0"/>
          <a:stretch/>
        </p:blipFill>
        <p:spPr>
          <a:xfrm>
            <a:off x="7789366" y="2412901"/>
            <a:ext cx="254000" cy="139700"/>
          </a:xfrm>
          <a:prstGeom prst="rect">
            <a:avLst/>
          </a:prstGeom>
        </p:spPr>
      </p:pic>
      <p:sp>
        <p:nvSpPr>
          <p:cNvPr id="27" name="Shape 17"/>
          <p:cNvSpPr/>
          <p:nvPr/>
        </p:nvSpPr>
        <p:spPr>
          <a:xfrm>
            <a:off x="8122741" y="1680815"/>
            <a:ext cx="1413917" cy="1603921"/>
          </a:xfrm>
          <a:prstGeom prst="roundRect">
            <a:avLst>
              <a:gd name="adj" fmla="val 8758"/>
            </a:avLst>
          </a:prstGeom>
          <a:solidFill>
            <a:srgbClr val="141922"/>
          </a:solidFill>
          <a:ln w="6350">
            <a:solidFill>
              <a:srgbClr val="263041"/>
            </a:solidFill>
            <a:prstDash val="solid"/>
          </a:ln>
        </p:spPr>
      </p:sp>
      <p:sp>
        <p:nvSpPr>
          <p:cNvPr id="28" name="Text 18"/>
          <p:cNvSpPr/>
          <p:nvPr/>
        </p:nvSpPr>
        <p:spPr>
          <a:xfrm>
            <a:off x="8278316" y="1861790"/>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JetBrains Mono" pitchFamily="49" charset="0"/>
                <a:ea typeface="JetBrains Mono" pitchFamily="49" charset="-122"/>
                <a:cs typeface="JetBrains Mono" pitchFamily="49" charset="-120"/>
              </a:rPr>
              <a:t>05</a:t>
            </a:r>
            <a:endParaRPr lang="en-US" sz="1200" dirty="0"/>
          </a:p>
        </p:txBody>
      </p:sp>
      <p:pic>
        <p:nvPicPr>
          <p:cNvPr id="29" name="Image 8" descr="Cloud">    </p:cNvPr>
          <p:cNvPicPr>
            <a:picLocks noChangeAspect="1"/>
          </p:cNvPicPr>
          <p:nvPr/>
        </p:nvPicPr>
        <p:blipFill>
          <a:blip r:embed="rId9"/>
          <a:srcRect l="0" r="0" t="0" b="0"/>
          <a:stretch/>
        </p:blipFill>
        <p:spPr>
          <a:xfrm>
            <a:off x="8278316" y="2164011"/>
            <a:ext cx="304800" cy="304800"/>
          </a:xfrm>
          <a:prstGeom prst="rect">
            <a:avLst/>
          </a:prstGeom>
        </p:spPr>
      </p:pic>
      <p:sp>
        <p:nvSpPr>
          <p:cNvPr id="30" name="Text 19"/>
          <p:cNvSpPr/>
          <p:nvPr/>
        </p:nvSpPr>
        <p:spPr>
          <a:xfrm>
            <a:off x="8278316" y="2557711"/>
            <a:ext cx="11535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Push</a:t>
            </a:r>
            <a:endParaRPr lang="en-US" sz="1600" dirty="0"/>
          </a:p>
        </p:txBody>
      </p:sp>
      <p:sp>
        <p:nvSpPr>
          <p:cNvPr id="31" name="Text 20"/>
          <p:cNvSpPr/>
          <p:nvPr/>
        </p:nvSpPr>
        <p:spPr>
          <a:xfrm>
            <a:off x="8278316" y="2890441"/>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image to GHCR</a:t>
            </a:r>
            <a:endParaRPr lang="en-US" sz="1200" dirty="0"/>
          </a:p>
        </p:txBody>
      </p:sp>
      <p:pic>
        <p:nvPicPr>
          <p:cNvPr id="32" name="Image 9" descr="arrow-right">    </p:cNvPr>
          <p:cNvPicPr>
            <a:picLocks noChangeAspect="1"/>
          </p:cNvPicPr>
          <p:nvPr/>
        </p:nvPicPr>
        <p:blipFill>
          <a:blip r:embed="rId10"/>
          <a:srcRect l="0" r="0" t="0" b="0"/>
          <a:stretch/>
        </p:blipFill>
        <p:spPr>
          <a:xfrm>
            <a:off x="9616033" y="2412901"/>
            <a:ext cx="254000" cy="139700"/>
          </a:xfrm>
          <a:prstGeom prst="rect">
            <a:avLst/>
          </a:prstGeom>
        </p:spPr>
      </p:pic>
      <p:sp>
        <p:nvSpPr>
          <p:cNvPr id="33" name="Shape 21"/>
          <p:cNvSpPr/>
          <p:nvPr/>
        </p:nvSpPr>
        <p:spPr>
          <a:xfrm>
            <a:off x="9952583" y="1677640"/>
            <a:ext cx="1420267" cy="1610271"/>
          </a:xfrm>
          <a:prstGeom prst="roundRect">
            <a:avLst>
              <a:gd name="adj" fmla="val 8495"/>
            </a:avLst>
          </a:prstGeom>
          <a:solidFill>
            <a:srgbClr val="0D1A28"/>
          </a:solidFill>
          <a:ln w="12700">
            <a:solidFill>
              <a:srgbClr val="3BA4F5"/>
            </a:solidFill>
            <a:prstDash val="solid"/>
          </a:ln>
        </p:spPr>
      </p:sp>
      <p:sp>
        <p:nvSpPr>
          <p:cNvPr id="34" name="Text 22"/>
          <p:cNvSpPr/>
          <p:nvPr/>
        </p:nvSpPr>
        <p:spPr>
          <a:xfrm>
            <a:off x="10111333" y="1861790"/>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JetBrains Mono" pitchFamily="49" charset="0"/>
                <a:ea typeface="JetBrains Mono" pitchFamily="49" charset="-122"/>
                <a:cs typeface="JetBrains Mono" pitchFamily="49" charset="-120"/>
              </a:rPr>
              <a:t>06</a:t>
            </a:r>
            <a:endParaRPr lang="en-US" sz="1200" dirty="0"/>
          </a:p>
        </p:txBody>
      </p:sp>
      <p:pic>
        <p:nvPicPr>
          <p:cNvPr id="35" name="Image 10" descr="Globe">    </p:cNvPr>
          <p:cNvPicPr>
            <a:picLocks noChangeAspect="1"/>
          </p:cNvPicPr>
          <p:nvPr/>
        </p:nvPicPr>
        <p:blipFill>
          <a:blip r:embed="rId11"/>
          <a:srcRect l="0" r="0" t="0" b="0"/>
          <a:stretch/>
        </p:blipFill>
        <p:spPr>
          <a:xfrm>
            <a:off x="10111333" y="2164011"/>
            <a:ext cx="304800" cy="304800"/>
          </a:xfrm>
          <a:prstGeom prst="rect">
            <a:avLst/>
          </a:prstGeom>
        </p:spPr>
      </p:pic>
      <p:sp>
        <p:nvSpPr>
          <p:cNvPr id="36" name="Text 23"/>
          <p:cNvSpPr/>
          <p:nvPr/>
        </p:nvSpPr>
        <p:spPr>
          <a:xfrm>
            <a:off x="10111333" y="2557711"/>
            <a:ext cx="11535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Deploy</a:t>
            </a:r>
            <a:endParaRPr lang="en-US" sz="1600" dirty="0"/>
          </a:p>
        </p:txBody>
      </p:sp>
      <p:sp>
        <p:nvSpPr>
          <p:cNvPr id="37" name="Text 24"/>
          <p:cNvSpPr/>
          <p:nvPr/>
        </p:nvSpPr>
        <p:spPr>
          <a:xfrm>
            <a:off x="10111333" y="2890441"/>
            <a:ext cx="1153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server pulls it</a:t>
            </a:r>
            <a:endParaRPr lang="en-US" sz="1200" dirty="0"/>
          </a:p>
        </p:txBody>
      </p:sp>
      <p:sp>
        <p:nvSpPr>
          <p:cNvPr id="38" name="Shape 25"/>
          <p:cNvSpPr/>
          <p:nvPr/>
        </p:nvSpPr>
        <p:spPr>
          <a:xfrm>
            <a:off x="815975" y="3653036"/>
            <a:ext cx="3397250" cy="2388989"/>
          </a:xfrm>
          <a:prstGeom prst="roundRect">
            <a:avLst>
              <a:gd name="adj" fmla="val 5183"/>
            </a:avLst>
          </a:prstGeom>
          <a:solidFill>
            <a:srgbClr val="141922"/>
          </a:solidFill>
          <a:ln w="6350">
            <a:solidFill>
              <a:srgbClr val="263041"/>
            </a:solidFill>
            <a:prstDash val="solid"/>
          </a:ln>
        </p:spPr>
      </p:sp>
      <p:sp>
        <p:nvSpPr>
          <p:cNvPr id="39" name="Text 26"/>
          <p:cNvSpPr/>
          <p:nvPr/>
        </p:nvSpPr>
        <p:spPr>
          <a:xfrm>
            <a:off x="1047750" y="3884811"/>
            <a:ext cx="30217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Tests fail?</a:t>
            </a:r>
            <a:endParaRPr lang="en-US" sz="1600" dirty="0"/>
          </a:p>
        </p:txBody>
      </p:sp>
      <p:sp>
        <p:nvSpPr>
          <p:cNvPr id="40" name="Text 27"/>
          <p:cNvSpPr/>
          <p:nvPr/>
        </p:nvSpPr>
        <p:spPr>
          <a:xfrm>
            <a:off x="1047750" y="4230241"/>
            <a:ext cx="30217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Pipeline stops. Broken code never reaches users.</a:t>
            </a:r>
            <a:endParaRPr lang="en-US" sz="1400" dirty="0"/>
          </a:p>
        </p:txBody>
      </p:sp>
      <p:sp>
        <p:nvSpPr>
          <p:cNvPr id="41" name="Shape 28"/>
          <p:cNvSpPr/>
          <p:nvPr/>
        </p:nvSpPr>
        <p:spPr>
          <a:xfrm>
            <a:off x="4397375" y="3653036"/>
            <a:ext cx="3397250" cy="2388989"/>
          </a:xfrm>
          <a:prstGeom prst="roundRect">
            <a:avLst>
              <a:gd name="adj" fmla="val 5183"/>
            </a:avLst>
          </a:prstGeom>
          <a:solidFill>
            <a:srgbClr val="141922"/>
          </a:solidFill>
          <a:ln w="6350">
            <a:solidFill>
              <a:srgbClr val="263041"/>
            </a:solidFill>
            <a:prstDash val="solid"/>
          </a:ln>
        </p:spPr>
      </p:sp>
      <p:sp>
        <p:nvSpPr>
          <p:cNvPr id="42" name="Text 29"/>
          <p:cNvSpPr/>
          <p:nvPr/>
        </p:nvSpPr>
        <p:spPr>
          <a:xfrm>
            <a:off x="4629150" y="3884811"/>
            <a:ext cx="30217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Tagged by commit</a:t>
            </a:r>
            <a:endParaRPr lang="en-US" sz="1600" dirty="0"/>
          </a:p>
        </p:txBody>
      </p:sp>
      <p:sp>
        <p:nvSpPr>
          <p:cNvPr id="43" name="Text 30"/>
          <p:cNvSpPr/>
          <p:nvPr/>
        </p:nvSpPr>
        <p:spPr>
          <a:xfrm>
            <a:off x="4629150" y="4230241"/>
            <a:ext cx="30217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Every image maps to one commit. Rollback = run the old tag.</a:t>
            </a:r>
            <a:endParaRPr lang="en-US" sz="1400" dirty="0"/>
          </a:p>
        </p:txBody>
      </p:sp>
      <p:sp>
        <p:nvSpPr>
          <p:cNvPr id="44" name="Shape 31"/>
          <p:cNvSpPr/>
          <p:nvPr/>
        </p:nvSpPr>
        <p:spPr>
          <a:xfrm>
            <a:off x="7978775" y="3653036"/>
            <a:ext cx="3397250" cy="2388989"/>
          </a:xfrm>
          <a:prstGeom prst="roundRect">
            <a:avLst>
              <a:gd name="adj" fmla="val 5183"/>
            </a:avLst>
          </a:prstGeom>
          <a:solidFill>
            <a:srgbClr val="141922"/>
          </a:solidFill>
          <a:ln w="6350">
            <a:solidFill>
              <a:srgbClr val="263041"/>
            </a:solidFill>
            <a:prstDash val="solid"/>
          </a:ln>
        </p:spPr>
      </p:sp>
      <p:sp>
        <p:nvSpPr>
          <p:cNvPr id="45" name="Text 32"/>
          <p:cNvSpPr/>
          <p:nvPr/>
        </p:nvSpPr>
        <p:spPr>
          <a:xfrm>
            <a:off x="8210550" y="3884811"/>
            <a:ext cx="30217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Zero manual steps</a:t>
            </a:r>
            <a:endParaRPr lang="en-US" sz="1600" dirty="0"/>
          </a:p>
        </p:txBody>
      </p:sp>
      <p:sp>
        <p:nvSpPr>
          <p:cNvPr id="46" name="Text 33"/>
          <p:cNvSpPr/>
          <p:nvPr/>
        </p:nvSpPr>
        <p:spPr>
          <a:xfrm>
            <a:off x="8210550" y="4230241"/>
            <a:ext cx="30217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Nobody copies files to a server by hand at midnight.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You write the workflow</a:t>
            </a:r>
            <a:endParaRPr lang="en-US" sz="3600" dirty="0"/>
          </a:p>
        </p:txBody>
      </p:sp>
      <p:sp>
        <p:nvSpPr>
          <p:cNvPr id="3" name="Shape 1"/>
          <p:cNvSpPr/>
          <p:nvPr/>
        </p:nvSpPr>
        <p:spPr>
          <a:xfrm>
            <a:off x="815975" y="1674465"/>
            <a:ext cx="5327650" cy="4367560"/>
          </a:xfrm>
          <a:prstGeom prst="roundRect">
            <a:avLst>
              <a:gd name="adj" fmla="val 3417"/>
            </a:avLst>
          </a:prstGeom>
          <a:solidFill>
            <a:srgbClr val="06080B"/>
          </a:solidFill>
          <a:ln w="6350">
            <a:solidFill>
              <a:srgbClr val="263041"/>
            </a:solidFill>
            <a:prstDash val="solid"/>
          </a:ln>
        </p:spPr>
      </p:sp>
      <p:sp>
        <p:nvSpPr>
          <p:cNvPr id="4" name="Text 2"/>
          <p:cNvSpPr/>
          <p:nvPr/>
        </p:nvSpPr>
        <p:spPr>
          <a:xfrm>
            <a:off x="1047750" y="1906240"/>
            <a:ext cx="5010023" cy="238075"/>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7689"/>
                </a:solidFill>
                <a:latin typeface="JetBrains Mono" pitchFamily="49" charset="0"/>
                <a:ea typeface="JetBrains Mono" pitchFamily="49" charset="-122"/>
                <a:cs typeface="JetBrains Mono" pitchFamily="49" charset="-120"/>
              </a:rPr>
              <a:t>.github/workflows/deploy.yml</a:t>
            </a:r>
            <a:endParaRPr lang="en-US" sz="1196" dirty="0"/>
          </a:p>
        </p:txBody>
      </p:sp>
      <p:sp>
        <p:nvSpPr>
          <p:cNvPr id="5" name="Text 3"/>
          <p:cNvSpPr/>
          <p:nvPr/>
        </p:nvSpPr>
        <p:spPr>
          <a:xfrm>
            <a:off x="1047750" y="2195116"/>
            <a:ext cx="5010023" cy="3640534"/>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3BA4F5"/>
                </a:solidFill>
                <a:latin typeface="JetBrains Mono" pitchFamily="49" charset="0"/>
                <a:ea typeface="JetBrains Mono" pitchFamily="49" charset="-122"/>
                <a:cs typeface="JetBrains Mono" pitchFamily="49" charset="-120"/>
              </a:rPr>
              <a:t>name:</a:t>
            </a:r>
            <a:r>
              <a:rPr lang="en-US" sz="1196" dirty="0">
                <a:solidFill>
                  <a:srgbClr val="E6EAF0"/>
                </a:solidFill>
                <a:latin typeface="JetBrains Mono" pitchFamily="49" charset="0"/>
                <a:ea typeface="JetBrains Mono" pitchFamily="49" charset="-122"/>
                <a:cs typeface="JetBrains Mono" pitchFamily="49" charset="-120"/>
              </a:rPr>
              <a:t> build-and-push</a:t>
            </a:r>
            <a:endParaRPr lang="en-US" sz="1196" dirty="0"/>
          </a:p>
          <a:p>
            <a:pPr algn="l" indent="0" marL="0">
              <a:lnSpc>
                <a:spcPts val="1675"/>
              </a:lnSpc>
              <a:buNone/>
            </a:pPr>
            <a:r>
              <a:rPr lang="en-US" sz="1196" dirty="0">
                <a:solidFill>
                  <a:srgbClr val="3BA4F5"/>
                </a:solidFill>
                <a:latin typeface="JetBrains Mono" pitchFamily="49" charset="0"/>
                <a:ea typeface="JetBrains Mono" pitchFamily="49" charset="-122"/>
                <a:cs typeface="JetBrains Mono" pitchFamily="49" charset="-120"/>
              </a:rPr>
              <a:t>on:</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push:</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branches: [main]</a:t>
            </a:r>
            <a:endParaRPr lang="en-US" sz="1196" dirty="0"/>
          </a:p>
          <a:p>
            <a:pPr algn="l" indent="0" marL="0">
              <a:lnSpc>
                <a:spcPts val="1675"/>
              </a:lnSpc>
              <a:buNone/>
            </a:pPr>
            <a:r>
              <a:rPr lang="en-US" sz="1196" dirty="0">
                <a:solidFill>
                  <a:srgbClr val="3BA4F5"/>
                </a:solidFill>
                <a:latin typeface="JetBrains Mono" pitchFamily="49" charset="0"/>
                <a:ea typeface="JetBrains Mono" pitchFamily="49" charset="-122"/>
                <a:cs typeface="JetBrains Mono" pitchFamily="49" charset="-120"/>
              </a:rPr>
              <a:t>jobs:</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docker:</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runs-on: ubuntu-latest</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steps:</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 uses: actions/checkout@v4</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 run: npm ci &amp;&amp; npm test</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 uses: docker/login-action@v3</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with: { registry: ghcr.io, … }</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 uses: docker/build-push-action@v6</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with:</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push: true</a:t>
            </a:r>
            <a:endParaRPr lang="en-US" sz="1196" dirty="0"/>
          </a:p>
          <a:p>
            <a:pPr algn="l" indent="0" marL="0">
              <a:lnSpc>
                <a:spcPts val="1675"/>
              </a:lnSpc>
              <a:buNone/>
            </a:pPr>
            <a:r>
              <a:rPr lang="en-US" sz="1196" dirty="0">
                <a:solidFill>
                  <a:srgbClr val="E6EAF0"/>
                </a:solidFill>
                <a:latin typeface="JetBrains Mono" pitchFamily="49" charset="0"/>
                <a:ea typeface="JetBrains Mono" pitchFamily="49" charset="-122"/>
                <a:cs typeface="JetBrains Mono" pitchFamily="49" charset="-120"/>
              </a:rPr>
              <a:t>          tags: </a:t>
            </a:r>
            <a:r>
              <a:rPr lang="en-US" sz="1196" dirty="0">
                <a:solidFill>
                  <a:srgbClr val="FF9F45"/>
                </a:solidFill>
                <a:latin typeface="JetBrains Mono" pitchFamily="49" charset="0"/>
                <a:ea typeface="JetBrains Mono" pitchFamily="49" charset="-122"/>
                <a:cs typeface="JetBrains Mono" pitchFamily="49" charset="-120"/>
              </a:rPr>
              <a:t>ghcr.io/you/shop-api:${{ github.sha }}</a:t>
            </a:r>
            <a:endParaRPr lang="en-US" sz="1196" dirty="0"/>
          </a:p>
        </p:txBody>
      </p:sp>
      <p:sp>
        <p:nvSpPr>
          <p:cNvPr id="6" name="Shape 4"/>
          <p:cNvSpPr/>
          <p:nvPr/>
        </p:nvSpPr>
        <p:spPr>
          <a:xfrm>
            <a:off x="6454775" y="1674465"/>
            <a:ext cx="4921250" cy="1350020"/>
          </a:xfrm>
          <a:prstGeom prst="roundRect">
            <a:avLst>
              <a:gd name="adj" fmla="val 9172"/>
            </a:avLst>
          </a:prstGeom>
          <a:solidFill>
            <a:srgbClr val="141922"/>
          </a:solidFill>
          <a:ln w="6350">
            <a:solidFill>
              <a:srgbClr val="263041"/>
            </a:solidFill>
            <a:prstDash val="solid"/>
          </a:ln>
        </p:spPr>
      </p:sp>
      <p:pic>
        <p:nvPicPr>
          <p:cNvPr id="7" name="Image 0" descr="Book">    </p:cNvPr>
          <p:cNvPicPr>
            <a:picLocks noChangeAspect="1"/>
          </p:cNvPicPr>
          <p:nvPr/>
        </p:nvPicPr>
        <p:blipFill>
          <a:blip r:embed="rId1"/>
          <a:srcRect l="0" r="0" t="0" b="0"/>
          <a:stretch/>
        </p:blipFill>
        <p:spPr>
          <a:xfrm>
            <a:off x="6661150" y="1880840"/>
            <a:ext cx="279400" cy="279400"/>
          </a:xfrm>
          <a:prstGeom prst="rect">
            <a:avLst/>
          </a:prstGeom>
        </p:spPr>
      </p:pic>
      <p:sp>
        <p:nvSpPr>
          <p:cNvPr id="8" name="Text 5"/>
          <p:cNvSpPr/>
          <p:nvPr/>
        </p:nvSpPr>
        <p:spPr>
          <a:xfrm>
            <a:off x="7092950" y="1880840"/>
            <a:ext cx="419900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A file in your repo</a:t>
            </a:r>
            <a:endParaRPr lang="en-US" sz="1600" dirty="0"/>
          </a:p>
        </p:txBody>
      </p:sp>
      <p:sp>
        <p:nvSpPr>
          <p:cNvPr id="9" name="Text 6"/>
          <p:cNvSpPr/>
          <p:nvPr/>
        </p:nvSpPr>
        <p:spPr>
          <a:xfrm>
            <a:off x="7092950" y="2188170"/>
            <a:ext cx="419900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You write it once. GitHub runs it on every push.</a:t>
            </a:r>
            <a:endParaRPr lang="en-US" sz="1400" dirty="0"/>
          </a:p>
        </p:txBody>
      </p:sp>
      <p:sp>
        <p:nvSpPr>
          <p:cNvPr id="10" name="Shape 7"/>
          <p:cNvSpPr/>
          <p:nvPr/>
        </p:nvSpPr>
        <p:spPr>
          <a:xfrm>
            <a:off x="6454775" y="3183235"/>
            <a:ext cx="4921250" cy="1350020"/>
          </a:xfrm>
          <a:prstGeom prst="roundRect">
            <a:avLst>
              <a:gd name="adj" fmla="val 9172"/>
            </a:avLst>
          </a:prstGeom>
          <a:solidFill>
            <a:srgbClr val="141922"/>
          </a:solidFill>
          <a:ln w="6350">
            <a:solidFill>
              <a:srgbClr val="263041"/>
            </a:solidFill>
            <a:prstDash val="solid"/>
          </a:ln>
        </p:spPr>
      </p:sp>
      <p:pic>
        <p:nvPicPr>
          <p:cNvPr id="11" name="Image 1" descr="Key">    </p:cNvPr>
          <p:cNvPicPr>
            <a:picLocks noChangeAspect="1"/>
          </p:cNvPicPr>
          <p:nvPr/>
        </p:nvPicPr>
        <p:blipFill>
          <a:blip r:embed="rId2"/>
          <a:srcRect l="0" r="0" t="0" b="0"/>
          <a:stretch/>
        </p:blipFill>
        <p:spPr>
          <a:xfrm>
            <a:off x="6661150" y="3389610"/>
            <a:ext cx="279400" cy="279400"/>
          </a:xfrm>
          <a:prstGeom prst="rect">
            <a:avLst/>
          </a:prstGeom>
        </p:spPr>
      </p:pic>
      <p:sp>
        <p:nvSpPr>
          <p:cNvPr id="12" name="Text 8"/>
          <p:cNvSpPr/>
          <p:nvPr/>
        </p:nvSpPr>
        <p:spPr>
          <a:xfrm>
            <a:off x="7092950" y="3389610"/>
            <a:ext cx="419900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Secrets stay secret</a:t>
            </a:r>
            <a:endParaRPr lang="en-US" sz="1600" dirty="0"/>
          </a:p>
        </p:txBody>
      </p:sp>
      <p:sp>
        <p:nvSpPr>
          <p:cNvPr id="13" name="Text 9"/>
          <p:cNvSpPr/>
          <p:nvPr/>
        </p:nvSpPr>
        <p:spPr>
          <a:xfrm>
            <a:off x="7092950" y="3696940"/>
            <a:ext cx="41990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Tokens go in repo Settings → Secrets, never in code.</a:t>
            </a:r>
            <a:endParaRPr lang="en-US" sz="1400" dirty="0"/>
          </a:p>
        </p:txBody>
      </p:sp>
      <p:sp>
        <p:nvSpPr>
          <p:cNvPr id="14" name="Shape 10"/>
          <p:cNvSpPr/>
          <p:nvPr/>
        </p:nvSpPr>
        <p:spPr>
          <a:xfrm>
            <a:off x="6454775" y="4692005"/>
            <a:ext cx="4921250" cy="1350020"/>
          </a:xfrm>
          <a:prstGeom prst="roundRect">
            <a:avLst>
              <a:gd name="adj" fmla="val 9172"/>
            </a:avLst>
          </a:prstGeom>
          <a:solidFill>
            <a:srgbClr val="1F1810"/>
          </a:solidFill>
          <a:ln w="6350">
            <a:solidFill>
              <a:srgbClr val="5A3E1E"/>
            </a:solidFill>
            <a:prstDash val="solid"/>
          </a:ln>
        </p:spPr>
      </p:sp>
      <p:pic>
        <p:nvPicPr>
          <p:cNvPr id="15" name="Image 2" descr="Lightning">    </p:cNvPr>
          <p:cNvPicPr>
            <a:picLocks noChangeAspect="1"/>
          </p:cNvPicPr>
          <p:nvPr/>
        </p:nvPicPr>
        <p:blipFill>
          <a:blip r:embed="rId3"/>
          <a:srcRect l="0" r="0" t="0" b="0"/>
          <a:stretch/>
        </p:blipFill>
        <p:spPr>
          <a:xfrm>
            <a:off x="6661150" y="4898380"/>
            <a:ext cx="279400" cy="279400"/>
          </a:xfrm>
          <a:prstGeom prst="rect">
            <a:avLst/>
          </a:prstGeom>
        </p:spPr>
      </p:pic>
      <p:sp>
        <p:nvSpPr>
          <p:cNvPr id="16" name="Text 11"/>
          <p:cNvSpPr/>
          <p:nvPr/>
        </p:nvSpPr>
        <p:spPr>
          <a:xfrm>
            <a:off x="7092950" y="4898380"/>
            <a:ext cx="419900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Vercel &amp; Render: automatic</a:t>
            </a:r>
            <a:endParaRPr lang="en-US" sz="1600" dirty="0"/>
          </a:p>
        </p:txBody>
      </p:sp>
      <p:sp>
        <p:nvSpPr>
          <p:cNvPr id="17" name="Text 12"/>
          <p:cNvSpPr/>
          <p:nvPr/>
        </p:nvSpPr>
        <p:spPr>
          <a:xfrm>
            <a:off x="7092950" y="5205710"/>
            <a:ext cx="41990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Connect the repo and they run their own pipeline. No YAML.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Vercel vs Render vs AWS EC2</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83990"/>
          <a:ext cx="10553700" cy="2813844"/>
        </p:xfrm>
        <a:graphic>
          <a:graphicData uri="http://schemas.openxmlformats.org/drawingml/2006/table">
            <a:tbl>
              <a:tblPr/>
              <a:tblGrid>
                <a:gridCol w="2321814"/>
                <a:gridCol w="2743962"/>
                <a:gridCol w="2743962"/>
                <a:gridCol w="2743962"/>
              </a:tblGrid>
              <a:tr h="38601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474A50"/>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74A50"/>
                      </a:solidFill>
                      <a:prstDash val="solid"/>
                      <a:round/>
                      <a:headEnd type="none" w="med" len="med"/>
                      <a:tailEnd type="none" w="med" len="med"/>
                    </a:lnB>
                    <a:solidFill>
                      <a:srgbClr val="141922"/>
                    </a:solidFill>
                  </a:tcPr>
                </a:tc>
                <a:tc>
                  <a:txBody>
                    <a:bodyPr/>
                    <a:lstStyle/>
                    <a:p>
                      <a:pPr indent="0" marL="0">
                        <a:lnSpc>
                          <a:spcPts val="1960"/>
                        </a:lnSpc>
                        <a:buNone/>
                      </a:pPr>
                      <a:r>
                        <a:rPr lang="en-US" sz="1400" b="1" dirty="0">
                          <a:solidFill>
                            <a:srgbClr val="3BA4F5"/>
                          </a:solidFill>
                          <a:latin typeface="IBM Plex Sans" pitchFamily="34" charset="0"/>
                          <a:ea typeface="IBM Plex Sans" pitchFamily="34" charset="-122"/>
                          <a:cs typeface="IBM Plex Sans" pitchFamily="34" charset="-120"/>
                        </a:rPr>
                        <a:t>Vercel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A50"/>
                      </a:solidFill>
                      <a:prstDash val="solid"/>
                      <a:round/>
                      <a:headEnd type="none" w="med" len="med"/>
                      <a:tailEnd type="none" w="med" len="med"/>
                    </a:lnL>
                    <a:lnR w="12700" cap="flat" cmpd="sng" algn="ctr">
                      <a:solidFill>
                        <a:srgbClr val="474A50"/>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74A50"/>
                      </a:solidFill>
                      <a:prstDash val="solid"/>
                      <a:round/>
                      <a:headEnd type="none" w="med" len="med"/>
                      <a:tailEnd type="none" w="med" len="med"/>
                    </a:lnB>
                    <a:solidFill>
                      <a:srgbClr val="141922"/>
                    </a:solidFill>
                  </a:tcPr>
                </a:tc>
                <a:tc>
                  <a:txBody>
                    <a:bodyPr/>
                    <a:lstStyle/>
                    <a:p>
                      <a:pPr indent="0" marL="0">
                        <a:lnSpc>
                          <a:spcPts val="1960"/>
                        </a:lnSpc>
                        <a:buNone/>
                      </a:pPr>
                      <a:r>
                        <a:rPr lang="en-US" sz="1400" b="1" dirty="0">
                          <a:solidFill>
                            <a:srgbClr val="4FC27A"/>
                          </a:solidFill>
                          <a:latin typeface="IBM Plex Sans" pitchFamily="34" charset="0"/>
                          <a:ea typeface="IBM Plex Sans" pitchFamily="34" charset="-122"/>
                          <a:cs typeface="IBM Plex Sans" pitchFamily="34" charset="-120"/>
                        </a:rPr>
                        <a:t>Render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A50"/>
                      </a:solidFill>
                      <a:prstDash val="solid"/>
                      <a:round/>
                      <a:headEnd type="none" w="med" len="med"/>
                      <a:tailEnd type="none" w="med" len="med"/>
                    </a:lnL>
                    <a:lnR w="12700" cap="flat" cmpd="sng" algn="ctr">
                      <a:solidFill>
                        <a:srgbClr val="474A50"/>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74A50"/>
                      </a:solidFill>
                      <a:prstDash val="solid"/>
                      <a:round/>
                      <a:headEnd type="none" w="med" len="med"/>
                      <a:tailEnd type="none" w="med" len="med"/>
                    </a:lnB>
                    <a:solidFill>
                      <a:srgbClr val="141922"/>
                    </a:solidFill>
                  </a:tcPr>
                </a:tc>
                <a:tc>
                  <a:txBody>
                    <a:bodyPr/>
                    <a:lstStyle/>
                    <a:p>
                      <a:pPr indent="0" marL="0">
                        <a:lnSpc>
                          <a:spcPts val="1960"/>
                        </a:lnSpc>
                        <a:buNone/>
                      </a:pPr>
                      <a:r>
                        <a:rPr lang="en-US" sz="1400" b="1" dirty="0">
                          <a:solidFill>
                            <a:srgbClr val="FF9F45"/>
                          </a:solidFill>
                          <a:latin typeface="IBM Plex Sans" pitchFamily="34" charset="0"/>
                          <a:ea typeface="IBM Plex Sans" pitchFamily="34" charset="-122"/>
                          <a:cs typeface="IBM Plex Sans" pitchFamily="34" charset="-120"/>
                        </a:rPr>
                        <a:t>AWS EC2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A50"/>
                      </a:solidFill>
                      <a:prstDash val="solid"/>
                      <a:round/>
                      <a:headEnd type="none" w="med" len="med"/>
                      <a:tailEnd type="none" w="med" len="med"/>
                    </a:lnL>
                    <a:lnR w="12700" cap="flat" cmpd="sng" algn="ctr">
                      <a:solidFill>
                        <a:srgbClr val="474A50"/>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74A50"/>
                      </a:solidFill>
                      <a:prstDash val="solid"/>
                      <a:round/>
                      <a:headEnd type="none" w="med" len="med"/>
                      <a:tailEnd type="none" w="med" len="med"/>
                    </a:lnB>
                    <a:solidFill>
                      <a:srgbClr val="141922"/>
                    </a:solidFill>
                  </a:tcPr>
                </a:tc>
              </a:tr>
              <a:tr h="386011">
                <a:tc>
                  <a:txBody>
                    <a:bodyPr/>
                    <a:lstStyle/>
                    <a:p>
                      <a:pPr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Best for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74A50"/>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React frontends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74A50"/>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Express APIs, small full stacks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74A50"/>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Full control, Compose stacks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74A50"/>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r>
              <a:tr h="634901">
                <a:tc>
                  <a:txBody>
                    <a:bodyPr/>
                    <a:lstStyle/>
                    <a:p>
                      <a:pPr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Who builds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Vercel, from source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Render, from source or Dockerfile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You, via GitHub Actions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r>
              <a:tr h="386011">
                <a:tc>
                  <a:txBody>
                    <a:bodyPr/>
                    <a:lstStyle/>
                    <a:p>
                      <a:pPr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Your Dockerfile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Not needed for React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Optional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Yes, you run the containers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r>
              <a:tr h="634901">
                <a:tc>
                  <a:txBody>
                    <a:bodyPr/>
                    <a:lstStyle/>
                    <a:p>
                      <a:pPr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You manage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Nothing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Very little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The whole server: OS, updates, security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r>
              <a:tr h="386011">
                <a:tc>
                  <a:txBody>
                    <a:bodyPr/>
                    <a:lstStyle/>
                    <a:p>
                      <a:pPr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Effort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Lowest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Highest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r>
            </a:tbl>
          </a:graphicData>
        </a:graphic>
      </p:graphicFrame>
      <p:sp>
        <p:nvSpPr>
          <p:cNvPr id="4" name="Text 1"/>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Easier platform = less control. More control = more work.</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Each case, its natural home</a:t>
            </a:r>
            <a:endParaRPr lang="en-US" sz="3600" dirty="0"/>
          </a:p>
        </p:txBody>
      </p:sp>
      <p:sp>
        <p:nvSpPr>
          <p:cNvPr id="3" name="Shape 1"/>
          <p:cNvSpPr/>
          <p:nvPr/>
        </p:nvSpPr>
        <p:spPr>
          <a:xfrm>
            <a:off x="815975" y="1674465"/>
            <a:ext cx="10560050" cy="1350020"/>
          </a:xfrm>
          <a:prstGeom prst="roundRect">
            <a:avLst>
              <a:gd name="adj" fmla="val 11054"/>
            </a:avLst>
          </a:prstGeom>
          <a:solidFill>
            <a:srgbClr val="141922"/>
          </a:solidFill>
          <a:ln w="6350">
            <a:solidFill>
              <a:srgbClr val="263041"/>
            </a:solidFill>
            <a:prstDash val="solid"/>
          </a:ln>
        </p:spPr>
      </p:sp>
      <p:sp>
        <p:nvSpPr>
          <p:cNvPr id="4" name="Text 2"/>
          <p:cNvSpPr/>
          <p:nvPr/>
        </p:nvSpPr>
        <p:spPr>
          <a:xfrm>
            <a:off x="1047750" y="2101850"/>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CASE 1</a:t>
            </a:r>
            <a:endParaRPr lang="en-US" sz="1200" dirty="0"/>
          </a:p>
        </p:txBody>
      </p:sp>
      <p:sp>
        <p:nvSpPr>
          <p:cNvPr id="5" name="Text 3"/>
          <p:cNvSpPr/>
          <p:nvPr/>
        </p:nvSpPr>
        <p:spPr>
          <a:xfrm>
            <a:off x="1047750" y="2353270"/>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React</a:t>
            </a:r>
            <a:endParaRPr lang="en-US" sz="1600" dirty="0"/>
          </a:p>
        </p:txBody>
      </p:sp>
      <p:sp>
        <p:nvSpPr>
          <p:cNvPr id="6" name="Text 4"/>
          <p:cNvSpPr/>
          <p:nvPr/>
        </p:nvSpPr>
        <p:spPr>
          <a:xfrm>
            <a:off x="2571750" y="2110730"/>
            <a:ext cx="915888" cy="477490"/>
          </a:xfrm>
          <a:prstGeom prst="roundRect">
            <a:avLst>
              <a:gd name="adj" fmla="val 18618"/>
            </a:avLst>
          </a:prstGeom>
          <a:solidFill>
            <a:srgbClr val="1C2330"/>
          </a:solidFill>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GitHub</a:t>
            </a:r>
            <a:endParaRPr lang="en-US" sz="1400" dirty="0"/>
          </a:p>
        </p:txBody>
      </p:sp>
      <p:pic>
        <p:nvPicPr>
          <p:cNvPr id="7" name="Image 0" descr="arrow-right">    </p:cNvPr>
          <p:cNvPicPr>
            <a:picLocks noChangeAspect="1"/>
          </p:cNvPicPr>
          <p:nvPr/>
        </p:nvPicPr>
        <p:blipFill>
          <a:blip r:embed="rId1"/>
          <a:srcRect l="0" r="0" t="0" b="0"/>
          <a:stretch/>
        </p:blipFill>
        <p:spPr>
          <a:xfrm>
            <a:off x="3614638" y="2266900"/>
            <a:ext cx="304800" cy="165100"/>
          </a:xfrm>
          <a:prstGeom prst="rect">
            <a:avLst/>
          </a:prstGeom>
        </p:spPr>
      </p:pic>
      <p:sp>
        <p:nvSpPr>
          <p:cNvPr id="8" name="Text 5"/>
          <p:cNvSpPr/>
          <p:nvPr/>
        </p:nvSpPr>
        <p:spPr>
          <a:xfrm>
            <a:off x="4052788" y="2104380"/>
            <a:ext cx="1396206" cy="490190"/>
          </a:xfrm>
          <a:prstGeom prst="roundRect">
            <a:avLst>
              <a:gd name="adj" fmla="val 16840"/>
            </a:avLst>
          </a:prstGeom>
          <a:solidFill>
            <a:srgbClr val="1C2330"/>
          </a:solidFill>
          <a:ln w="12700">
            <a:solidFill>
              <a:srgbClr val="3BA4F5"/>
            </a:solidFill>
            <a:prstDash val="solid"/>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Vercel builds</a:t>
            </a:r>
            <a:endParaRPr lang="en-US" sz="1400" dirty="0"/>
          </a:p>
        </p:txBody>
      </p:sp>
      <p:pic>
        <p:nvPicPr>
          <p:cNvPr id="9" name="Image 1" descr="arrow-right">    </p:cNvPr>
          <p:cNvPicPr>
            <a:picLocks noChangeAspect="1"/>
          </p:cNvPicPr>
          <p:nvPr/>
        </p:nvPicPr>
        <p:blipFill>
          <a:blip r:embed="rId2"/>
          <a:srcRect l="0" r="0" t="0" b="0"/>
          <a:stretch/>
        </p:blipFill>
        <p:spPr>
          <a:xfrm>
            <a:off x="5582345" y="2266900"/>
            <a:ext cx="304800" cy="165100"/>
          </a:xfrm>
          <a:prstGeom prst="rect">
            <a:avLst/>
          </a:prstGeom>
        </p:spPr>
      </p:pic>
      <p:sp>
        <p:nvSpPr>
          <p:cNvPr id="10" name="Text 6"/>
          <p:cNvSpPr/>
          <p:nvPr/>
        </p:nvSpPr>
        <p:spPr>
          <a:xfrm>
            <a:off x="6014145" y="2110730"/>
            <a:ext cx="1270943" cy="477490"/>
          </a:xfrm>
          <a:prstGeom prst="roundRect">
            <a:avLst>
              <a:gd name="adj" fmla="val 18618"/>
            </a:avLst>
          </a:prstGeom>
          <a:solidFill>
            <a:srgbClr val="1C2330"/>
          </a:solidFill>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Global CDN</a:t>
            </a:r>
            <a:endParaRPr lang="en-US" sz="1400" dirty="0"/>
          </a:p>
        </p:txBody>
      </p:sp>
      <p:sp>
        <p:nvSpPr>
          <p:cNvPr id="11" name="Text 7"/>
          <p:cNvSpPr/>
          <p:nvPr/>
        </p:nvSpPr>
        <p:spPr>
          <a:xfrm>
            <a:off x="9883279" y="2242790"/>
            <a:ext cx="14895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No Docker needed</a:t>
            </a:r>
            <a:endParaRPr lang="en-US" sz="1200" dirty="0"/>
          </a:p>
        </p:txBody>
      </p:sp>
      <p:sp>
        <p:nvSpPr>
          <p:cNvPr id="12" name="Shape 8"/>
          <p:cNvSpPr/>
          <p:nvPr/>
        </p:nvSpPr>
        <p:spPr>
          <a:xfrm>
            <a:off x="815975" y="3183235"/>
            <a:ext cx="10560050" cy="1350020"/>
          </a:xfrm>
          <a:prstGeom prst="roundRect">
            <a:avLst>
              <a:gd name="adj" fmla="val 11054"/>
            </a:avLst>
          </a:prstGeom>
          <a:solidFill>
            <a:srgbClr val="141922"/>
          </a:solidFill>
          <a:ln w="6350">
            <a:solidFill>
              <a:srgbClr val="263041"/>
            </a:solidFill>
            <a:prstDash val="solid"/>
          </a:ln>
        </p:spPr>
      </p:sp>
      <p:sp>
        <p:nvSpPr>
          <p:cNvPr id="13" name="Text 9"/>
          <p:cNvSpPr/>
          <p:nvPr/>
        </p:nvSpPr>
        <p:spPr>
          <a:xfrm>
            <a:off x="1047750" y="3610620"/>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CASE 2</a:t>
            </a:r>
            <a:endParaRPr lang="en-US" sz="1200" dirty="0"/>
          </a:p>
        </p:txBody>
      </p:sp>
      <p:sp>
        <p:nvSpPr>
          <p:cNvPr id="14" name="Text 10"/>
          <p:cNvSpPr/>
          <p:nvPr/>
        </p:nvSpPr>
        <p:spPr>
          <a:xfrm>
            <a:off x="1047750" y="3862040"/>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 Express</a:t>
            </a:r>
            <a:endParaRPr lang="en-US" sz="1600" dirty="0"/>
          </a:p>
        </p:txBody>
      </p:sp>
      <p:sp>
        <p:nvSpPr>
          <p:cNvPr id="15" name="Text 11"/>
          <p:cNvSpPr/>
          <p:nvPr/>
        </p:nvSpPr>
        <p:spPr>
          <a:xfrm>
            <a:off x="2571750" y="3619500"/>
            <a:ext cx="915888" cy="477490"/>
          </a:xfrm>
          <a:prstGeom prst="roundRect">
            <a:avLst>
              <a:gd name="adj" fmla="val 18618"/>
            </a:avLst>
          </a:prstGeom>
          <a:solidFill>
            <a:srgbClr val="1C2330"/>
          </a:solidFill>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GitHub</a:t>
            </a:r>
            <a:endParaRPr lang="en-US" sz="1400" dirty="0"/>
          </a:p>
        </p:txBody>
      </p:sp>
      <p:pic>
        <p:nvPicPr>
          <p:cNvPr id="16" name="Image 2" descr="arrow-right">    </p:cNvPr>
          <p:cNvPicPr>
            <a:picLocks noChangeAspect="1"/>
          </p:cNvPicPr>
          <p:nvPr/>
        </p:nvPicPr>
        <p:blipFill>
          <a:blip r:embed="rId3"/>
          <a:srcRect l="0" r="0" t="0" b="0"/>
          <a:stretch/>
        </p:blipFill>
        <p:spPr>
          <a:xfrm>
            <a:off x="3614638" y="3775670"/>
            <a:ext cx="304800" cy="165100"/>
          </a:xfrm>
          <a:prstGeom prst="rect">
            <a:avLst/>
          </a:prstGeom>
        </p:spPr>
      </p:pic>
      <p:sp>
        <p:nvSpPr>
          <p:cNvPr id="17" name="Text 12"/>
          <p:cNvSpPr/>
          <p:nvPr/>
        </p:nvSpPr>
        <p:spPr>
          <a:xfrm>
            <a:off x="4052788" y="3374380"/>
            <a:ext cx="2633315" cy="439390"/>
          </a:xfrm>
          <a:prstGeom prst="roundRect">
            <a:avLst>
              <a:gd name="adj" fmla="val 18787"/>
            </a:avLst>
          </a:prstGeom>
          <a:solidFill>
            <a:srgbClr val="1C2330"/>
          </a:solidFill>
          <a:ln w="12700">
            <a:solidFill>
              <a:srgbClr val="3BA4F5"/>
            </a:solidFill>
            <a:prstDash val="solid"/>
          </a:ln>
        </p:spPr>
        <p:txBody>
          <a:bodyPr wrap="square" lIns="159972" tIns="71072" rIns="92021" bIns="45672" rtlCol="0" anchor="t">
            <a:normAutofit/>
          </a:bodyPr>
          <a:lstStyle/>
          <a:p>
            <a:pPr algn="l"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Vercel → React UI</a:t>
            </a:r>
            <a:endParaRPr lang="en-US" sz="1400" dirty="0"/>
          </a:p>
        </p:txBody>
      </p:sp>
      <p:sp>
        <p:nvSpPr>
          <p:cNvPr id="18" name="Text 13"/>
          <p:cNvSpPr/>
          <p:nvPr/>
        </p:nvSpPr>
        <p:spPr>
          <a:xfrm>
            <a:off x="4052788" y="3902670"/>
            <a:ext cx="2633315" cy="439390"/>
          </a:xfrm>
          <a:prstGeom prst="roundRect">
            <a:avLst>
              <a:gd name="adj" fmla="val 18787"/>
            </a:avLst>
          </a:prstGeom>
          <a:solidFill>
            <a:srgbClr val="1C2330"/>
          </a:solidFill>
          <a:ln w="12700">
            <a:solidFill>
              <a:srgbClr val="FF9F45"/>
            </a:solidFill>
            <a:prstDash val="solid"/>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Render → Express container</a:t>
            </a:r>
            <a:endParaRPr lang="en-US" sz="1400" dirty="0"/>
          </a:p>
        </p:txBody>
      </p:sp>
      <p:sp>
        <p:nvSpPr>
          <p:cNvPr id="19" name="Text 14"/>
          <p:cNvSpPr/>
          <p:nvPr/>
        </p:nvSpPr>
        <p:spPr>
          <a:xfrm>
            <a:off x="9889976" y="3751560"/>
            <a:ext cx="1482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Docker for the API</a:t>
            </a:r>
            <a:endParaRPr lang="en-US" sz="1200" dirty="0"/>
          </a:p>
        </p:txBody>
      </p:sp>
      <p:sp>
        <p:nvSpPr>
          <p:cNvPr id="20" name="Shape 15"/>
          <p:cNvSpPr/>
          <p:nvPr/>
        </p:nvSpPr>
        <p:spPr>
          <a:xfrm>
            <a:off x="815975" y="4692005"/>
            <a:ext cx="10560050" cy="1350020"/>
          </a:xfrm>
          <a:prstGeom prst="roundRect">
            <a:avLst>
              <a:gd name="adj" fmla="val 11054"/>
            </a:avLst>
          </a:prstGeom>
          <a:solidFill>
            <a:srgbClr val="141922"/>
          </a:solidFill>
          <a:ln w="6350">
            <a:solidFill>
              <a:srgbClr val="263041"/>
            </a:solidFill>
            <a:prstDash val="solid"/>
          </a:ln>
        </p:spPr>
      </p:sp>
      <p:sp>
        <p:nvSpPr>
          <p:cNvPr id="21" name="Text 16"/>
          <p:cNvSpPr/>
          <p:nvPr/>
        </p:nvSpPr>
        <p:spPr>
          <a:xfrm>
            <a:off x="1047750" y="5119390"/>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A4F5"/>
                </a:solidFill>
                <a:latin typeface="JetBrains Mono" pitchFamily="49" charset="0"/>
                <a:ea typeface="JetBrains Mono" pitchFamily="49" charset="-122"/>
                <a:cs typeface="JetBrains Mono" pitchFamily="49" charset="-120"/>
              </a:rPr>
              <a:t>CASE 3</a:t>
            </a:r>
            <a:endParaRPr lang="en-US" sz="1200" dirty="0"/>
          </a:p>
        </p:txBody>
      </p:sp>
      <p:sp>
        <p:nvSpPr>
          <p:cNvPr id="22" name="Text 17"/>
          <p:cNvSpPr/>
          <p:nvPr/>
        </p:nvSpPr>
        <p:spPr>
          <a:xfrm>
            <a:off x="1047750" y="5370810"/>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MERN</a:t>
            </a:r>
            <a:endParaRPr lang="en-US" sz="1600" dirty="0"/>
          </a:p>
        </p:txBody>
      </p:sp>
      <p:sp>
        <p:nvSpPr>
          <p:cNvPr id="23" name="Text 18"/>
          <p:cNvSpPr/>
          <p:nvPr/>
        </p:nvSpPr>
        <p:spPr>
          <a:xfrm>
            <a:off x="2571750" y="5128270"/>
            <a:ext cx="915888" cy="477490"/>
          </a:xfrm>
          <a:prstGeom prst="roundRect">
            <a:avLst>
              <a:gd name="adj" fmla="val 18618"/>
            </a:avLst>
          </a:prstGeom>
          <a:solidFill>
            <a:srgbClr val="1C2330"/>
          </a:solidFill>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GitHub</a:t>
            </a:r>
            <a:endParaRPr lang="en-US" sz="1400" dirty="0"/>
          </a:p>
        </p:txBody>
      </p:sp>
      <p:pic>
        <p:nvPicPr>
          <p:cNvPr id="24" name="Image 3" descr="arrow-right">    </p:cNvPr>
          <p:cNvPicPr>
            <a:picLocks noChangeAspect="1"/>
          </p:cNvPicPr>
          <p:nvPr/>
        </p:nvPicPr>
        <p:blipFill>
          <a:blip r:embed="rId4"/>
          <a:srcRect l="0" r="0" t="0" b="0"/>
          <a:stretch/>
        </p:blipFill>
        <p:spPr>
          <a:xfrm>
            <a:off x="3614638" y="5284440"/>
            <a:ext cx="304800" cy="165100"/>
          </a:xfrm>
          <a:prstGeom prst="rect">
            <a:avLst/>
          </a:prstGeom>
        </p:spPr>
      </p:pic>
      <p:sp>
        <p:nvSpPr>
          <p:cNvPr id="25" name="Text 19"/>
          <p:cNvSpPr/>
          <p:nvPr/>
        </p:nvSpPr>
        <p:spPr>
          <a:xfrm>
            <a:off x="4046438" y="5128270"/>
            <a:ext cx="953046" cy="477490"/>
          </a:xfrm>
          <a:prstGeom prst="roundRect">
            <a:avLst>
              <a:gd name="adj" fmla="val 18618"/>
            </a:avLst>
          </a:prstGeom>
          <a:solidFill>
            <a:srgbClr val="1C2330"/>
          </a:solidFill>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Actions</a:t>
            </a:r>
            <a:endParaRPr lang="en-US" sz="1400" dirty="0"/>
          </a:p>
        </p:txBody>
      </p:sp>
      <p:pic>
        <p:nvPicPr>
          <p:cNvPr id="26" name="Image 4" descr="arrow-right">    </p:cNvPr>
          <p:cNvPicPr>
            <a:picLocks noChangeAspect="1"/>
          </p:cNvPicPr>
          <p:nvPr/>
        </p:nvPicPr>
        <p:blipFill>
          <a:blip r:embed="rId5"/>
          <a:srcRect l="0" r="0" t="0" b="0"/>
          <a:stretch/>
        </p:blipFill>
        <p:spPr>
          <a:xfrm>
            <a:off x="5126484" y="5284440"/>
            <a:ext cx="304800" cy="165100"/>
          </a:xfrm>
          <a:prstGeom prst="rect">
            <a:avLst/>
          </a:prstGeom>
        </p:spPr>
      </p:pic>
      <p:sp>
        <p:nvSpPr>
          <p:cNvPr id="27" name="Text 20"/>
          <p:cNvSpPr/>
          <p:nvPr/>
        </p:nvSpPr>
        <p:spPr>
          <a:xfrm>
            <a:off x="5558284" y="5128270"/>
            <a:ext cx="829121" cy="477490"/>
          </a:xfrm>
          <a:prstGeom prst="roundRect">
            <a:avLst>
              <a:gd name="adj" fmla="val 18618"/>
            </a:avLst>
          </a:prstGeom>
          <a:solidFill>
            <a:srgbClr val="1C2330"/>
          </a:solidFill>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GHCR</a:t>
            </a:r>
            <a:endParaRPr lang="en-US" sz="1400" dirty="0"/>
          </a:p>
        </p:txBody>
      </p:sp>
      <p:pic>
        <p:nvPicPr>
          <p:cNvPr id="28" name="Image 5" descr="arrow-right">    </p:cNvPr>
          <p:cNvPicPr>
            <a:picLocks noChangeAspect="1"/>
          </p:cNvPicPr>
          <p:nvPr/>
        </p:nvPicPr>
        <p:blipFill>
          <a:blip r:embed="rId6"/>
          <a:srcRect l="0" r="0" t="0" b="0"/>
          <a:stretch/>
        </p:blipFill>
        <p:spPr>
          <a:xfrm>
            <a:off x="6514405" y="5284440"/>
            <a:ext cx="304800" cy="165100"/>
          </a:xfrm>
          <a:prstGeom prst="rect">
            <a:avLst/>
          </a:prstGeom>
        </p:spPr>
      </p:pic>
      <p:sp>
        <p:nvSpPr>
          <p:cNvPr id="29" name="Text 21"/>
          <p:cNvSpPr/>
          <p:nvPr/>
        </p:nvSpPr>
        <p:spPr>
          <a:xfrm>
            <a:off x="6952555" y="4883150"/>
            <a:ext cx="2050852" cy="439390"/>
          </a:xfrm>
          <a:prstGeom prst="roundRect">
            <a:avLst>
              <a:gd name="adj" fmla="val 18787"/>
            </a:avLst>
          </a:prstGeom>
          <a:solidFill>
            <a:srgbClr val="1C2330"/>
          </a:solidFill>
          <a:ln w="12700">
            <a:solidFill>
              <a:srgbClr val="FF9F45"/>
            </a:solidFill>
            <a:prstDash val="solid"/>
          </a:ln>
        </p:spPr>
        <p:txBody>
          <a:bodyPr wrap="none" lIns="0" tIns="0" rIns="0" bIns="0" rtlCol="0" anchor="ctr">
            <a:normAutofit/>
          </a:bodyPr>
          <a:lstStyle/>
          <a:p>
            <a:pPr algn="ctr"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EC2 · Compose stack</a:t>
            </a:r>
            <a:endParaRPr lang="en-US" sz="1400" dirty="0"/>
          </a:p>
        </p:txBody>
      </p:sp>
      <p:sp>
        <p:nvSpPr>
          <p:cNvPr id="30" name="Text 22"/>
          <p:cNvSpPr/>
          <p:nvPr/>
        </p:nvSpPr>
        <p:spPr>
          <a:xfrm>
            <a:off x="6952555" y="5411440"/>
            <a:ext cx="2050852" cy="439390"/>
          </a:xfrm>
          <a:prstGeom prst="roundRect">
            <a:avLst>
              <a:gd name="adj" fmla="val 18787"/>
            </a:avLst>
          </a:prstGeom>
          <a:solidFill>
            <a:srgbClr val="1C2330"/>
          </a:solidFill>
          <a:ln w="12700">
            <a:solidFill>
              <a:srgbClr val="4FC27A"/>
            </a:solidFill>
            <a:prstDash val="solid"/>
          </a:ln>
        </p:spPr>
        <p:txBody>
          <a:bodyPr wrap="square" lIns="159972" tIns="71072" rIns="109172" bIns="45672" rtlCol="0" anchor="t">
            <a:normAutofit/>
          </a:bodyPr>
          <a:lstStyle/>
          <a:p>
            <a:pPr algn="l"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MongoDB Atlas</a:t>
            </a:r>
            <a:endParaRPr lang="en-US" sz="1400" dirty="0"/>
          </a:p>
        </p:txBody>
      </p:sp>
      <p:sp>
        <p:nvSpPr>
          <p:cNvPr id="31" name="Text 23"/>
          <p:cNvSpPr/>
          <p:nvPr/>
        </p:nvSpPr>
        <p:spPr>
          <a:xfrm>
            <a:off x="9899253" y="5260330"/>
            <a:ext cx="14735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Docker end to end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Case 3 on AWS EC2, end to end</a:t>
            </a:r>
            <a:endParaRPr lang="en-US" sz="3600" dirty="0"/>
          </a:p>
        </p:txBody>
      </p:sp>
      <p:sp>
        <p:nvSpPr>
          <p:cNvPr id="3" name="Shape 1"/>
          <p:cNvSpPr/>
          <p:nvPr/>
        </p:nvSpPr>
        <p:spPr>
          <a:xfrm>
            <a:off x="815975" y="1579215"/>
            <a:ext cx="2089150" cy="1250900"/>
          </a:xfrm>
          <a:prstGeom prst="roundRect">
            <a:avLst>
              <a:gd name="adj" fmla="val 9899"/>
            </a:avLst>
          </a:prstGeom>
          <a:solidFill>
            <a:srgbClr val="141922"/>
          </a:solidFill>
          <a:ln w="6350">
            <a:solidFill>
              <a:srgbClr val="263041"/>
            </a:solidFill>
            <a:prstDash val="solid"/>
          </a:ln>
        </p:spPr>
      </p:sp>
      <p:pic>
        <p:nvPicPr>
          <p:cNvPr id="4" name="Image 0" descr="Users">    </p:cNvPr>
          <p:cNvPicPr>
            <a:picLocks noChangeAspect="1"/>
          </p:cNvPicPr>
          <p:nvPr/>
        </p:nvPicPr>
        <p:blipFill>
          <a:blip r:embed="rId1"/>
          <a:srcRect l="0" r="0" t="0" b="0"/>
          <a:stretch/>
        </p:blipFill>
        <p:spPr>
          <a:xfrm>
            <a:off x="996950" y="1760190"/>
            <a:ext cx="279400" cy="279400"/>
          </a:xfrm>
          <a:prstGeom prst="rect">
            <a:avLst/>
          </a:prstGeom>
        </p:spPr>
      </p:pic>
      <p:sp>
        <p:nvSpPr>
          <p:cNvPr id="5" name="Text 2"/>
          <p:cNvSpPr/>
          <p:nvPr/>
        </p:nvSpPr>
        <p:spPr>
          <a:xfrm>
            <a:off x="996950" y="2115790"/>
            <a:ext cx="17790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You</a:t>
            </a:r>
            <a:endParaRPr lang="en-US" sz="1600" dirty="0"/>
          </a:p>
        </p:txBody>
      </p:sp>
      <p:sp>
        <p:nvSpPr>
          <p:cNvPr id="6" name="Text 3"/>
          <p:cNvSpPr/>
          <p:nvPr/>
        </p:nvSpPr>
        <p:spPr>
          <a:xfrm>
            <a:off x="996950" y="2435820"/>
            <a:ext cx="1779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git push</a:t>
            </a:r>
            <a:endParaRPr lang="en-US" sz="1200" dirty="0"/>
          </a:p>
        </p:txBody>
      </p:sp>
      <p:pic>
        <p:nvPicPr>
          <p:cNvPr id="7" name="Image 1" descr="arrow-right">    </p:cNvPr>
          <p:cNvPicPr>
            <a:picLocks noChangeAspect="1"/>
          </p:cNvPicPr>
          <p:nvPr/>
        </p:nvPicPr>
        <p:blipFill>
          <a:blip r:embed="rId2"/>
          <a:srcRect l="0" r="0" t="0" b="0"/>
          <a:stretch/>
        </p:blipFill>
        <p:spPr>
          <a:xfrm>
            <a:off x="3060700" y="2103041"/>
            <a:ext cx="406400" cy="203200"/>
          </a:xfrm>
          <a:prstGeom prst="rect">
            <a:avLst/>
          </a:prstGeom>
        </p:spPr>
      </p:pic>
      <p:sp>
        <p:nvSpPr>
          <p:cNvPr id="8" name="Shape 4"/>
          <p:cNvSpPr/>
          <p:nvPr/>
        </p:nvSpPr>
        <p:spPr>
          <a:xfrm>
            <a:off x="3622675" y="1579215"/>
            <a:ext cx="2089150" cy="1250900"/>
          </a:xfrm>
          <a:prstGeom prst="roundRect">
            <a:avLst>
              <a:gd name="adj" fmla="val 9899"/>
            </a:avLst>
          </a:prstGeom>
          <a:solidFill>
            <a:srgbClr val="141922"/>
          </a:solidFill>
          <a:ln w="6350">
            <a:solidFill>
              <a:srgbClr val="263041"/>
            </a:solidFill>
            <a:prstDash val="solid"/>
          </a:ln>
        </p:spPr>
      </p:sp>
      <p:pic>
        <p:nvPicPr>
          <p:cNvPr id="9" name="Image 2" descr="Code">    </p:cNvPr>
          <p:cNvPicPr>
            <a:picLocks noChangeAspect="1"/>
          </p:cNvPicPr>
          <p:nvPr/>
        </p:nvPicPr>
        <p:blipFill>
          <a:blip r:embed="rId3"/>
          <a:srcRect l="0" r="0" t="0" b="0"/>
          <a:stretch/>
        </p:blipFill>
        <p:spPr>
          <a:xfrm>
            <a:off x="3803650" y="1760190"/>
            <a:ext cx="279400" cy="279400"/>
          </a:xfrm>
          <a:prstGeom prst="rect">
            <a:avLst/>
          </a:prstGeom>
        </p:spPr>
      </p:pic>
      <p:sp>
        <p:nvSpPr>
          <p:cNvPr id="10" name="Text 5"/>
          <p:cNvSpPr/>
          <p:nvPr/>
        </p:nvSpPr>
        <p:spPr>
          <a:xfrm>
            <a:off x="3803650" y="2115790"/>
            <a:ext cx="17790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GitHub</a:t>
            </a:r>
            <a:endParaRPr lang="en-US" sz="1600" dirty="0"/>
          </a:p>
        </p:txBody>
      </p:sp>
      <p:sp>
        <p:nvSpPr>
          <p:cNvPr id="11" name="Text 6"/>
          <p:cNvSpPr/>
          <p:nvPr/>
        </p:nvSpPr>
        <p:spPr>
          <a:xfrm>
            <a:off x="3803650" y="2435820"/>
            <a:ext cx="1779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stores code</a:t>
            </a:r>
            <a:endParaRPr lang="en-US" sz="1200" dirty="0"/>
          </a:p>
        </p:txBody>
      </p:sp>
      <p:pic>
        <p:nvPicPr>
          <p:cNvPr id="12" name="Image 3" descr="arrow-right">    </p:cNvPr>
          <p:cNvPicPr>
            <a:picLocks noChangeAspect="1"/>
          </p:cNvPicPr>
          <p:nvPr/>
        </p:nvPicPr>
        <p:blipFill>
          <a:blip r:embed="rId4"/>
          <a:srcRect l="0" r="0" t="0" b="0"/>
          <a:stretch/>
        </p:blipFill>
        <p:spPr>
          <a:xfrm>
            <a:off x="5867400" y="2103041"/>
            <a:ext cx="406400" cy="203200"/>
          </a:xfrm>
          <a:prstGeom prst="rect">
            <a:avLst/>
          </a:prstGeom>
        </p:spPr>
      </p:pic>
      <p:sp>
        <p:nvSpPr>
          <p:cNvPr id="13" name="Shape 7"/>
          <p:cNvSpPr/>
          <p:nvPr/>
        </p:nvSpPr>
        <p:spPr>
          <a:xfrm>
            <a:off x="6429375" y="1579215"/>
            <a:ext cx="2089150" cy="1250900"/>
          </a:xfrm>
          <a:prstGeom prst="roundRect">
            <a:avLst>
              <a:gd name="adj" fmla="val 9899"/>
            </a:avLst>
          </a:prstGeom>
          <a:solidFill>
            <a:srgbClr val="141922"/>
          </a:solidFill>
          <a:ln w="6350">
            <a:solidFill>
              <a:srgbClr val="263041"/>
            </a:solidFill>
            <a:prstDash val="solid"/>
          </a:ln>
        </p:spPr>
      </p:sp>
      <p:pic>
        <p:nvPicPr>
          <p:cNvPr id="14" name="Image 4" descr="Settings">    </p:cNvPr>
          <p:cNvPicPr>
            <a:picLocks noChangeAspect="1"/>
          </p:cNvPicPr>
          <p:nvPr/>
        </p:nvPicPr>
        <p:blipFill>
          <a:blip r:embed="rId5"/>
          <a:srcRect l="0" r="0" t="0" b="0"/>
          <a:stretch/>
        </p:blipFill>
        <p:spPr>
          <a:xfrm>
            <a:off x="6610350" y="1760190"/>
            <a:ext cx="279400" cy="279400"/>
          </a:xfrm>
          <a:prstGeom prst="rect">
            <a:avLst/>
          </a:prstGeom>
        </p:spPr>
      </p:pic>
      <p:sp>
        <p:nvSpPr>
          <p:cNvPr id="15" name="Text 8"/>
          <p:cNvSpPr/>
          <p:nvPr/>
        </p:nvSpPr>
        <p:spPr>
          <a:xfrm>
            <a:off x="6610350" y="2115790"/>
            <a:ext cx="17790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Actions</a:t>
            </a:r>
            <a:endParaRPr lang="en-US" sz="1600" dirty="0"/>
          </a:p>
        </p:txBody>
      </p:sp>
      <p:sp>
        <p:nvSpPr>
          <p:cNvPr id="16" name="Text 9"/>
          <p:cNvSpPr/>
          <p:nvPr/>
        </p:nvSpPr>
        <p:spPr>
          <a:xfrm>
            <a:off x="6610350" y="2435820"/>
            <a:ext cx="1779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test + build</a:t>
            </a:r>
            <a:endParaRPr lang="en-US" sz="1200" dirty="0"/>
          </a:p>
        </p:txBody>
      </p:sp>
      <p:pic>
        <p:nvPicPr>
          <p:cNvPr id="17" name="Image 5" descr="arrow-right">    </p:cNvPr>
          <p:cNvPicPr>
            <a:picLocks noChangeAspect="1"/>
          </p:cNvPicPr>
          <p:nvPr/>
        </p:nvPicPr>
        <p:blipFill>
          <a:blip r:embed="rId6"/>
          <a:srcRect l="0" r="0" t="0" b="0"/>
          <a:stretch/>
        </p:blipFill>
        <p:spPr>
          <a:xfrm>
            <a:off x="8674100" y="2103041"/>
            <a:ext cx="406400" cy="203200"/>
          </a:xfrm>
          <a:prstGeom prst="rect">
            <a:avLst/>
          </a:prstGeom>
        </p:spPr>
      </p:pic>
      <p:sp>
        <p:nvSpPr>
          <p:cNvPr id="18" name="Shape 10"/>
          <p:cNvSpPr/>
          <p:nvPr/>
        </p:nvSpPr>
        <p:spPr>
          <a:xfrm>
            <a:off x="9239250" y="1576040"/>
            <a:ext cx="2082800" cy="1257250"/>
          </a:xfrm>
          <a:prstGeom prst="roundRect">
            <a:avLst>
              <a:gd name="adj" fmla="val 9596"/>
            </a:avLst>
          </a:prstGeom>
          <a:solidFill>
            <a:srgbClr val="0D1A28"/>
          </a:solidFill>
          <a:ln w="12700">
            <a:solidFill>
              <a:srgbClr val="3BA4F5"/>
            </a:solidFill>
            <a:prstDash val="solid"/>
          </a:ln>
        </p:spPr>
      </p:sp>
      <p:pic>
        <p:nvPicPr>
          <p:cNvPr id="19" name="Image 6" descr="Cloud">    </p:cNvPr>
          <p:cNvPicPr>
            <a:picLocks noChangeAspect="1"/>
          </p:cNvPicPr>
          <p:nvPr/>
        </p:nvPicPr>
        <p:blipFill>
          <a:blip r:embed="rId7"/>
          <a:srcRect l="0" r="0" t="0" b="0"/>
          <a:stretch/>
        </p:blipFill>
        <p:spPr>
          <a:xfrm>
            <a:off x="9423400" y="1760190"/>
            <a:ext cx="279400" cy="279400"/>
          </a:xfrm>
          <a:prstGeom prst="rect">
            <a:avLst/>
          </a:prstGeom>
        </p:spPr>
      </p:pic>
      <p:sp>
        <p:nvSpPr>
          <p:cNvPr id="20" name="Text 11"/>
          <p:cNvSpPr/>
          <p:nvPr/>
        </p:nvSpPr>
        <p:spPr>
          <a:xfrm>
            <a:off x="9423400" y="2115790"/>
            <a:ext cx="17659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GHCR</a:t>
            </a:r>
            <a:endParaRPr lang="en-US" sz="1600" dirty="0"/>
          </a:p>
        </p:txBody>
      </p:sp>
      <p:sp>
        <p:nvSpPr>
          <p:cNvPr id="21" name="Text 12"/>
          <p:cNvSpPr/>
          <p:nvPr/>
        </p:nvSpPr>
        <p:spPr>
          <a:xfrm>
            <a:off x="9423400" y="2435820"/>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stores images</a:t>
            </a:r>
            <a:endParaRPr lang="en-US" sz="1200" dirty="0"/>
          </a:p>
        </p:txBody>
      </p:sp>
      <p:sp>
        <p:nvSpPr>
          <p:cNvPr id="22" name="Text 13"/>
          <p:cNvSpPr/>
          <p:nvPr/>
        </p:nvSpPr>
        <p:spPr>
          <a:xfrm>
            <a:off x="6993830" y="3164780"/>
            <a:ext cx="321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deploy step: SSH → pull new images</a:t>
            </a:r>
            <a:endParaRPr lang="en-US" sz="1200" dirty="0"/>
          </a:p>
        </p:txBody>
      </p:sp>
      <p:pic>
        <p:nvPicPr>
          <p:cNvPr id="23" name="Image 7" descr="arrow-down">    </p:cNvPr>
          <p:cNvPicPr>
            <a:picLocks noChangeAspect="1"/>
          </p:cNvPicPr>
          <p:nvPr/>
        </p:nvPicPr>
        <p:blipFill>
          <a:blip r:embed="rId8"/>
          <a:srcRect l="0" r="0" t="0" b="0"/>
          <a:stretch/>
        </p:blipFill>
        <p:spPr>
          <a:xfrm>
            <a:off x="10204450" y="3093641"/>
            <a:ext cx="254000" cy="355600"/>
          </a:xfrm>
          <a:prstGeom prst="rect">
            <a:avLst/>
          </a:prstGeom>
        </p:spPr>
      </p:pic>
      <p:sp>
        <p:nvSpPr>
          <p:cNvPr id="24" name="Shape 14"/>
          <p:cNvSpPr/>
          <p:nvPr/>
        </p:nvSpPr>
        <p:spPr>
          <a:xfrm>
            <a:off x="815975" y="4330005"/>
            <a:ext cx="1517650" cy="1088380"/>
          </a:xfrm>
          <a:prstGeom prst="roundRect">
            <a:avLst>
              <a:gd name="adj" fmla="val 11377"/>
            </a:avLst>
          </a:prstGeom>
          <a:solidFill>
            <a:srgbClr val="141922"/>
          </a:solidFill>
          <a:ln w="6350">
            <a:solidFill>
              <a:srgbClr val="263041"/>
            </a:solidFill>
            <a:prstDash val="solid"/>
          </a:ln>
        </p:spPr>
      </p:sp>
      <p:pic>
        <p:nvPicPr>
          <p:cNvPr id="25" name="Image 8" descr="Globe">    </p:cNvPr>
          <p:cNvPicPr>
            <a:picLocks noChangeAspect="1"/>
          </p:cNvPicPr>
          <p:nvPr/>
        </p:nvPicPr>
        <p:blipFill>
          <a:blip r:embed="rId9"/>
          <a:srcRect l="0" r="0" t="0" b="0"/>
          <a:stretch/>
        </p:blipFill>
        <p:spPr>
          <a:xfrm>
            <a:off x="1397000" y="4536380"/>
            <a:ext cx="355600" cy="355600"/>
          </a:xfrm>
          <a:prstGeom prst="rect">
            <a:avLst/>
          </a:prstGeom>
        </p:spPr>
      </p:pic>
      <p:sp>
        <p:nvSpPr>
          <p:cNvPr id="26" name="Text 15"/>
          <p:cNvSpPr/>
          <p:nvPr/>
        </p:nvSpPr>
        <p:spPr>
          <a:xfrm>
            <a:off x="1247914" y="4968180"/>
            <a:ext cx="653772"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Users</a:t>
            </a:r>
            <a:endParaRPr lang="en-US" sz="1600" dirty="0"/>
          </a:p>
        </p:txBody>
      </p:sp>
      <p:pic>
        <p:nvPicPr>
          <p:cNvPr id="27" name="Image 9" descr="arrow-left">    </p:cNvPr>
          <p:cNvPicPr>
            <a:picLocks noChangeAspect="1"/>
          </p:cNvPicPr>
          <p:nvPr/>
        </p:nvPicPr>
        <p:blipFill>
          <a:blip r:embed="rId10"/>
          <a:srcRect l="0" r="0" t="0" b="0"/>
          <a:stretch/>
        </p:blipFill>
        <p:spPr>
          <a:xfrm>
            <a:off x="2489200" y="4772620"/>
            <a:ext cx="406400" cy="203200"/>
          </a:xfrm>
          <a:prstGeom prst="rect">
            <a:avLst/>
          </a:prstGeom>
        </p:spPr>
      </p:pic>
      <p:sp>
        <p:nvSpPr>
          <p:cNvPr id="28" name="Shape 16"/>
          <p:cNvSpPr/>
          <p:nvPr/>
        </p:nvSpPr>
        <p:spPr>
          <a:xfrm>
            <a:off x="3054350" y="4095750"/>
            <a:ext cx="8318500" cy="1556941"/>
          </a:xfrm>
          <a:prstGeom prst="roundRect">
            <a:avLst>
              <a:gd name="adj" fmla="val 9381"/>
            </a:avLst>
          </a:prstGeom>
          <a:solidFill>
            <a:srgbClr val="1A140D"/>
          </a:solidFill>
          <a:ln w="12700">
            <a:solidFill>
              <a:srgbClr val="FF9F45"/>
            </a:solidFill>
            <a:prstDash val="solid"/>
          </a:ln>
        </p:spPr>
      </p:sp>
      <p:pic>
        <p:nvPicPr>
          <p:cNvPr id="29" name="Image 10" descr="Cloud">    </p:cNvPr>
          <p:cNvPicPr>
            <a:picLocks noChangeAspect="1"/>
          </p:cNvPicPr>
          <p:nvPr/>
        </p:nvPicPr>
        <p:blipFill>
          <a:blip r:embed="rId11"/>
          <a:srcRect l="0" r="0" t="0" b="0"/>
          <a:stretch/>
        </p:blipFill>
        <p:spPr>
          <a:xfrm>
            <a:off x="3289300" y="4305300"/>
            <a:ext cx="254000" cy="254000"/>
          </a:xfrm>
          <a:prstGeom prst="rect">
            <a:avLst/>
          </a:prstGeom>
        </p:spPr>
      </p:pic>
      <p:sp>
        <p:nvSpPr>
          <p:cNvPr id="30" name="Text 17"/>
          <p:cNvSpPr/>
          <p:nvPr/>
        </p:nvSpPr>
        <p:spPr>
          <a:xfrm>
            <a:off x="3644900" y="4310360"/>
            <a:ext cx="37207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AWS EC2 · Linux VM with Docker</a:t>
            </a:r>
            <a:endParaRPr lang="en-US" sz="1600" dirty="0"/>
          </a:p>
        </p:txBody>
      </p:sp>
      <p:sp>
        <p:nvSpPr>
          <p:cNvPr id="31" name="Text 18"/>
          <p:cNvSpPr/>
          <p:nvPr/>
        </p:nvSpPr>
        <p:spPr>
          <a:xfrm>
            <a:off x="3289300" y="4686300"/>
            <a:ext cx="80840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C48C"/>
                </a:solidFill>
                <a:latin typeface="JetBrains Mono" pitchFamily="49" charset="0"/>
                <a:ea typeface="JetBrains Mono" pitchFamily="49" charset="-122"/>
                <a:cs typeface="JetBrains Mono" pitchFamily="49" charset="-120"/>
              </a:rPr>
              <a:t>docker compose pull &amp;&amp; docker compose up -d</a:t>
            </a:r>
            <a:endParaRPr lang="en-US" sz="1200" dirty="0"/>
          </a:p>
        </p:txBody>
      </p:sp>
      <p:sp>
        <p:nvSpPr>
          <p:cNvPr id="32" name="Text 19"/>
          <p:cNvSpPr/>
          <p:nvPr/>
        </p:nvSpPr>
        <p:spPr>
          <a:xfrm>
            <a:off x="3289300" y="5026620"/>
            <a:ext cx="1892300" cy="416520"/>
          </a:xfrm>
          <a:prstGeom prst="roundRect">
            <a:avLst>
              <a:gd name="adj" fmla="val 18294"/>
            </a:avLst>
          </a:prstGeom>
          <a:solidFill>
            <a:srgbClr val="3BA4F5"/>
          </a:solidFill>
          <a:ln/>
        </p:spPr>
        <p:txBody>
          <a:bodyPr wrap="square" lIns="53882" tIns="79282" rIns="53882" bIns="53882"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frontend</a:t>
            </a:r>
            <a:endParaRPr lang="en-US" sz="1200" dirty="0"/>
          </a:p>
        </p:txBody>
      </p:sp>
      <p:sp>
        <p:nvSpPr>
          <p:cNvPr id="33" name="Text 20"/>
          <p:cNvSpPr/>
          <p:nvPr/>
        </p:nvSpPr>
        <p:spPr>
          <a:xfrm>
            <a:off x="5283200" y="5026620"/>
            <a:ext cx="1892300" cy="416520"/>
          </a:xfrm>
          <a:prstGeom prst="roundRect">
            <a:avLst>
              <a:gd name="adj" fmla="val 18294"/>
            </a:avLst>
          </a:prstGeom>
          <a:solidFill>
            <a:srgbClr val="FF9F45"/>
          </a:solidFill>
          <a:ln/>
        </p:spPr>
        <p:txBody>
          <a:bodyPr wrap="square" lIns="53882" tIns="79282" rIns="53882" bIns="53882"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backend</a:t>
            </a:r>
            <a:endParaRPr lang="en-US" sz="1200" dirty="0"/>
          </a:p>
        </p:txBody>
      </p:sp>
      <p:sp>
        <p:nvSpPr>
          <p:cNvPr id="34" name="Text 21"/>
          <p:cNvSpPr/>
          <p:nvPr/>
        </p:nvSpPr>
        <p:spPr>
          <a:xfrm>
            <a:off x="7277100" y="5026620"/>
            <a:ext cx="1892300" cy="416520"/>
          </a:xfrm>
          <a:prstGeom prst="roundRect">
            <a:avLst>
              <a:gd name="adj" fmla="val 18294"/>
            </a:avLst>
          </a:prstGeom>
          <a:solidFill>
            <a:srgbClr val="4FC27A"/>
          </a:solidFill>
          <a:ln/>
        </p:spPr>
        <p:txBody>
          <a:bodyPr wrap="square" lIns="53882" tIns="79282" rIns="53882" bIns="53882"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mongo</a:t>
            </a:r>
            <a:endParaRPr lang="en-US" sz="1200" dirty="0"/>
          </a:p>
        </p:txBody>
      </p:sp>
      <p:sp>
        <p:nvSpPr>
          <p:cNvPr id="35" name="Shape 22"/>
          <p:cNvSpPr/>
          <p:nvPr/>
        </p:nvSpPr>
        <p:spPr>
          <a:xfrm>
            <a:off x="9277350" y="5032970"/>
            <a:ext cx="1854200" cy="403820"/>
          </a:xfrm>
          <a:prstGeom prst="roundRect">
            <a:avLst>
              <a:gd name="adj" fmla="val 17297"/>
            </a:avLst>
          </a:prstGeom>
          <a:noFill/>
          <a:ln w="12700">
            <a:solidFill>
              <a:srgbClr val="4FC27A"/>
            </a:solidFill>
            <a:prstDash val="dash"/>
          </a:ln>
        </p:spPr>
      </p:sp>
      <p:pic>
        <p:nvPicPr>
          <p:cNvPr id="36" name="Image 11" descr="Database">    </p:cNvPr>
          <p:cNvPicPr>
            <a:picLocks noChangeAspect="1"/>
          </p:cNvPicPr>
          <p:nvPr/>
        </p:nvPicPr>
        <p:blipFill>
          <a:blip r:embed="rId12"/>
          <a:srcRect l="0" r="0" t="0" b="0"/>
          <a:stretch/>
        </p:blipFill>
        <p:spPr>
          <a:xfrm>
            <a:off x="9796760" y="5133280"/>
            <a:ext cx="203200" cy="203200"/>
          </a:xfrm>
          <a:prstGeom prst="rect">
            <a:avLst/>
          </a:prstGeom>
        </p:spPr>
      </p:pic>
      <p:sp>
        <p:nvSpPr>
          <p:cNvPr id="37" name="Text 23"/>
          <p:cNvSpPr/>
          <p:nvPr/>
        </p:nvSpPr>
        <p:spPr>
          <a:xfrm>
            <a:off x="10063460" y="5128220"/>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E0AE"/>
                </a:solidFill>
                <a:latin typeface="JetBrains Mono" pitchFamily="49" charset="0"/>
                <a:ea typeface="JetBrains Mono" pitchFamily="49" charset="-122"/>
                <a:cs typeface="JetBrains Mono" pitchFamily="49" charset="-120"/>
              </a:rPr>
              <a:t>volume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496ED"/>
        </a:solidFill>
      </p:bgPr>
    </p:bg>
    <p:spTree>
      <p:nvGrpSpPr>
        <p:cNvPr id="1" name=""/>
        <p:cNvGrpSpPr/>
        <p:nvPr/>
      </p:nvGrpSpPr>
      <p:grpSpPr>
        <a:xfrm>
          <a:off x="0" y="0"/>
          <a:ext cx="0" cy="0"/>
          <a:chOff x="0" y="0"/>
          <a:chExt cx="0" cy="0"/>
        </a:xfrm>
      </p:grpSpPr>
      <p:sp>
        <p:nvSpPr>
          <p:cNvPr id="2" name="Text 0"/>
          <p:cNvSpPr/>
          <p:nvPr/>
        </p:nvSpPr>
        <p:spPr>
          <a:xfrm>
            <a:off x="812800" y="20295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A0C10"/>
                </a:solidFill>
                <a:latin typeface="JetBrains Mono" pitchFamily="49" charset="0"/>
                <a:ea typeface="JetBrains Mono" pitchFamily="49" charset="-122"/>
                <a:cs typeface="JetBrains Mono" pitchFamily="49" charset="-120"/>
              </a:rPr>
              <a:t>DOCKER ANSWERS</a:t>
            </a:r>
            <a:endParaRPr lang="en-US" sz="1400" dirty="0"/>
          </a:p>
        </p:txBody>
      </p:sp>
      <p:sp>
        <p:nvSpPr>
          <p:cNvPr id="3" name="Text 1"/>
          <p:cNvSpPr/>
          <p:nvPr/>
        </p:nvSpPr>
        <p:spPr>
          <a:xfrm>
            <a:off x="812800" y="240541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0A0C10"/>
                </a:solidFill>
                <a:latin typeface="Space Grotesk" pitchFamily="34" charset="0"/>
                <a:ea typeface="Space Grotesk" pitchFamily="34" charset="-122"/>
                <a:cs typeface="Space Grotesk" pitchFamily="34" charset="-120"/>
              </a:rPr>
              <a:t>How do I package my app so it runs anywhere?</a:t>
            </a:r>
            <a:endParaRPr lang="en-US" sz="3600" dirty="0"/>
          </a:p>
        </p:txBody>
      </p:sp>
      <p:sp>
        <p:nvSpPr>
          <p:cNvPr id="4" name="Shape 2"/>
          <p:cNvSpPr/>
          <p:nvPr/>
        </p:nvSpPr>
        <p:spPr>
          <a:xfrm>
            <a:off x="812800" y="3416300"/>
            <a:ext cx="10566400" cy="25400"/>
          </a:xfrm>
          <a:prstGeom prst="rect">
            <a:avLst/>
          </a:prstGeom>
          <a:solidFill>
            <a:srgbClr val="0A0C10">
              <a:alpha val="25000"/>
            </a:srgbClr>
          </a:solidFill>
          <a:ln/>
        </p:spPr>
      </p:sp>
      <p:sp>
        <p:nvSpPr>
          <p:cNvPr id="5" name="Text 3"/>
          <p:cNvSpPr/>
          <p:nvPr/>
        </p:nvSpPr>
        <p:spPr>
          <a:xfrm>
            <a:off x="812800" y="39497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A0C10"/>
                </a:solidFill>
                <a:latin typeface="JetBrains Mono" pitchFamily="49" charset="0"/>
                <a:ea typeface="JetBrains Mono" pitchFamily="49" charset="-122"/>
                <a:cs typeface="JetBrains Mono" pitchFamily="49" charset="-120"/>
              </a:rPr>
              <a:t>KUBERNETES ANSWERS</a:t>
            </a:r>
            <a:endParaRPr lang="en-US" sz="1400" dirty="0"/>
          </a:p>
        </p:txBody>
      </p:sp>
      <p:sp>
        <p:nvSpPr>
          <p:cNvPr id="6" name="Text 4"/>
          <p:cNvSpPr/>
          <p:nvPr/>
        </p:nvSpPr>
        <p:spPr>
          <a:xfrm>
            <a:off x="812800" y="43255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0A0C10"/>
                </a:solidFill>
                <a:latin typeface="Space Grotesk" pitchFamily="34" charset="0"/>
                <a:ea typeface="Space Grotesk" pitchFamily="34" charset="-122"/>
                <a:cs typeface="Space Grotesk" pitchFamily="34" charset="-120"/>
              </a:rPr>
              <a:t>How do I run 1,000 copies and keep them alive?</a:t>
            </a:r>
            <a:endParaRPr lang="en-US"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21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7135713"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Sale day: traffic jumps 100×</a:t>
            </a:r>
            <a:endParaRPr lang="en-US" sz="3600" dirty="0"/>
          </a:p>
        </p:txBody>
      </p:sp>
      <p:sp>
        <p:nvSpPr>
          <p:cNvPr id="3" name="Text 1"/>
          <p:cNvSpPr/>
          <p:nvPr/>
        </p:nvSpPr>
        <p:spPr>
          <a:xfrm>
            <a:off x="10013950" y="887710"/>
            <a:ext cx="1358900" cy="353020"/>
          </a:xfrm>
          <a:prstGeom prst="roundRect">
            <a:avLst>
              <a:gd name="adj" fmla="val 50000"/>
            </a:avLst>
          </a:prstGeom>
          <a:noFill/>
          <a:ln w="12700">
            <a:solidFill>
              <a:srgbClr val="FF9F4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FF9F45"/>
                </a:solidFill>
                <a:latin typeface="JetBrains Mono" pitchFamily="49" charset="0"/>
                <a:ea typeface="JetBrains Mono" pitchFamily="49" charset="-122"/>
                <a:cs typeface="JetBrains Mono" pitchFamily="49" charset="-120"/>
              </a:rPr>
              <a:t>KUBERNETES</a:t>
            </a:r>
            <a:endParaRPr lang="en-US" sz="1200" dirty="0"/>
          </a:p>
        </p:txBody>
      </p:sp>
      <p:sp>
        <p:nvSpPr>
          <p:cNvPr id="4" name="Shape 2"/>
          <p:cNvSpPr/>
          <p:nvPr/>
        </p:nvSpPr>
        <p:spPr>
          <a:xfrm>
            <a:off x="815975" y="1674465"/>
            <a:ext cx="6242050" cy="2104380"/>
          </a:xfrm>
          <a:prstGeom prst="roundRect">
            <a:avLst>
              <a:gd name="adj" fmla="val 7091"/>
            </a:avLst>
          </a:prstGeom>
          <a:solidFill>
            <a:srgbClr val="141922"/>
          </a:solidFill>
          <a:ln w="6350">
            <a:solidFill>
              <a:srgbClr val="263041"/>
            </a:solidFill>
            <a:prstDash val="solid"/>
          </a:ln>
        </p:spPr>
      </p:sp>
      <p:pic>
        <p:nvPicPr>
          <p:cNvPr id="5" name="Image 0" descr="Users">    </p:cNvPr>
          <p:cNvPicPr>
            <a:picLocks noChangeAspect="1"/>
          </p:cNvPicPr>
          <p:nvPr/>
        </p:nvPicPr>
        <p:blipFill>
          <a:blip r:embed="rId1"/>
          <a:srcRect l="0" r="0" t="0" b="0"/>
          <a:stretch/>
        </p:blipFill>
        <p:spPr>
          <a:xfrm>
            <a:off x="1568450" y="2254250"/>
            <a:ext cx="355600" cy="355600"/>
          </a:xfrm>
          <a:prstGeom prst="rect">
            <a:avLst/>
          </a:prstGeom>
        </p:spPr>
      </p:pic>
      <p:sp>
        <p:nvSpPr>
          <p:cNvPr id="6" name="Text 3"/>
          <p:cNvSpPr/>
          <p:nvPr/>
        </p:nvSpPr>
        <p:spPr>
          <a:xfrm>
            <a:off x="1157784" y="2673350"/>
            <a:ext cx="1176933"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1,000 users</a:t>
            </a:r>
            <a:endParaRPr lang="en-US" sz="1400" dirty="0"/>
          </a:p>
        </p:txBody>
      </p:sp>
      <p:sp>
        <p:nvSpPr>
          <p:cNvPr id="7" name="Text 4"/>
          <p:cNvSpPr/>
          <p:nvPr/>
        </p:nvSpPr>
        <p:spPr>
          <a:xfrm>
            <a:off x="1287383" y="2985740"/>
            <a:ext cx="91773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normal day</a:t>
            </a:r>
            <a:endParaRPr lang="en-US" sz="1200" dirty="0"/>
          </a:p>
        </p:txBody>
      </p:sp>
      <p:pic>
        <p:nvPicPr>
          <p:cNvPr id="8" name="Image 1" descr="arrow-right">    </p:cNvPr>
          <p:cNvPicPr>
            <a:picLocks noChangeAspect="1"/>
          </p:cNvPicPr>
          <p:nvPr/>
        </p:nvPicPr>
        <p:blipFill>
          <a:blip r:embed="rId2"/>
          <a:srcRect l="0" r="0" t="0" b="0"/>
          <a:stretch/>
        </p:blipFill>
        <p:spPr>
          <a:xfrm>
            <a:off x="2597150" y="2625030"/>
            <a:ext cx="406400" cy="203200"/>
          </a:xfrm>
          <a:prstGeom prst="rect">
            <a:avLst/>
          </a:prstGeom>
        </p:spPr>
      </p:pic>
      <p:sp>
        <p:nvSpPr>
          <p:cNvPr id="9" name="Shape 5"/>
          <p:cNvSpPr/>
          <p:nvPr/>
        </p:nvSpPr>
        <p:spPr>
          <a:xfrm>
            <a:off x="3162300" y="2082800"/>
            <a:ext cx="3657600" cy="1287661"/>
          </a:xfrm>
          <a:prstGeom prst="roundRect">
            <a:avLst>
              <a:gd name="adj" fmla="val 8383"/>
            </a:avLst>
          </a:prstGeom>
          <a:noFill/>
          <a:ln w="12700">
            <a:solidFill>
              <a:srgbClr val="263041"/>
            </a:solidFill>
            <a:prstDash val="solid"/>
          </a:ln>
        </p:spPr>
      </p:sp>
      <p:sp>
        <p:nvSpPr>
          <p:cNvPr id="10" name="Text 6"/>
          <p:cNvSpPr/>
          <p:nvPr/>
        </p:nvSpPr>
        <p:spPr>
          <a:xfrm>
            <a:off x="3321050" y="2241550"/>
            <a:ext cx="3440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1 server</a:t>
            </a:r>
            <a:endParaRPr lang="en-US" sz="1200" dirty="0"/>
          </a:p>
        </p:txBody>
      </p:sp>
      <p:sp>
        <p:nvSpPr>
          <p:cNvPr id="11" name="Text 7"/>
          <p:cNvSpPr/>
          <p:nvPr/>
        </p:nvSpPr>
        <p:spPr>
          <a:xfrm>
            <a:off x="3321050" y="2531070"/>
            <a:ext cx="3340100" cy="391120"/>
          </a:xfrm>
          <a:prstGeom prst="roundRect">
            <a:avLst>
              <a:gd name="adj" fmla="val 19483"/>
            </a:avLst>
          </a:prstGeom>
          <a:solidFill>
            <a:srgbClr val="FF9F45"/>
          </a:solidFill>
          <a:ln/>
        </p:spPr>
        <p:txBody>
          <a:bodyPr wrap="square" lIns="19147" tIns="66582" rIns="19147" bIns="41182"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backend</a:t>
            </a:r>
            <a:endParaRPr lang="en-US" sz="1200" dirty="0"/>
          </a:p>
        </p:txBody>
      </p:sp>
      <p:sp>
        <p:nvSpPr>
          <p:cNvPr id="12" name="Text 8"/>
          <p:cNvSpPr/>
          <p:nvPr/>
        </p:nvSpPr>
        <p:spPr>
          <a:xfrm>
            <a:off x="3321050" y="2998391"/>
            <a:ext cx="3440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E0AE"/>
                </a:solidFill>
                <a:latin typeface="IBM Plex Sans" pitchFamily="34" charset="0"/>
                <a:ea typeface="IBM Plex Sans" pitchFamily="34" charset="-122"/>
                <a:cs typeface="IBM Plex Sans" pitchFamily="34" charset="-120"/>
              </a:rPr>
              <a:t>Fast, healthy</a:t>
            </a:r>
            <a:endParaRPr lang="en-US" sz="1200" dirty="0"/>
          </a:p>
        </p:txBody>
      </p:sp>
      <p:sp>
        <p:nvSpPr>
          <p:cNvPr id="13" name="Shape 9"/>
          <p:cNvSpPr/>
          <p:nvPr/>
        </p:nvSpPr>
        <p:spPr>
          <a:xfrm>
            <a:off x="815975" y="3937595"/>
            <a:ext cx="6242050" cy="2104430"/>
          </a:xfrm>
          <a:prstGeom prst="roundRect">
            <a:avLst>
              <a:gd name="adj" fmla="val 7091"/>
            </a:avLst>
          </a:prstGeom>
          <a:solidFill>
            <a:srgbClr val="141922"/>
          </a:solidFill>
          <a:ln w="6350">
            <a:solidFill>
              <a:srgbClr val="263041"/>
            </a:solidFill>
            <a:prstDash val="solid"/>
          </a:ln>
        </p:spPr>
      </p:sp>
      <p:pic>
        <p:nvPicPr>
          <p:cNvPr id="14" name="Image 2" descr="Users">    </p:cNvPr>
          <p:cNvPicPr>
            <a:picLocks noChangeAspect="1"/>
          </p:cNvPicPr>
          <p:nvPr/>
        </p:nvPicPr>
        <p:blipFill>
          <a:blip r:embed="rId3"/>
          <a:srcRect l="0" r="0" t="0" b="0"/>
          <a:stretch/>
        </p:blipFill>
        <p:spPr>
          <a:xfrm>
            <a:off x="1568450" y="4517380"/>
            <a:ext cx="355600" cy="355600"/>
          </a:xfrm>
          <a:prstGeom prst="rect">
            <a:avLst/>
          </a:prstGeom>
        </p:spPr>
      </p:pic>
      <p:sp>
        <p:nvSpPr>
          <p:cNvPr id="15" name="Text 10"/>
          <p:cNvSpPr/>
          <p:nvPr/>
        </p:nvSpPr>
        <p:spPr>
          <a:xfrm>
            <a:off x="1029737" y="4936480"/>
            <a:ext cx="1432977"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3F5F8"/>
                </a:solidFill>
                <a:latin typeface="IBM Plex Sans" pitchFamily="34" charset="0"/>
                <a:ea typeface="IBM Plex Sans" pitchFamily="34" charset="-122"/>
                <a:cs typeface="IBM Plex Sans" pitchFamily="34" charset="-120"/>
              </a:rPr>
              <a:t>100,000 users</a:t>
            </a:r>
            <a:endParaRPr lang="en-US" sz="1400" dirty="0"/>
          </a:p>
        </p:txBody>
      </p:sp>
      <p:sp>
        <p:nvSpPr>
          <p:cNvPr id="16" name="Text 11"/>
          <p:cNvSpPr/>
          <p:nvPr/>
        </p:nvSpPr>
        <p:spPr>
          <a:xfrm>
            <a:off x="1409184" y="5248870"/>
            <a:ext cx="6741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sale day</a:t>
            </a:r>
            <a:endParaRPr lang="en-US" sz="1200" dirty="0"/>
          </a:p>
        </p:txBody>
      </p:sp>
      <p:pic>
        <p:nvPicPr>
          <p:cNvPr id="17" name="Image 3" descr="arrow-right">    </p:cNvPr>
          <p:cNvPicPr>
            <a:picLocks noChangeAspect="1"/>
          </p:cNvPicPr>
          <p:nvPr/>
        </p:nvPicPr>
        <p:blipFill>
          <a:blip r:embed="rId4"/>
          <a:srcRect l="0" r="0" t="0" b="0"/>
          <a:stretch/>
        </p:blipFill>
        <p:spPr>
          <a:xfrm>
            <a:off x="2597150" y="4888210"/>
            <a:ext cx="406400" cy="203200"/>
          </a:xfrm>
          <a:prstGeom prst="rect">
            <a:avLst/>
          </a:prstGeom>
        </p:spPr>
      </p:pic>
      <p:sp>
        <p:nvSpPr>
          <p:cNvPr id="18" name="Shape 12"/>
          <p:cNvSpPr/>
          <p:nvPr/>
        </p:nvSpPr>
        <p:spPr>
          <a:xfrm>
            <a:off x="3162300" y="4345980"/>
            <a:ext cx="3657600" cy="1287661"/>
          </a:xfrm>
          <a:prstGeom prst="roundRect">
            <a:avLst>
              <a:gd name="adj" fmla="val 8383"/>
            </a:avLst>
          </a:prstGeom>
          <a:solidFill>
            <a:srgbClr val="24131A"/>
          </a:solidFill>
          <a:ln w="12700">
            <a:solidFill>
              <a:srgbClr val="FF6B6B"/>
            </a:solidFill>
            <a:prstDash val="solid"/>
          </a:ln>
        </p:spPr>
      </p:sp>
      <p:sp>
        <p:nvSpPr>
          <p:cNvPr id="19" name="Text 13"/>
          <p:cNvSpPr/>
          <p:nvPr/>
        </p:nvSpPr>
        <p:spPr>
          <a:xfrm>
            <a:off x="3321050" y="4504730"/>
            <a:ext cx="3440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1 server</a:t>
            </a:r>
            <a:endParaRPr lang="en-US" sz="1200" dirty="0"/>
          </a:p>
        </p:txBody>
      </p:sp>
      <p:sp>
        <p:nvSpPr>
          <p:cNvPr id="20" name="Text 14"/>
          <p:cNvSpPr/>
          <p:nvPr/>
        </p:nvSpPr>
        <p:spPr>
          <a:xfrm>
            <a:off x="3321050" y="4794250"/>
            <a:ext cx="3340100" cy="391120"/>
          </a:xfrm>
          <a:prstGeom prst="roundRect">
            <a:avLst>
              <a:gd name="adj" fmla="val 19483"/>
            </a:avLst>
          </a:prstGeom>
          <a:solidFill>
            <a:srgbClr val="FF6B6B"/>
          </a:solidFill>
          <a:ln/>
        </p:spPr>
        <p:txBody>
          <a:bodyPr wrap="square" lIns="19147" tIns="66582" rIns="19147" bIns="41182"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backend</a:t>
            </a:r>
            <a:endParaRPr lang="en-US" sz="1200" dirty="0"/>
          </a:p>
        </p:txBody>
      </p:sp>
      <p:sp>
        <p:nvSpPr>
          <p:cNvPr id="21" name="Text 15"/>
          <p:cNvSpPr/>
          <p:nvPr/>
        </p:nvSpPr>
        <p:spPr>
          <a:xfrm>
            <a:off x="3321050" y="5261570"/>
            <a:ext cx="3440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A8A"/>
                </a:solidFill>
                <a:latin typeface="IBM Plex Sans" pitchFamily="34" charset="0"/>
                <a:ea typeface="IBM Plex Sans" pitchFamily="34" charset="-122"/>
                <a:cs typeface="IBM Plex Sans" pitchFamily="34" charset="-120"/>
              </a:rPr>
              <a:t>Overloaded · 503 errors</a:t>
            </a:r>
            <a:endParaRPr lang="en-US" sz="1200" dirty="0"/>
          </a:p>
        </p:txBody>
      </p:sp>
      <p:sp>
        <p:nvSpPr>
          <p:cNvPr id="22" name="Text 16"/>
          <p:cNvSpPr/>
          <p:nvPr/>
        </p:nvSpPr>
        <p:spPr>
          <a:xfrm>
            <a:off x="7315200" y="1671290"/>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9F45"/>
                </a:solidFill>
                <a:latin typeface="Space Grotesk" pitchFamily="34" charset="0"/>
                <a:ea typeface="Space Grotesk" pitchFamily="34" charset="-122"/>
                <a:cs typeface="Space Grotesk" pitchFamily="34" charset="-120"/>
              </a:rPr>
              <a:t>Who will…</a:t>
            </a:r>
            <a:endParaRPr lang="en-US" sz="1600" dirty="0"/>
          </a:p>
        </p:txBody>
      </p:sp>
      <p:sp>
        <p:nvSpPr>
          <p:cNvPr id="23" name="Shape 17"/>
          <p:cNvSpPr/>
          <p:nvPr/>
        </p:nvSpPr>
        <p:spPr>
          <a:xfrm>
            <a:off x="7318375" y="2032595"/>
            <a:ext cx="4057650" cy="534640"/>
          </a:xfrm>
          <a:prstGeom prst="roundRect">
            <a:avLst>
              <a:gd name="adj" fmla="val 20785"/>
            </a:avLst>
          </a:prstGeom>
          <a:solidFill>
            <a:srgbClr val="141922"/>
          </a:solidFill>
          <a:ln w="6350">
            <a:solidFill>
              <a:srgbClr val="263041"/>
            </a:solidFill>
            <a:prstDash val="solid"/>
          </a:ln>
        </p:spPr>
      </p:sp>
      <p:pic>
        <p:nvPicPr>
          <p:cNvPr id="24" name="Image 4" descr="Lightning">    </p:cNvPr>
          <p:cNvPicPr>
            <a:picLocks noChangeAspect="1"/>
          </p:cNvPicPr>
          <p:nvPr/>
        </p:nvPicPr>
        <p:blipFill>
          <a:blip r:embed="rId5"/>
          <a:srcRect l="0" r="0" t="0" b="0"/>
          <a:stretch/>
        </p:blipFill>
        <p:spPr>
          <a:xfrm>
            <a:off x="7499350" y="2185591"/>
            <a:ext cx="228600" cy="228600"/>
          </a:xfrm>
          <a:prstGeom prst="rect">
            <a:avLst/>
          </a:prstGeom>
        </p:spPr>
      </p:pic>
      <p:sp>
        <p:nvSpPr>
          <p:cNvPr id="25" name="Text 18"/>
          <p:cNvSpPr/>
          <p:nvPr/>
        </p:nvSpPr>
        <p:spPr>
          <a:xfrm>
            <a:off x="7854950" y="2175470"/>
            <a:ext cx="31486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start 30 more copies in seconds?</a:t>
            </a:r>
            <a:endParaRPr lang="en-US" sz="1400" dirty="0"/>
          </a:p>
        </p:txBody>
      </p:sp>
      <p:sp>
        <p:nvSpPr>
          <p:cNvPr id="26" name="Shape 19"/>
          <p:cNvSpPr/>
          <p:nvPr/>
        </p:nvSpPr>
        <p:spPr>
          <a:xfrm>
            <a:off x="7318375" y="2687886"/>
            <a:ext cx="4057650" cy="534640"/>
          </a:xfrm>
          <a:prstGeom prst="roundRect">
            <a:avLst>
              <a:gd name="adj" fmla="val 20785"/>
            </a:avLst>
          </a:prstGeom>
          <a:solidFill>
            <a:srgbClr val="141922"/>
          </a:solidFill>
          <a:ln w="6350">
            <a:solidFill>
              <a:srgbClr val="263041"/>
            </a:solidFill>
            <a:prstDash val="solid"/>
          </a:ln>
        </p:spPr>
      </p:sp>
      <p:pic>
        <p:nvPicPr>
          <p:cNvPr id="27" name="Image 5" descr="Search">    </p:cNvPr>
          <p:cNvPicPr>
            <a:picLocks noChangeAspect="1"/>
          </p:cNvPicPr>
          <p:nvPr/>
        </p:nvPicPr>
        <p:blipFill>
          <a:blip r:embed="rId6"/>
          <a:srcRect l="0" r="0" t="0" b="0"/>
          <a:stretch/>
        </p:blipFill>
        <p:spPr>
          <a:xfrm>
            <a:off x="7499350" y="2840881"/>
            <a:ext cx="228600" cy="228600"/>
          </a:xfrm>
          <a:prstGeom prst="rect">
            <a:avLst/>
          </a:prstGeom>
        </p:spPr>
      </p:pic>
      <p:sp>
        <p:nvSpPr>
          <p:cNvPr id="28" name="Text 20"/>
          <p:cNvSpPr/>
          <p:nvPr/>
        </p:nvSpPr>
        <p:spPr>
          <a:xfrm>
            <a:off x="7854950" y="2830761"/>
            <a:ext cx="274534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pick servers that have room?</a:t>
            </a:r>
            <a:endParaRPr lang="en-US" sz="1400" dirty="0"/>
          </a:p>
        </p:txBody>
      </p:sp>
      <p:sp>
        <p:nvSpPr>
          <p:cNvPr id="29" name="Shape 21"/>
          <p:cNvSpPr/>
          <p:nvPr/>
        </p:nvSpPr>
        <p:spPr>
          <a:xfrm>
            <a:off x="7318375" y="3343176"/>
            <a:ext cx="4057650" cy="534640"/>
          </a:xfrm>
          <a:prstGeom prst="roundRect">
            <a:avLst>
              <a:gd name="adj" fmla="val 20785"/>
            </a:avLst>
          </a:prstGeom>
          <a:solidFill>
            <a:srgbClr val="141922"/>
          </a:solidFill>
          <a:ln w="6350">
            <a:solidFill>
              <a:srgbClr val="263041"/>
            </a:solidFill>
            <a:prstDash val="solid"/>
          </a:ln>
        </p:spPr>
      </p:sp>
      <p:pic>
        <p:nvPicPr>
          <p:cNvPr id="30" name="Image 6" descr="Clock">    </p:cNvPr>
          <p:cNvPicPr>
            <a:picLocks noChangeAspect="1"/>
          </p:cNvPicPr>
          <p:nvPr/>
        </p:nvPicPr>
        <p:blipFill>
          <a:blip r:embed="rId7"/>
          <a:srcRect l="0" r="0" t="0" b="0"/>
          <a:stretch/>
        </p:blipFill>
        <p:spPr>
          <a:xfrm>
            <a:off x="7499350" y="3496171"/>
            <a:ext cx="228600" cy="228600"/>
          </a:xfrm>
          <a:prstGeom prst="rect">
            <a:avLst/>
          </a:prstGeom>
        </p:spPr>
      </p:pic>
      <p:sp>
        <p:nvSpPr>
          <p:cNvPr id="31" name="Text 22"/>
          <p:cNvSpPr/>
          <p:nvPr/>
        </p:nvSpPr>
        <p:spPr>
          <a:xfrm>
            <a:off x="7854950" y="3486051"/>
            <a:ext cx="225778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restart a crash at 3 AM?</a:t>
            </a:r>
            <a:endParaRPr lang="en-US" sz="1400" dirty="0"/>
          </a:p>
        </p:txBody>
      </p:sp>
      <p:sp>
        <p:nvSpPr>
          <p:cNvPr id="32" name="Shape 23"/>
          <p:cNvSpPr/>
          <p:nvPr/>
        </p:nvSpPr>
        <p:spPr>
          <a:xfrm>
            <a:off x="7318375" y="3998466"/>
            <a:ext cx="4057650" cy="534640"/>
          </a:xfrm>
          <a:prstGeom prst="roundRect">
            <a:avLst>
              <a:gd name="adj" fmla="val 20785"/>
            </a:avLst>
          </a:prstGeom>
          <a:solidFill>
            <a:srgbClr val="141922"/>
          </a:solidFill>
          <a:ln w="6350">
            <a:solidFill>
              <a:srgbClr val="263041"/>
            </a:solidFill>
            <a:prstDash val="solid"/>
          </a:ln>
        </p:spPr>
      </p:sp>
      <p:pic>
        <p:nvPicPr>
          <p:cNvPr id="33" name="Image 7" descr="Activity">    </p:cNvPr>
          <p:cNvPicPr>
            <a:picLocks noChangeAspect="1"/>
          </p:cNvPicPr>
          <p:nvPr/>
        </p:nvPicPr>
        <p:blipFill>
          <a:blip r:embed="rId8"/>
          <a:srcRect l="0" r="0" t="0" b="0"/>
          <a:stretch/>
        </p:blipFill>
        <p:spPr>
          <a:xfrm>
            <a:off x="7499350" y="4151461"/>
            <a:ext cx="228600" cy="228600"/>
          </a:xfrm>
          <a:prstGeom prst="rect">
            <a:avLst/>
          </a:prstGeom>
        </p:spPr>
      </p:pic>
      <p:sp>
        <p:nvSpPr>
          <p:cNvPr id="34" name="Text 24"/>
          <p:cNvSpPr/>
          <p:nvPr/>
        </p:nvSpPr>
        <p:spPr>
          <a:xfrm>
            <a:off x="7854950" y="4141341"/>
            <a:ext cx="27212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5F8"/>
                </a:solidFill>
                <a:latin typeface="IBM Plex Sans" pitchFamily="34" charset="0"/>
                <a:ea typeface="IBM Plex Sans" pitchFamily="34" charset="-122"/>
                <a:cs typeface="IBM Plex Sans" pitchFamily="34" charset="-120"/>
              </a:rPr>
              <a:t>ship v2 with zero downtime?</a:t>
            </a:r>
            <a:endParaRPr lang="en-US" sz="1400" dirty="0"/>
          </a:p>
        </p:txBody>
      </p:sp>
      <p:sp>
        <p:nvSpPr>
          <p:cNvPr id="35" name="Text 25"/>
          <p:cNvSpPr/>
          <p:nvPr/>
        </p:nvSpPr>
        <p:spPr>
          <a:xfrm>
            <a:off x="7315200" y="5532140"/>
            <a:ext cx="4064000" cy="513060"/>
          </a:xfrm>
          <a:prstGeom prst="roundRect">
            <a:avLst>
              <a:gd name="adj" fmla="val 19803"/>
            </a:avLst>
          </a:prstGeom>
          <a:solidFill>
            <a:srgbClr val="FF9F45"/>
          </a:solidFill>
          <a:ln/>
        </p:spPr>
        <p:txBody>
          <a:bodyPr wrap="square" lIns="92416" tIns="84542" rIns="92416" bIns="59142" rtlCol="0" anchor="t">
            <a:normAutofit/>
          </a:bodyPr>
          <a:lstStyle/>
          <a:p>
            <a:pPr algn="ctr" indent="0" marL="0">
              <a:lnSpc>
                <a:spcPts val="2240"/>
              </a:lnSpc>
              <a:buNone/>
            </a:pPr>
            <a:r>
              <a:rPr lang="en-US" sz="1600" b="1" dirty="0">
                <a:solidFill>
                  <a:srgbClr val="0A0C10"/>
                </a:solidFill>
                <a:latin typeface="Space Grotesk" pitchFamily="34" charset="0"/>
                <a:ea typeface="Space Grotesk" pitchFamily="34" charset="-122"/>
                <a:cs typeface="Space Grotesk" pitchFamily="34" charset="-120"/>
              </a:rPr>
              <a:t>Answer: Kubernetes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7856041"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What Kubernetes does for you</a:t>
            </a:r>
            <a:endParaRPr lang="en-US" sz="3600" dirty="0"/>
          </a:p>
        </p:txBody>
      </p:sp>
      <p:sp>
        <p:nvSpPr>
          <p:cNvPr id="3" name="Text 1"/>
          <p:cNvSpPr/>
          <p:nvPr/>
        </p:nvSpPr>
        <p:spPr>
          <a:xfrm>
            <a:off x="10013950" y="887710"/>
            <a:ext cx="1358900" cy="353020"/>
          </a:xfrm>
          <a:prstGeom prst="roundRect">
            <a:avLst>
              <a:gd name="adj" fmla="val 50000"/>
            </a:avLst>
          </a:prstGeom>
          <a:noFill/>
          <a:ln w="12700">
            <a:solidFill>
              <a:srgbClr val="FF9F4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FF9F45"/>
                </a:solidFill>
                <a:latin typeface="JetBrains Mono" pitchFamily="49" charset="0"/>
                <a:ea typeface="JetBrains Mono" pitchFamily="49" charset="-122"/>
                <a:cs typeface="JetBrains Mono" pitchFamily="49" charset="-120"/>
              </a:rPr>
              <a:t>KUBERNETES</a:t>
            </a:r>
            <a:endParaRPr lang="en-US" sz="1200" dirty="0"/>
          </a:p>
        </p:txBody>
      </p:sp>
      <p:sp>
        <p:nvSpPr>
          <p:cNvPr id="4" name="Shape 2"/>
          <p:cNvSpPr/>
          <p:nvPr/>
        </p:nvSpPr>
        <p:spPr>
          <a:xfrm>
            <a:off x="815975" y="1674465"/>
            <a:ext cx="5200650" cy="2104380"/>
          </a:xfrm>
          <a:prstGeom prst="roundRect">
            <a:avLst>
              <a:gd name="adj" fmla="val 7091"/>
            </a:avLst>
          </a:prstGeom>
          <a:solidFill>
            <a:srgbClr val="141922"/>
          </a:solidFill>
          <a:ln w="6350">
            <a:solidFill>
              <a:srgbClr val="263041"/>
            </a:solidFill>
            <a:prstDash val="solid"/>
          </a:ln>
        </p:spPr>
      </p:sp>
      <p:pic>
        <p:nvPicPr>
          <p:cNvPr id="5" name="Image 0" descr="Activity">    </p:cNvPr>
          <p:cNvPicPr>
            <a:picLocks noChangeAspect="1"/>
          </p:cNvPicPr>
          <p:nvPr/>
        </p:nvPicPr>
        <p:blipFill>
          <a:blip r:embed="rId1"/>
          <a:srcRect l="0" r="0" t="0" b="0"/>
          <a:stretch/>
        </p:blipFill>
        <p:spPr>
          <a:xfrm>
            <a:off x="1047750" y="1927175"/>
            <a:ext cx="279400" cy="279400"/>
          </a:xfrm>
          <a:prstGeom prst="rect">
            <a:avLst/>
          </a:prstGeom>
        </p:spPr>
      </p:pic>
      <p:sp>
        <p:nvSpPr>
          <p:cNvPr id="6" name="Text 3"/>
          <p:cNvSpPr/>
          <p:nvPr/>
        </p:nvSpPr>
        <p:spPr>
          <a:xfrm>
            <a:off x="1428750" y="1906240"/>
            <a:ext cx="196613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Self-healing</a:t>
            </a:r>
            <a:endParaRPr lang="en-US" sz="2200" dirty="0"/>
          </a:p>
        </p:txBody>
      </p:sp>
      <p:sp>
        <p:nvSpPr>
          <p:cNvPr id="7" name="Text 4"/>
          <p:cNvSpPr/>
          <p:nvPr/>
        </p:nvSpPr>
        <p:spPr>
          <a:xfrm>
            <a:off x="1047750" y="2341811"/>
            <a:ext cx="502940" cy="340320"/>
          </a:xfrm>
          <a:prstGeom prst="roundRect">
            <a:avLst>
              <a:gd name="adj" fmla="val 18659"/>
            </a:avLst>
          </a:prstGeom>
          <a:solidFill>
            <a:srgbClr val="1E3A5A"/>
          </a:solidFill>
          <a:ln/>
        </p:spPr>
        <p:txBody>
          <a:bodyPr wrap="none" lIns="0" tIns="0" rIns="0" bIns="0" rtlCol="0" anchor="ctr">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pod</a:t>
            </a:r>
            <a:endParaRPr lang="en-US" sz="1200" dirty="0"/>
          </a:p>
        </p:txBody>
      </p:sp>
      <p:sp>
        <p:nvSpPr>
          <p:cNvPr id="8" name="Text 5"/>
          <p:cNvSpPr/>
          <p:nvPr/>
        </p:nvSpPr>
        <p:spPr>
          <a:xfrm>
            <a:off x="1633240" y="2348161"/>
            <a:ext cx="881410" cy="327620"/>
          </a:xfrm>
          <a:prstGeom prst="roundRect">
            <a:avLst>
              <a:gd name="adj" fmla="val 17444"/>
            </a:avLst>
          </a:prstGeom>
          <a:solidFill>
            <a:srgbClr val="24131A"/>
          </a:solidFill>
          <a:ln w="12700">
            <a:solidFill>
              <a:srgbClr val="FF6B6B"/>
            </a:solidFill>
            <a:prstDash val="solid"/>
          </a:ln>
        </p:spPr>
        <p:txBody>
          <a:bodyPr wrap="none" lIns="0" tIns="0" rIns="0" bIns="0" rtlCol="0" anchor="ctr">
            <a:normAutofit/>
          </a:bodyPr>
          <a:lstStyle/>
          <a:p>
            <a:pPr algn="ctr" indent="0" marL="0">
              <a:lnSpc>
                <a:spcPts val="1680"/>
              </a:lnSpc>
              <a:buNone/>
            </a:pPr>
            <a:r>
              <a:rPr lang="en-US" sz="1200" dirty="0">
                <a:solidFill>
                  <a:srgbClr val="FF8A8A"/>
                </a:solidFill>
                <a:latin typeface="JetBrains Mono" pitchFamily="49" charset="0"/>
                <a:ea typeface="JetBrains Mono" pitchFamily="49" charset="-122"/>
                <a:cs typeface="JetBrains Mono" pitchFamily="49" charset="-120"/>
              </a:rPr>
              <a:t>crashed</a:t>
            </a:r>
            <a:endParaRPr lang="en-US" sz="1200" dirty="0"/>
          </a:p>
        </p:txBody>
      </p:sp>
      <p:pic>
        <p:nvPicPr>
          <p:cNvPr id="9" name="Image 1" descr="arrow-right">    </p:cNvPr>
          <p:cNvPicPr>
            <a:picLocks noChangeAspect="1"/>
          </p:cNvPicPr>
          <p:nvPr/>
        </p:nvPicPr>
        <p:blipFill>
          <a:blip r:embed="rId2"/>
          <a:srcRect l="0" r="0" t="0" b="0"/>
          <a:stretch/>
        </p:blipFill>
        <p:spPr>
          <a:xfrm>
            <a:off x="2597200" y="2442121"/>
            <a:ext cx="279400" cy="139700"/>
          </a:xfrm>
          <a:prstGeom prst="rect">
            <a:avLst/>
          </a:prstGeom>
        </p:spPr>
      </p:pic>
      <p:sp>
        <p:nvSpPr>
          <p:cNvPr id="10" name="Text 6"/>
          <p:cNvSpPr/>
          <p:nvPr/>
        </p:nvSpPr>
        <p:spPr>
          <a:xfrm>
            <a:off x="2959150" y="2348161"/>
            <a:ext cx="881410" cy="327620"/>
          </a:xfrm>
          <a:prstGeom prst="roundRect">
            <a:avLst>
              <a:gd name="adj" fmla="val 17444"/>
            </a:avLst>
          </a:prstGeom>
          <a:solidFill>
            <a:srgbClr val="10261A"/>
          </a:solidFill>
          <a:ln w="12700">
            <a:solidFill>
              <a:srgbClr val="4FC27A"/>
            </a:solidFill>
            <a:prstDash val="solid"/>
          </a:ln>
        </p:spPr>
        <p:txBody>
          <a:bodyPr wrap="none" lIns="0" tIns="0" rIns="0" bIns="0" rtlCol="0" anchor="ctr">
            <a:normAutofit/>
          </a:bodyPr>
          <a:lstStyle/>
          <a:p>
            <a:pPr algn="ctr" indent="0" marL="0">
              <a:lnSpc>
                <a:spcPts val="1680"/>
              </a:lnSpc>
              <a:buNone/>
            </a:pPr>
            <a:r>
              <a:rPr lang="en-US" sz="1200" dirty="0">
                <a:solidFill>
                  <a:srgbClr val="8EE0AE"/>
                </a:solidFill>
                <a:latin typeface="JetBrains Mono" pitchFamily="49" charset="0"/>
                <a:ea typeface="JetBrains Mono" pitchFamily="49" charset="-122"/>
                <a:cs typeface="JetBrains Mono" pitchFamily="49" charset="-120"/>
              </a:rPr>
              <a:t>new pod</a:t>
            </a:r>
            <a:endParaRPr lang="en-US" sz="1200" dirty="0"/>
          </a:p>
        </p:txBody>
      </p:sp>
      <p:sp>
        <p:nvSpPr>
          <p:cNvPr id="11" name="Text 7"/>
          <p:cNvSpPr/>
          <p:nvPr/>
        </p:nvSpPr>
        <p:spPr>
          <a:xfrm>
            <a:off x="1047750" y="2796431"/>
            <a:ext cx="4965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A crash at 3 AM is replaced in seconds. Nobody wakes up.</a:t>
            </a:r>
            <a:endParaRPr lang="en-US" sz="1400" dirty="0"/>
          </a:p>
        </p:txBody>
      </p:sp>
      <p:sp>
        <p:nvSpPr>
          <p:cNvPr id="12" name="Shape 8"/>
          <p:cNvSpPr/>
          <p:nvPr/>
        </p:nvSpPr>
        <p:spPr>
          <a:xfrm>
            <a:off x="6175375" y="1674465"/>
            <a:ext cx="5200650" cy="2104380"/>
          </a:xfrm>
          <a:prstGeom prst="roundRect">
            <a:avLst>
              <a:gd name="adj" fmla="val 7091"/>
            </a:avLst>
          </a:prstGeom>
          <a:solidFill>
            <a:srgbClr val="141922"/>
          </a:solidFill>
          <a:ln w="6350">
            <a:solidFill>
              <a:srgbClr val="263041"/>
            </a:solidFill>
            <a:prstDash val="solid"/>
          </a:ln>
        </p:spPr>
      </p:sp>
      <p:pic>
        <p:nvPicPr>
          <p:cNvPr id="13" name="Image 2" descr="Chart">    </p:cNvPr>
          <p:cNvPicPr>
            <a:picLocks noChangeAspect="1"/>
          </p:cNvPicPr>
          <p:nvPr/>
        </p:nvPicPr>
        <p:blipFill>
          <a:blip r:embed="rId3"/>
          <a:srcRect l="0" r="0" t="0" b="0"/>
          <a:stretch/>
        </p:blipFill>
        <p:spPr>
          <a:xfrm>
            <a:off x="6407150" y="1927175"/>
            <a:ext cx="279400" cy="279400"/>
          </a:xfrm>
          <a:prstGeom prst="rect">
            <a:avLst/>
          </a:prstGeom>
        </p:spPr>
      </p:pic>
      <p:sp>
        <p:nvSpPr>
          <p:cNvPr id="14" name="Text 9"/>
          <p:cNvSpPr/>
          <p:nvPr/>
        </p:nvSpPr>
        <p:spPr>
          <a:xfrm>
            <a:off x="6788150" y="1906240"/>
            <a:ext cx="208079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Auto-scaling</a:t>
            </a:r>
            <a:endParaRPr lang="en-US" sz="2200" dirty="0"/>
          </a:p>
        </p:txBody>
      </p:sp>
      <p:sp>
        <p:nvSpPr>
          <p:cNvPr id="15" name="Shape 10"/>
          <p:cNvSpPr/>
          <p:nvPr/>
        </p:nvSpPr>
        <p:spPr>
          <a:xfrm>
            <a:off x="6407150" y="2341811"/>
            <a:ext cx="190500" cy="279400"/>
          </a:xfrm>
          <a:prstGeom prst="roundRect">
            <a:avLst>
              <a:gd name="adj" fmla="val 20000"/>
            </a:avLst>
          </a:prstGeom>
          <a:solidFill>
            <a:srgbClr val="3BA4F5"/>
          </a:solidFill>
          <a:ln/>
        </p:spPr>
      </p:sp>
      <p:sp>
        <p:nvSpPr>
          <p:cNvPr id="16" name="Shape 11"/>
          <p:cNvSpPr/>
          <p:nvPr/>
        </p:nvSpPr>
        <p:spPr>
          <a:xfrm>
            <a:off x="6648450" y="2341811"/>
            <a:ext cx="190500" cy="279400"/>
          </a:xfrm>
          <a:prstGeom prst="roundRect">
            <a:avLst>
              <a:gd name="adj" fmla="val 20000"/>
            </a:avLst>
          </a:prstGeom>
          <a:solidFill>
            <a:srgbClr val="3BA4F5"/>
          </a:solidFill>
          <a:ln/>
        </p:spPr>
      </p:sp>
      <p:sp>
        <p:nvSpPr>
          <p:cNvPr id="17" name="Shape 12"/>
          <p:cNvSpPr/>
          <p:nvPr/>
        </p:nvSpPr>
        <p:spPr>
          <a:xfrm>
            <a:off x="6889750" y="2341811"/>
            <a:ext cx="190500" cy="279400"/>
          </a:xfrm>
          <a:prstGeom prst="roundRect">
            <a:avLst>
              <a:gd name="adj" fmla="val 20000"/>
            </a:avLst>
          </a:prstGeom>
          <a:solidFill>
            <a:srgbClr val="3BA4F5"/>
          </a:solidFill>
          <a:ln/>
        </p:spPr>
      </p:sp>
      <p:pic>
        <p:nvPicPr>
          <p:cNvPr id="18" name="Image 3" descr="arrow-right">    </p:cNvPr>
          <p:cNvPicPr>
            <a:picLocks noChangeAspect="1"/>
          </p:cNvPicPr>
          <p:nvPr/>
        </p:nvPicPr>
        <p:blipFill>
          <a:blip r:embed="rId4"/>
          <a:srcRect l="0" r="0" t="0" b="0"/>
          <a:stretch/>
        </p:blipFill>
        <p:spPr>
          <a:xfrm>
            <a:off x="7131050" y="2411661"/>
            <a:ext cx="279400" cy="139700"/>
          </a:xfrm>
          <a:prstGeom prst="rect">
            <a:avLst/>
          </a:prstGeom>
        </p:spPr>
      </p:pic>
      <p:sp>
        <p:nvSpPr>
          <p:cNvPr id="19" name="Shape 13"/>
          <p:cNvSpPr/>
          <p:nvPr/>
        </p:nvSpPr>
        <p:spPr>
          <a:xfrm>
            <a:off x="7461250" y="2341811"/>
            <a:ext cx="190500" cy="279400"/>
          </a:xfrm>
          <a:prstGeom prst="roundRect">
            <a:avLst>
              <a:gd name="adj" fmla="val 20000"/>
            </a:avLst>
          </a:prstGeom>
          <a:solidFill>
            <a:srgbClr val="3BA4F5"/>
          </a:solidFill>
          <a:ln/>
        </p:spPr>
      </p:sp>
      <p:sp>
        <p:nvSpPr>
          <p:cNvPr id="20" name="Shape 14"/>
          <p:cNvSpPr/>
          <p:nvPr/>
        </p:nvSpPr>
        <p:spPr>
          <a:xfrm>
            <a:off x="7702550" y="2341811"/>
            <a:ext cx="190500" cy="279400"/>
          </a:xfrm>
          <a:prstGeom prst="roundRect">
            <a:avLst>
              <a:gd name="adj" fmla="val 20000"/>
            </a:avLst>
          </a:prstGeom>
          <a:solidFill>
            <a:srgbClr val="3BA4F5"/>
          </a:solidFill>
          <a:ln/>
        </p:spPr>
      </p:sp>
      <p:sp>
        <p:nvSpPr>
          <p:cNvPr id="21" name="Shape 15"/>
          <p:cNvSpPr/>
          <p:nvPr/>
        </p:nvSpPr>
        <p:spPr>
          <a:xfrm>
            <a:off x="7943850" y="2341811"/>
            <a:ext cx="190500" cy="279400"/>
          </a:xfrm>
          <a:prstGeom prst="roundRect">
            <a:avLst>
              <a:gd name="adj" fmla="val 20000"/>
            </a:avLst>
          </a:prstGeom>
          <a:solidFill>
            <a:srgbClr val="3BA4F5"/>
          </a:solidFill>
          <a:ln/>
        </p:spPr>
      </p:sp>
      <p:sp>
        <p:nvSpPr>
          <p:cNvPr id="22" name="Shape 16"/>
          <p:cNvSpPr/>
          <p:nvPr/>
        </p:nvSpPr>
        <p:spPr>
          <a:xfrm>
            <a:off x="8185150" y="2341811"/>
            <a:ext cx="190500" cy="279400"/>
          </a:xfrm>
          <a:prstGeom prst="roundRect">
            <a:avLst>
              <a:gd name="adj" fmla="val 20000"/>
            </a:avLst>
          </a:prstGeom>
          <a:solidFill>
            <a:srgbClr val="3BA4F5"/>
          </a:solidFill>
          <a:ln/>
        </p:spPr>
      </p:sp>
      <p:sp>
        <p:nvSpPr>
          <p:cNvPr id="23" name="Shape 17"/>
          <p:cNvSpPr/>
          <p:nvPr/>
        </p:nvSpPr>
        <p:spPr>
          <a:xfrm>
            <a:off x="8426450" y="2341811"/>
            <a:ext cx="190500" cy="279400"/>
          </a:xfrm>
          <a:prstGeom prst="roundRect">
            <a:avLst>
              <a:gd name="adj" fmla="val 20000"/>
            </a:avLst>
          </a:prstGeom>
          <a:solidFill>
            <a:srgbClr val="3BA4F5"/>
          </a:solidFill>
          <a:ln/>
        </p:spPr>
      </p:sp>
      <p:sp>
        <p:nvSpPr>
          <p:cNvPr id="24" name="Shape 18"/>
          <p:cNvSpPr/>
          <p:nvPr/>
        </p:nvSpPr>
        <p:spPr>
          <a:xfrm>
            <a:off x="8667750" y="2341811"/>
            <a:ext cx="190500" cy="279400"/>
          </a:xfrm>
          <a:prstGeom prst="roundRect">
            <a:avLst>
              <a:gd name="adj" fmla="val 20000"/>
            </a:avLst>
          </a:prstGeom>
          <a:solidFill>
            <a:srgbClr val="3BA4F5"/>
          </a:solidFill>
          <a:ln/>
        </p:spPr>
      </p:sp>
      <p:sp>
        <p:nvSpPr>
          <p:cNvPr id="25" name="Shape 19"/>
          <p:cNvSpPr/>
          <p:nvPr/>
        </p:nvSpPr>
        <p:spPr>
          <a:xfrm>
            <a:off x="8909050" y="2341811"/>
            <a:ext cx="190500" cy="279400"/>
          </a:xfrm>
          <a:prstGeom prst="roundRect">
            <a:avLst>
              <a:gd name="adj" fmla="val 20000"/>
            </a:avLst>
          </a:prstGeom>
          <a:solidFill>
            <a:srgbClr val="3BA4F5"/>
          </a:solidFill>
          <a:ln/>
        </p:spPr>
      </p:sp>
      <p:sp>
        <p:nvSpPr>
          <p:cNvPr id="26" name="Shape 20"/>
          <p:cNvSpPr/>
          <p:nvPr/>
        </p:nvSpPr>
        <p:spPr>
          <a:xfrm>
            <a:off x="9150350" y="2341811"/>
            <a:ext cx="190500" cy="279400"/>
          </a:xfrm>
          <a:prstGeom prst="roundRect">
            <a:avLst>
              <a:gd name="adj" fmla="val 20000"/>
            </a:avLst>
          </a:prstGeom>
          <a:solidFill>
            <a:srgbClr val="3BA4F5"/>
          </a:solidFill>
          <a:ln/>
        </p:spPr>
      </p:sp>
      <p:sp>
        <p:nvSpPr>
          <p:cNvPr id="27" name="Shape 21"/>
          <p:cNvSpPr/>
          <p:nvPr/>
        </p:nvSpPr>
        <p:spPr>
          <a:xfrm>
            <a:off x="9391650" y="2341811"/>
            <a:ext cx="190500" cy="279400"/>
          </a:xfrm>
          <a:prstGeom prst="roundRect">
            <a:avLst>
              <a:gd name="adj" fmla="val 20000"/>
            </a:avLst>
          </a:prstGeom>
          <a:solidFill>
            <a:srgbClr val="3BA4F5"/>
          </a:solidFill>
          <a:ln/>
        </p:spPr>
      </p:sp>
      <p:sp>
        <p:nvSpPr>
          <p:cNvPr id="28" name="Shape 22"/>
          <p:cNvSpPr/>
          <p:nvPr/>
        </p:nvSpPr>
        <p:spPr>
          <a:xfrm>
            <a:off x="9632950" y="2341811"/>
            <a:ext cx="190500" cy="279400"/>
          </a:xfrm>
          <a:prstGeom prst="roundRect">
            <a:avLst>
              <a:gd name="adj" fmla="val 20000"/>
            </a:avLst>
          </a:prstGeom>
          <a:solidFill>
            <a:srgbClr val="3BA4F5"/>
          </a:solidFill>
          <a:ln/>
        </p:spPr>
      </p:sp>
      <p:sp>
        <p:nvSpPr>
          <p:cNvPr id="29" name="Text 23"/>
          <p:cNvSpPr/>
          <p:nvPr/>
        </p:nvSpPr>
        <p:spPr>
          <a:xfrm>
            <a:off x="6407150" y="2735511"/>
            <a:ext cx="4965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Traffic spikes: 3 pods become 10. Traffic drops: back to 3.</a:t>
            </a:r>
            <a:endParaRPr lang="en-US" sz="1400" dirty="0"/>
          </a:p>
        </p:txBody>
      </p:sp>
      <p:sp>
        <p:nvSpPr>
          <p:cNvPr id="30" name="Shape 24"/>
          <p:cNvSpPr/>
          <p:nvPr/>
        </p:nvSpPr>
        <p:spPr>
          <a:xfrm>
            <a:off x="815975" y="3937595"/>
            <a:ext cx="5200650" cy="2104430"/>
          </a:xfrm>
          <a:prstGeom prst="roundRect">
            <a:avLst>
              <a:gd name="adj" fmla="val 7091"/>
            </a:avLst>
          </a:prstGeom>
          <a:solidFill>
            <a:srgbClr val="141922"/>
          </a:solidFill>
          <a:ln w="6350">
            <a:solidFill>
              <a:srgbClr val="263041"/>
            </a:solidFill>
            <a:prstDash val="solid"/>
          </a:ln>
        </p:spPr>
      </p:sp>
      <p:pic>
        <p:nvPicPr>
          <p:cNvPr id="31" name="Image 4" descr="Settings">    </p:cNvPr>
          <p:cNvPicPr>
            <a:picLocks noChangeAspect="1"/>
          </p:cNvPicPr>
          <p:nvPr/>
        </p:nvPicPr>
        <p:blipFill>
          <a:blip r:embed="rId5"/>
          <a:srcRect l="0" r="0" t="0" b="0"/>
          <a:stretch/>
        </p:blipFill>
        <p:spPr>
          <a:xfrm>
            <a:off x="1047750" y="4190305"/>
            <a:ext cx="279400" cy="279400"/>
          </a:xfrm>
          <a:prstGeom prst="rect">
            <a:avLst/>
          </a:prstGeom>
        </p:spPr>
      </p:pic>
      <p:sp>
        <p:nvSpPr>
          <p:cNvPr id="32" name="Text 25"/>
          <p:cNvSpPr/>
          <p:nvPr/>
        </p:nvSpPr>
        <p:spPr>
          <a:xfrm>
            <a:off x="1428750" y="4169370"/>
            <a:ext cx="252233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Rolling updates</a:t>
            </a:r>
            <a:endParaRPr lang="en-US" sz="2200" dirty="0"/>
          </a:p>
        </p:txBody>
      </p:sp>
      <p:sp>
        <p:nvSpPr>
          <p:cNvPr id="33" name="Text 26"/>
          <p:cNvSpPr/>
          <p:nvPr/>
        </p:nvSpPr>
        <p:spPr>
          <a:xfrm>
            <a:off x="1047750" y="4604941"/>
            <a:ext cx="411510" cy="340320"/>
          </a:xfrm>
          <a:prstGeom prst="roundRect">
            <a:avLst>
              <a:gd name="adj" fmla="val 18659"/>
            </a:avLst>
          </a:prstGeom>
          <a:solidFill>
            <a:srgbClr val="10261A"/>
          </a:solidFill>
          <a:ln/>
        </p:spPr>
        <p:txBody>
          <a:bodyPr wrap="none" lIns="0" tIns="0" rIns="0" bIns="0" rtlCol="0" anchor="ctr">
            <a:normAutofit/>
          </a:bodyPr>
          <a:lstStyle/>
          <a:p>
            <a:pPr algn="ctr" indent="0" marL="0">
              <a:lnSpc>
                <a:spcPts val="1680"/>
              </a:lnSpc>
              <a:buNone/>
            </a:pPr>
            <a:r>
              <a:rPr lang="en-US" sz="1200" dirty="0">
                <a:solidFill>
                  <a:srgbClr val="8EE0AE"/>
                </a:solidFill>
                <a:latin typeface="JetBrains Mono" pitchFamily="49" charset="0"/>
                <a:ea typeface="JetBrains Mono" pitchFamily="49" charset="-122"/>
                <a:cs typeface="JetBrains Mono" pitchFamily="49" charset="-120"/>
              </a:rPr>
              <a:t>v2</a:t>
            </a:r>
            <a:endParaRPr lang="en-US" sz="1200" dirty="0"/>
          </a:p>
        </p:txBody>
      </p:sp>
      <p:sp>
        <p:nvSpPr>
          <p:cNvPr id="34" name="Text 27"/>
          <p:cNvSpPr/>
          <p:nvPr/>
        </p:nvSpPr>
        <p:spPr>
          <a:xfrm>
            <a:off x="1535460" y="4604941"/>
            <a:ext cx="411510" cy="340320"/>
          </a:xfrm>
          <a:prstGeom prst="roundRect">
            <a:avLst>
              <a:gd name="adj" fmla="val 18659"/>
            </a:avLst>
          </a:prstGeom>
          <a:solidFill>
            <a:srgbClr val="10261A"/>
          </a:solidFill>
          <a:ln/>
        </p:spPr>
        <p:txBody>
          <a:bodyPr wrap="none" lIns="0" tIns="0" rIns="0" bIns="0" rtlCol="0" anchor="ctr">
            <a:normAutofit/>
          </a:bodyPr>
          <a:lstStyle/>
          <a:p>
            <a:pPr algn="ctr" indent="0" marL="0">
              <a:lnSpc>
                <a:spcPts val="1680"/>
              </a:lnSpc>
              <a:buNone/>
            </a:pPr>
            <a:r>
              <a:rPr lang="en-US" sz="1200" dirty="0">
                <a:solidFill>
                  <a:srgbClr val="8EE0AE"/>
                </a:solidFill>
                <a:latin typeface="JetBrains Mono" pitchFamily="49" charset="0"/>
                <a:ea typeface="JetBrains Mono" pitchFamily="49" charset="-122"/>
                <a:cs typeface="JetBrains Mono" pitchFamily="49" charset="-120"/>
              </a:rPr>
              <a:t>v2</a:t>
            </a:r>
            <a:endParaRPr lang="en-US" sz="1200" dirty="0"/>
          </a:p>
        </p:txBody>
      </p:sp>
      <p:sp>
        <p:nvSpPr>
          <p:cNvPr id="35" name="Text 28"/>
          <p:cNvSpPr/>
          <p:nvPr/>
        </p:nvSpPr>
        <p:spPr>
          <a:xfrm>
            <a:off x="2023170" y="4604941"/>
            <a:ext cx="411510" cy="340320"/>
          </a:xfrm>
          <a:prstGeom prst="roundRect">
            <a:avLst>
              <a:gd name="adj" fmla="val 18659"/>
            </a:avLst>
          </a:prstGeom>
          <a:solidFill>
            <a:srgbClr val="1E3A5A"/>
          </a:solidFill>
          <a:ln/>
        </p:spPr>
        <p:txBody>
          <a:bodyPr wrap="none" lIns="0" tIns="0" rIns="0" bIns="0" rtlCol="0" anchor="ctr">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v1</a:t>
            </a:r>
            <a:endParaRPr lang="en-US" sz="1200" dirty="0"/>
          </a:p>
        </p:txBody>
      </p:sp>
      <p:sp>
        <p:nvSpPr>
          <p:cNvPr id="36" name="Text 29"/>
          <p:cNvSpPr/>
          <p:nvPr/>
        </p:nvSpPr>
        <p:spPr>
          <a:xfrm>
            <a:off x="2510879" y="4604941"/>
            <a:ext cx="411510" cy="340320"/>
          </a:xfrm>
          <a:prstGeom prst="roundRect">
            <a:avLst>
              <a:gd name="adj" fmla="val 18659"/>
            </a:avLst>
          </a:prstGeom>
          <a:solidFill>
            <a:srgbClr val="1E3A5A"/>
          </a:solidFill>
          <a:ln/>
        </p:spPr>
        <p:txBody>
          <a:bodyPr wrap="none" lIns="0" tIns="0" rIns="0" bIns="0" rtlCol="0" anchor="ctr">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v1</a:t>
            </a:r>
            <a:endParaRPr lang="en-US" sz="1200" dirty="0"/>
          </a:p>
        </p:txBody>
      </p:sp>
      <p:sp>
        <p:nvSpPr>
          <p:cNvPr id="37" name="Text 30"/>
          <p:cNvSpPr/>
          <p:nvPr/>
        </p:nvSpPr>
        <p:spPr>
          <a:xfrm>
            <a:off x="2998589" y="4668441"/>
            <a:ext cx="10656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one at a time</a:t>
            </a:r>
            <a:endParaRPr lang="en-US" sz="1200" dirty="0"/>
          </a:p>
        </p:txBody>
      </p:sp>
      <p:sp>
        <p:nvSpPr>
          <p:cNvPr id="38" name="Text 31"/>
          <p:cNvSpPr/>
          <p:nvPr/>
        </p:nvSpPr>
        <p:spPr>
          <a:xfrm>
            <a:off x="1047750" y="5059561"/>
            <a:ext cx="48792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No downtime. Bad release? One command rolls back.</a:t>
            </a:r>
            <a:endParaRPr lang="en-US" sz="1400" dirty="0"/>
          </a:p>
        </p:txBody>
      </p:sp>
      <p:sp>
        <p:nvSpPr>
          <p:cNvPr id="39" name="Shape 32"/>
          <p:cNvSpPr/>
          <p:nvPr/>
        </p:nvSpPr>
        <p:spPr>
          <a:xfrm>
            <a:off x="6175375" y="3937595"/>
            <a:ext cx="5200650" cy="2104430"/>
          </a:xfrm>
          <a:prstGeom prst="roundRect">
            <a:avLst>
              <a:gd name="adj" fmla="val 7091"/>
            </a:avLst>
          </a:prstGeom>
          <a:solidFill>
            <a:srgbClr val="141922"/>
          </a:solidFill>
          <a:ln w="6350">
            <a:solidFill>
              <a:srgbClr val="263041"/>
            </a:solidFill>
            <a:prstDash val="solid"/>
          </a:ln>
        </p:spPr>
      </p:sp>
      <p:pic>
        <p:nvPicPr>
          <p:cNvPr id="40" name="Image 5" descr="Globe">    </p:cNvPr>
          <p:cNvPicPr>
            <a:picLocks noChangeAspect="1"/>
          </p:cNvPicPr>
          <p:nvPr/>
        </p:nvPicPr>
        <p:blipFill>
          <a:blip r:embed="rId6"/>
          <a:srcRect l="0" r="0" t="0" b="0"/>
          <a:stretch/>
        </p:blipFill>
        <p:spPr>
          <a:xfrm>
            <a:off x="6407150" y="4190305"/>
            <a:ext cx="279400" cy="279400"/>
          </a:xfrm>
          <a:prstGeom prst="rect">
            <a:avLst/>
          </a:prstGeom>
        </p:spPr>
      </p:pic>
      <p:sp>
        <p:nvSpPr>
          <p:cNvPr id="41" name="Text 33"/>
          <p:cNvSpPr/>
          <p:nvPr/>
        </p:nvSpPr>
        <p:spPr>
          <a:xfrm>
            <a:off x="6788150" y="4169370"/>
            <a:ext cx="247977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5F8"/>
                </a:solidFill>
                <a:latin typeface="Space Grotesk" pitchFamily="34" charset="0"/>
                <a:ea typeface="Space Grotesk" pitchFamily="34" charset="-122"/>
                <a:cs typeface="Space Grotesk" pitchFamily="34" charset="-120"/>
              </a:rPr>
              <a:t>Load balancing</a:t>
            </a:r>
            <a:endParaRPr lang="en-US" sz="2200" dirty="0"/>
          </a:p>
        </p:txBody>
      </p:sp>
      <p:sp>
        <p:nvSpPr>
          <p:cNvPr id="42" name="Text 34"/>
          <p:cNvSpPr/>
          <p:nvPr/>
        </p:nvSpPr>
        <p:spPr>
          <a:xfrm>
            <a:off x="6407150" y="4604941"/>
            <a:ext cx="868710" cy="340320"/>
          </a:xfrm>
          <a:prstGeom prst="roundRect">
            <a:avLst>
              <a:gd name="adj" fmla="val 18659"/>
            </a:avLst>
          </a:prstGeom>
          <a:solidFill>
            <a:srgbClr val="FF9F45"/>
          </a:solidFill>
          <a:ln/>
        </p:spPr>
        <p:txBody>
          <a:bodyPr wrap="none" lIns="0" tIns="0" rIns="0" bIns="0" rtlCol="0" anchor="ctr">
            <a:normAutofit/>
          </a:bodyPr>
          <a:lstStyle/>
          <a:p>
            <a:pPr algn="ctr" indent="0" marL="0">
              <a:lnSpc>
                <a:spcPts val="1680"/>
              </a:lnSpc>
              <a:buNone/>
            </a:pPr>
            <a:r>
              <a:rPr lang="en-US" sz="1200" dirty="0">
                <a:solidFill>
                  <a:srgbClr val="0A0C10"/>
                </a:solidFill>
                <a:latin typeface="JetBrains Mono" pitchFamily="49" charset="0"/>
                <a:ea typeface="JetBrains Mono" pitchFamily="49" charset="-122"/>
                <a:cs typeface="JetBrains Mono" pitchFamily="49" charset="-120"/>
              </a:rPr>
              <a:t>Service</a:t>
            </a:r>
            <a:endParaRPr lang="en-US" sz="1200" dirty="0"/>
          </a:p>
        </p:txBody>
      </p:sp>
      <p:pic>
        <p:nvPicPr>
          <p:cNvPr id="43" name="Image 6" descr="arrow-right">    </p:cNvPr>
          <p:cNvPicPr>
            <a:picLocks noChangeAspect="1"/>
          </p:cNvPicPr>
          <p:nvPr/>
        </p:nvPicPr>
        <p:blipFill>
          <a:blip r:embed="rId7"/>
          <a:srcRect l="0" r="0" t="0" b="0"/>
          <a:stretch/>
        </p:blipFill>
        <p:spPr>
          <a:xfrm>
            <a:off x="7352060" y="4705251"/>
            <a:ext cx="279400" cy="139700"/>
          </a:xfrm>
          <a:prstGeom prst="rect">
            <a:avLst/>
          </a:prstGeom>
        </p:spPr>
      </p:pic>
      <p:sp>
        <p:nvSpPr>
          <p:cNvPr id="44" name="Text 35"/>
          <p:cNvSpPr/>
          <p:nvPr/>
        </p:nvSpPr>
        <p:spPr>
          <a:xfrm>
            <a:off x="7707660" y="4604941"/>
            <a:ext cx="502940" cy="340320"/>
          </a:xfrm>
          <a:prstGeom prst="roundRect">
            <a:avLst>
              <a:gd name="adj" fmla="val 18659"/>
            </a:avLst>
          </a:prstGeom>
          <a:solidFill>
            <a:srgbClr val="1E3A5A"/>
          </a:solidFill>
          <a:ln/>
        </p:spPr>
        <p:txBody>
          <a:bodyPr wrap="none" lIns="0" tIns="0" rIns="0" bIns="0" rtlCol="0" anchor="ctr">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pod</a:t>
            </a:r>
            <a:endParaRPr lang="en-US" sz="1200" dirty="0"/>
          </a:p>
        </p:txBody>
      </p:sp>
      <p:sp>
        <p:nvSpPr>
          <p:cNvPr id="45" name="Text 36"/>
          <p:cNvSpPr/>
          <p:nvPr/>
        </p:nvSpPr>
        <p:spPr>
          <a:xfrm>
            <a:off x="8286800" y="4604941"/>
            <a:ext cx="502940" cy="340320"/>
          </a:xfrm>
          <a:prstGeom prst="roundRect">
            <a:avLst>
              <a:gd name="adj" fmla="val 18659"/>
            </a:avLst>
          </a:prstGeom>
          <a:solidFill>
            <a:srgbClr val="1E3A5A"/>
          </a:solidFill>
          <a:ln/>
        </p:spPr>
        <p:txBody>
          <a:bodyPr wrap="none" lIns="0" tIns="0" rIns="0" bIns="0" rtlCol="0" anchor="ctr">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pod</a:t>
            </a:r>
            <a:endParaRPr lang="en-US" sz="1200" dirty="0"/>
          </a:p>
        </p:txBody>
      </p:sp>
      <p:sp>
        <p:nvSpPr>
          <p:cNvPr id="46" name="Text 37"/>
          <p:cNvSpPr/>
          <p:nvPr/>
        </p:nvSpPr>
        <p:spPr>
          <a:xfrm>
            <a:off x="8865939" y="4604941"/>
            <a:ext cx="502940" cy="340320"/>
          </a:xfrm>
          <a:prstGeom prst="roundRect">
            <a:avLst>
              <a:gd name="adj" fmla="val 18659"/>
            </a:avLst>
          </a:prstGeom>
          <a:solidFill>
            <a:srgbClr val="1E3A5A"/>
          </a:solidFill>
          <a:ln/>
        </p:spPr>
        <p:txBody>
          <a:bodyPr wrap="none" lIns="0" tIns="0" rIns="0" bIns="0" rtlCol="0" anchor="ctr">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pod</a:t>
            </a:r>
            <a:endParaRPr lang="en-US" sz="1200" dirty="0"/>
          </a:p>
        </p:txBody>
      </p:sp>
      <p:sp>
        <p:nvSpPr>
          <p:cNvPr id="47" name="Text 38"/>
          <p:cNvSpPr/>
          <p:nvPr/>
        </p:nvSpPr>
        <p:spPr>
          <a:xfrm>
            <a:off x="6407150" y="5059561"/>
            <a:ext cx="487921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One stable address in front of many pods. Traffic is spread out.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6321743"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One brain, many workers</a:t>
            </a:r>
            <a:endParaRPr lang="en-US" sz="3600" dirty="0"/>
          </a:p>
        </p:txBody>
      </p:sp>
      <p:sp>
        <p:nvSpPr>
          <p:cNvPr id="3" name="Text 1"/>
          <p:cNvSpPr/>
          <p:nvPr/>
        </p:nvSpPr>
        <p:spPr>
          <a:xfrm>
            <a:off x="10013950" y="887710"/>
            <a:ext cx="1358900" cy="353020"/>
          </a:xfrm>
          <a:prstGeom prst="roundRect">
            <a:avLst>
              <a:gd name="adj" fmla="val 50000"/>
            </a:avLst>
          </a:prstGeom>
          <a:noFill/>
          <a:ln w="12700">
            <a:solidFill>
              <a:srgbClr val="FF9F4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FF9F45"/>
                </a:solidFill>
                <a:latin typeface="JetBrains Mono" pitchFamily="49" charset="0"/>
                <a:ea typeface="JetBrains Mono" pitchFamily="49" charset="-122"/>
                <a:cs typeface="JetBrains Mono" pitchFamily="49" charset="-120"/>
              </a:rPr>
              <a:t>KUBERNETES</a:t>
            </a:r>
            <a:endParaRPr lang="en-US" sz="1200" dirty="0"/>
          </a:p>
        </p:txBody>
      </p:sp>
      <p:sp>
        <p:nvSpPr>
          <p:cNvPr id="4" name="Shape 2"/>
          <p:cNvSpPr/>
          <p:nvPr/>
        </p:nvSpPr>
        <p:spPr>
          <a:xfrm>
            <a:off x="815975" y="1572865"/>
            <a:ext cx="1898650" cy="1250900"/>
          </a:xfrm>
          <a:prstGeom prst="roundRect">
            <a:avLst>
              <a:gd name="adj" fmla="val 9899"/>
            </a:avLst>
          </a:prstGeom>
          <a:solidFill>
            <a:srgbClr val="141922"/>
          </a:solidFill>
          <a:ln w="6350">
            <a:solidFill>
              <a:srgbClr val="263041"/>
            </a:solidFill>
            <a:prstDash val="solid"/>
          </a:ln>
        </p:spPr>
      </p:sp>
      <p:pic>
        <p:nvPicPr>
          <p:cNvPr id="5" name="Image 0" descr="Users">    </p:cNvPr>
          <p:cNvPicPr>
            <a:picLocks noChangeAspect="1"/>
          </p:cNvPicPr>
          <p:nvPr/>
        </p:nvPicPr>
        <p:blipFill>
          <a:blip r:embed="rId1"/>
          <a:srcRect l="0" r="0" t="0" b="0"/>
          <a:stretch/>
        </p:blipFill>
        <p:spPr>
          <a:xfrm>
            <a:off x="996950" y="1753840"/>
            <a:ext cx="279400" cy="279400"/>
          </a:xfrm>
          <a:prstGeom prst="rect">
            <a:avLst/>
          </a:prstGeom>
        </p:spPr>
      </p:pic>
      <p:sp>
        <p:nvSpPr>
          <p:cNvPr id="6" name="Text 3"/>
          <p:cNvSpPr/>
          <p:nvPr/>
        </p:nvSpPr>
        <p:spPr>
          <a:xfrm>
            <a:off x="996950" y="2109440"/>
            <a:ext cx="15875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You</a:t>
            </a:r>
            <a:endParaRPr lang="en-US" sz="1600" dirty="0"/>
          </a:p>
        </p:txBody>
      </p:sp>
      <p:sp>
        <p:nvSpPr>
          <p:cNvPr id="7" name="Text 4"/>
          <p:cNvSpPr/>
          <p:nvPr/>
        </p:nvSpPr>
        <p:spPr>
          <a:xfrm>
            <a:off x="996950" y="2429470"/>
            <a:ext cx="1587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kubectl apply</a:t>
            </a:r>
            <a:endParaRPr lang="en-US" sz="1200" dirty="0"/>
          </a:p>
        </p:txBody>
      </p:sp>
      <p:pic>
        <p:nvPicPr>
          <p:cNvPr id="8" name="Image 1" descr="arrow-right">    </p:cNvPr>
          <p:cNvPicPr>
            <a:picLocks noChangeAspect="1"/>
          </p:cNvPicPr>
          <p:nvPr/>
        </p:nvPicPr>
        <p:blipFill>
          <a:blip r:embed="rId2"/>
          <a:srcRect l="0" r="0" t="0" b="0"/>
          <a:stretch/>
        </p:blipFill>
        <p:spPr>
          <a:xfrm>
            <a:off x="2870200" y="2096691"/>
            <a:ext cx="406400" cy="203200"/>
          </a:xfrm>
          <a:prstGeom prst="rect">
            <a:avLst/>
          </a:prstGeom>
        </p:spPr>
      </p:pic>
      <p:sp>
        <p:nvSpPr>
          <p:cNvPr id="9" name="Shape 5"/>
          <p:cNvSpPr/>
          <p:nvPr/>
        </p:nvSpPr>
        <p:spPr>
          <a:xfrm>
            <a:off x="3435350" y="1633190"/>
            <a:ext cx="7937500" cy="1130250"/>
          </a:xfrm>
          <a:prstGeom prst="roundRect">
            <a:avLst>
              <a:gd name="adj" fmla="val 12922"/>
            </a:avLst>
          </a:prstGeom>
          <a:solidFill>
            <a:srgbClr val="1A140D"/>
          </a:solidFill>
          <a:ln w="12700">
            <a:solidFill>
              <a:srgbClr val="FF9F45"/>
            </a:solidFill>
            <a:prstDash val="solid"/>
          </a:ln>
        </p:spPr>
      </p:sp>
      <p:sp>
        <p:nvSpPr>
          <p:cNvPr id="10" name="Text 6"/>
          <p:cNvSpPr/>
          <p:nvPr/>
        </p:nvSpPr>
        <p:spPr>
          <a:xfrm>
            <a:off x="3644900" y="1817340"/>
            <a:ext cx="77439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C48C"/>
                </a:solidFill>
                <a:latin typeface="Space Grotesk" pitchFamily="34" charset="0"/>
                <a:ea typeface="Space Grotesk" pitchFamily="34" charset="-122"/>
                <a:cs typeface="Space Grotesk" pitchFamily="34" charset="-120"/>
              </a:rPr>
              <a:t>Control plane · the brain</a:t>
            </a:r>
            <a:endParaRPr lang="en-US" sz="1600" dirty="0"/>
          </a:p>
        </p:txBody>
      </p:sp>
      <p:sp>
        <p:nvSpPr>
          <p:cNvPr id="11" name="Text 7"/>
          <p:cNvSpPr/>
          <p:nvPr/>
        </p:nvSpPr>
        <p:spPr>
          <a:xfrm>
            <a:off x="3644900" y="2188170"/>
            <a:ext cx="1812925" cy="391120"/>
          </a:xfrm>
          <a:prstGeom prst="roundRect">
            <a:avLst>
              <a:gd name="adj" fmla="val 19483"/>
            </a:avLst>
          </a:prstGeom>
          <a:solidFill>
            <a:srgbClr val="2E2316"/>
          </a:solidFill>
          <a:ln/>
        </p:spPr>
        <p:txBody>
          <a:bodyPr wrap="square" lIns="41182" tIns="66582" rIns="41182" bIns="4118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API server</a:t>
            </a:r>
            <a:endParaRPr lang="en-US" sz="1200" dirty="0"/>
          </a:p>
        </p:txBody>
      </p:sp>
      <p:sp>
        <p:nvSpPr>
          <p:cNvPr id="12" name="Text 8"/>
          <p:cNvSpPr/>
          <p:nvPr/>
        </p:nvSpPr>
        <p:spPr>
          <a:xfrm>
            <a:off x="5546725" y="2188170"/>
            <a:ext cx="1812925" cy="391120"/>
          </a:xfrm>
          <a:prstGeom prst="roundRect">
            <a:avLst>
              <a:gd name="adj" fmla="val 19483"/>
            </a:avLst>
          </a:prstGeom>
          <a:solidFill>
            <a:srgbClr val="2E2316"/>
          </a:solidFill>
          <a:ln/>
        </p:spPr>
        <p:txBody>
          <a:bodyPr wrap="square" lIns="41182" tIns="66582" rIns="41182" bIns="4118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Scheduler</a:t>
            </a:r>
            <a:endParaRPr lang="en-US" sz="1200" dirty="0"/>
          </a:p>
        </p:txBody>
      </p:sp>
      <p:sp>
        <p:nvSpPr>
          <p:cNvPr id="13" name="Text 9"/>
          <p:cNvSpPr/>
          <p:nvPr/>
        </p:nvSpPr>
        <p:spPr>
          <a:xfrm>
            <a:off x="7448550" y="2188170"/>
            <a:ext cx="1812925" cy="391120"/>
          </a:xfrm>
          <a:prstGeom prst="roundRect">
            <a:avLst>
              <a:gd name="adj" fmla="val 19483"/>
            </a:avLst>
          </a:prstGeom>
          <a:solidFill>
            <a:srgbClr val="2E2316"/>
          </a:solidFill>
          <a:ln/>
        </p:spPr>
        <p:txBody>
          <a:bodyPr wrap="square" lIns="41182" tIns="66582" rIns="41182" bIns="4118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Controllers</a:t>
            </a:r>
            <a:endParaRPr lang="en-US" sz="1200" dirty="0"/>
          </a:p>
        </p:txBody>
      </p:sp>
      <p:sp>
        <p:nvSpPr>
          <p:cNvPr id="14" name="Text 10"/>
          <p:cNvSpPr/>
          <p:nvPr/>
        </p:nvSpPr>
        <p:spPr>
          <a:xfrm>
            <a:off x="9350375" y="2188170"/>
            <a:ext cx="1812925" cy="391120"/>
          </a:xfrm>
          <a:prstGeom prst="roundRect">
            <a:avLst>
              <a:gd name="adj" fmla="val 19483"/>
            </a:avLst>
          </a:prstGeom>
          <a:solidFill>
            <a:srgbClr val="2E2316"/>
          </a:solidFill>
          <a:ln/>
        </p:spPr>
        <p:txBody>
          <a:bodyPr wrap="square" lIns="41182" tIns="66582" rIns="41182" bIns="41182" rtlCol="0" anchor="t">
            <a:normAutofit/>
          </a:bodyPr>
          <a:lstStyle/>
          <a:p>
            <a:pPr algn="ctr" indent="0" marL="0">
              <a:lnSpc>
                <a:spcPts val="1680"/>
              </a:lnSpc>
              <a:buNone/>
            </a:pPr>
            <a:r>
              <a:rPr lang="en-US" sz="1200" dirty="0">
                <a:solidFill>
                  <a:srgbClr val="F3F5F8"/>
                </a:solidFill>
                <a:latin typeface="JetBrains Mono" pitchFamily="49" charset="0"/>
                <a:ea typeface="JetBrains Mono" pitchFamily="49" charset="-122"/>
                <a:cs typeface="JetBrains Mono" pitchFamily="49" charset="-120"/>
              </a:rPr>
              <a:t>etcd</a:t>
            </a:r>
            <a:endParaRPr lang="en-US" sz="1200" dirty="0"/>
          </a:p>
        </p:txBody>
      </p:sp>
      <p:pic>
        <p:nvPicPr>
          <p:cNvPr id="15" name="Image 2" descr="arrow-down">    </p:cNvPr>
          <p:cNvPicPr>
            <a:picLocks noChangeAspect="1"/>
          </p:cNvPicPr>
          <p:nvPr/>
        </p:nvPicPr>
        <p:blipFill>
          <a:blip r:embed="rId3"/>
          <a:srcRect l="0" r="0" t="0" b="0"/>
          <a:stretch/>
        </p:blipFill>
        <p:spPr>
          <a:xfrm>
            <a:off x="5969000" y="3080941"/>
            <a:ext cx="254000" cy="330200"/>
          </a:xfrm>
          <a:prstGeom prst="rect">
            <a:avLst/>
          </a:prstGeom>
        </p:spPr>
      </p:pic>
      <p:sp>
        <p:nvSpPr>
          <p:cNvPr id="16" name="Shape 11"/>
          <p:cNvSpPr/>
          <p:nvPr/>
        </p:nvSpPr>
        <p:spPr>
          <a:xfrm>
            <a:off x="815975" y="3668316"/>
            <a:ext cx="3414167" cy="1870819"/>
          </a:xfrm>
          <a:prstGeom prst="roundRect">
            <a:avLst>
              <a:gd name="adj" fmla="val 7976"/>
            </a:avLst>
          </a:prstGeom>
          <a:solidFill>
            <a:srgbClr val="141922"/>
          </a:solidFill>
          <a:ln w="6350">
            <a:solidFill>
              <a:srgbClr val="263041"/>
            </a:solidFill>
            <a:prstDash val="solid"/>
          </a:ln>
        </p:spPr>
      </p:sp>
      <p:sp>
        <p:nvSpPr>
          <p:cNvPr id="17" name="Text 12"/>
          <p:cNvSpPr/>
          <p:nvPr/>
        </p:nvSpPr>
        <p:spPr>
          <a:xfrm>
            <a:off x="996950" y="3849291"/>
            <a:ext cx="31437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Worker node 1</a:t>
            </a:r>
            <a:endParaRPr lang="en-US" sz="1600" dirty="0"/>
          </a:p>
        </p:txBody>
      </p:sp>
      <p:sp>
        <p:nvSpPr>
          <p:cNvPr id="18" name="Text 13"/>
          <p:cNvSpPr/>
          <p:nvPr/>
        </p:nvSpPr>
        <p:spPr>
          <a:xfrm>
            <a:off x="996950" y="418202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kubelet</a:t>
            </a:r>
            <a:endParaRPr lang="en-US" sz="1200" dirty="0"/>
          </a:p>
        </p:txBody>
      </p:sp>
      <p:sp>
        <p:nvSpPr>
          <p:cNvPr id="19" name="Text 14"/>
          <p:cNvSpPr/>
          <p:nvPr/>
        </p:nvSpPr>
        <p:spPr>
          <a:xfrm>
            <a:off x="996950" y="4484241"/>
            <a:ext cx="1494334" cy="365720"/>
          </a:xfrm>
          <a:prstGeom prst="roundRect">
            <a:avLst>
              <a:gd name="adj" fmla="val 17363"/>
            </a:avLst>
          </a:prstGeom>
          <a:solidFill>
            <a:srgbClr val="3BA4F5"/>
          </a:solidFill>
          <a:ln/>
        </p:spPr>
        <p:txBody>
          <a:bodyPr wrap="square" lIns="32201" tIns="57601" rIns="32201" bIns="32201"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frontend</a:t>
            </a:r>
            <a:endParaRPr lang="en-US" sz="1200" dirty="0"/>
          </a:p>
        </p:txBody>
      </p:sp>
      <p:sp>
        <p:nvSpPr>
          <p:cNvPr id="20" name="Text 15"/>
          <p:cNvSpPr/>
          <p:nvPr/>
        </p:nvSpPr>
        <p:spPr>
          <a:xfrm>
            <a:off x="2554784" y="4484241"/>
            <a:ext cx="1494383" cy="365720"/>
          </a:xfrm>
          <a:prstGeom prst="roundRect">
            <a:avLst>
              <a:gd name="adj" fmla="val 17363"/>
            </a:avLst>
          </a:prstGeom>
          <a:solidFill>
            <a:srgbClr val="FF9F45"/>
          </a:solidFill>
          <a:ln/>
        </p:spPr>
        <p:txBody>
          <a:bodyPr wrap="square" lIns="32201" tIns="57601" rIns="32201" bIns="32201"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backend</a:t>
            </a:r>
            <a:endParaRPr lang="en-US" sz="1200" dirty="0"/>
          </a:p>
        </p:txBody>
      </p:sp>
      <p:sp>
        <p:nvSpPr>
          <p:cNvPr id="21" name="Shape 16"/>
          <p:cNvSpPr/>
          <p:nvPr/>
        </p:nvSpPr>
        <p:spPr>
          <a:xfrm>
            <a:off x="4388892" y="3668316"/>
            <a:ext cx="3414216" cy="1870819"/>
          </a:xfrm>
          <a:prstGeom prst="roundRect">
            <a:avLst>
              <a:gd name="adj" fmla="val 7976"/>
            </a:avLst>
          </a:prstGeom>
          <a:solidFill>
            <a:srgbClr val="141922"/>
          </a:solidFill>
          <a:ln w="6350">
            <a:solidFill>
              <a:srgbClr val="263041"/>
            </a:solidFill>
            <a:prstDash val="solid"/>
          </a:ln>
        </p:spPr>
      </p:sp>
      <p:sp>
        <p:nvSpPr>
          <p:cNvPr id="22" name="Text 17"/>
          <p:cNvSpPr/>
          <p:nvPr/>
        </p:nvSpPr>
        <p:spPr>
          <a:xfrm>
            <a:off x="4569867" y="3849291"/>
            <a:ext cx="31438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Worker node 2</a:t>
            </a:r>
            <a:endParaRPr lang="en-US" sz="1600" dirty="0"/>
          </a:p>
        </p:txBody>
      </p:sp>
      <p:sp>
        <p:nvSpPr>
          <p:cNvPr id="23" name="Text 18"/>
          <p:cNvSpPr/>
          <p:nvPr/>
        </p:nvSpPr>
        <p:spPr>
          <a:xfrm>
            <a:off x="4569867" y="418202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kubelet</a:t>
            </a:r>
            <a:endParaRPr lang="en-US" sz="1200" dirty="0"/>
          </a:p>
        </p:txBody>
      </p:sp>
      <p:sp>
        <p:nvSpPr>
          <p:cNvPr id="24" name="Text 19"/>
          <p:cNvSpPr/>
          <p:nvPr/>
        </p:nvSpPr>
        <p:spPr>
          <a:xfrm>
            <a:off x="4569867" y="4484241"/>
            <a:ext cx="1494383" cy="365720"/>
          </a:xfrm>
          <a:prstGeom prst="roundRect">
            <a:avLst>
              <a:gd name="adj" fmla="val 17363"/>
            </a:avLst>
          </a:prstGeom>
          <a:solidFill>
            <a:srgbClr val="FF9F45"/>
          </a:solidFill>
          <a:ln/>
        </p:spPr>
        <p:txBody>
          <a:bodyPr wrap="square" lIns="32201" tIns="57601" rIns="32201" bIns="32201"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backend</a:t>
            </a:r>
            <a:endParaRPr lang="en-US" sz="1200" dirty="0"/>
          </a:p>
        </p:txBody>
      </p:sp>
      <p:sp>
        <p:nvSpPr>
          <p:cNvPr id="25" name="Text 20"/>
          <p:cNvSpPr/>
          <p:nvPr/>
        </p:nvSpPr>
        <p:spPr>
          <a:xfrm>
            <a:off x="6127750" y="4484241"/>
            <a:ext cx="1494383" cy="365720"/>
          </a:xfrm>
          <a:prstGeom prst="roundRect">
            <a:avLst>
              <a:gd name="adj" fmla="val 17363"/>
            </a:avLst>
          </a:prstGeom>
          <a:solidFill>
            <a:srgbClr val="FF9F45"/>
          </a:solidFill>
          <a:ln/>
        </p:spPr>
        <p:txBody>
          <a:bodyPr wrap="square" lIns="32201" tIns="57601" rIns="32201" bIns="32201"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backend</a:t>
            </a:r>
            <a:endParaRPr lang="en-US" sz="1200" dirty="0"/>
          </a:p>
        </p:txBody>
      </p:sp>
      <p:sp>
        <p:nvSpPr>
          <p:cNvPr id="26" name="Shape 21"/>
          <p:cNvSpPr/>
          <p:nvPr/>
        </p:nvSpPr>
        <p:spPr>
          <a:xfrm>
            <a:off x="7961858" y="3668316"/>
            <a:ext cx="3414167" cy="1870819"/>
          </a:xfrm>
          <a:prstGeom prst="roundRect">
            <a:avLst>
              <a:gd name="adj" fmla="val 7976"/>
            </a:avLst>
          </a:prstGeom>
          <a:solidFill>
            <a:srgbClr val="141922"/>
          </a:solidFill>
          <a:ln w="6350">
            <a:solidFill>
              <a:srgbClr val="263041"/>
            </a:solidFill>
            <a:prstDash val="solid"/>
          </a:ln>
        </p:spPr>
      </p:sp>
      <p:sp>
        <p:nvSpPr>
          <p:cNvPr id="27" name="Text 22"/>
          <p:cNvSpPr/>
          <p:nvPr/>
        </p:nvSpPr>
        <p:spPr>
          <a:xfrm>
            <a:off x="8142833" y="3849291"/>
            <a:ext cx="31437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Worker node 3</a:t>
            </a:r>
            <a:endParaRPr lang="en-US" sz="1600" dirty="0"/>
          </a:p>
        </p:txBody>
      </p:sp>
      <p:sp>
        <p:nvSpPr>
          <p:cNvPr id="28" name="Text 23"/>
          <p:cNvSpPr/>
          <p:nvPr/>
        </p:nvSpPr>
        <p:spPr>
          <a:xfrm>
            <a:off x="8142833" y="418202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JetBrains Mono" pitchFamily="49" charset="0"/>
                <a:ea typeface="JetBrains Mono" pitchFamily="49" charset="-122"/>
                <a:cs typeface="JetBrains Mono" pitchFamily="49" charset="-120"/>
              </a:rPr>
              <a:t>kubelet</a:t>
            </a:r>
            <a:endParaRPr lang="en-US" sz="1200" dirty="0"/>
          </a:p>
        </p:txBody>
      </p:sp>
      <p:sp>
        <p:nvSpPr>
          <p:cNvPr id="29" name="Text 24"/>
          <p:cNvSpPr/>
          <p:nvPr/>
        </p:nvSpPr>
        <p:spPr>
          <a:xfrm>
            <a:off x="8142833" y="4484241"/>
            <a:ext cx="1494334" cy="365720"/>
          </a:xfrm>
          <a:prstGeom prst="roundRect">
            <a:avLst>
              <a:gd name="adj" fmla="val 17363"/>
            </a:avLst>
          </a:prstGeom>
          <a:solidFill>
            <a:srgbClr val="3BA4F5"/>
          </a:solidFill>
          <a:ln/>
        </p:spPr>
        <p:txBody>
          <a:bodyPr wrap="square" lIns="32201" tIns="57601" rIns="32201" bIns="32201"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frontend</a:t>
            </a:r>
            <a:endParaRPr lang="en-US" sz="1200" dirty="0"/>
          </a:p>
        </p:txBody>
      </p:sp>
      <p:sp>
        <p:nvSpPr>
          <p:cNvPr id="30" name="Text 25"/>
          <p:cNvSpPr/>
          <p:nvPr/>
        </p:nvSpPr>
        <p:spPr>
          <a:xfrm>
            <a:off x="9700667" y="4484241"/>
            <a:ext cx="1494383" cy="365720"/>
          </a:xfrm>
          <a:prstGeom prst="roundRect">
            <a:avLst>
              <a:gd name="adj" fmla="val 17363"/>
            </a:avLst>
          </a:prstGeom>
          <a:solidFill>
            <a:srgbClr val="4FC27A"/>
          </a:solidFill>
          <a:ln/>
        </p:spPr>
        <p:txBody>
          <a:bodyPr wrap="square" lIns="32201" tIns="57601" rIns="32201" bIns="32201"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mongo</a:t>
            </a:r>
            <a:endParaRPr lang="en-US" sz="1200" dirty="0"/>
          </a:p>
        </p:txBody>
      </p:sp>
      <p:sp>
        <p:nvSpPr>
          <p:cNvPr id="31" name="Text 26"/>
          <p:cNvSpPr/>
          <p:nvPr/>
        </p:nvSpPr>
        <p:spPr>
          <a:xfrm>
            <a:off x="654304" y="5796310"/>
            <a:ext cx="10883392"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You declare </a:t>
            </a:r>
            <a:r>
              <a:rPr lang="en-US" sz="1400" b="1" dirty="0">
                <a:solidFill>
                  <a:srgbClr val="F3F5F8"/>
                </a:solidFill>
                <a:latin typeface="IBM Plex Sans" pitchFamily="34" charset="0"/>
                <a:ea typeface="IBM Plex Sans" pitchFamily="34" charset="-122"/>
                <a:cs typeface="IBM Plex Sans" pitchFamily="34" charset="-120"/>
              </a:rPr>
              <a:t>“3 backend pods”</a:t>
            </a:r>
            <a:r>
              <a:rPr lang="en-US" sz="1400" dirty="0">
                <a:solidFill>
                  <a:srgbClr val="A9B3C2"/>
                </a:solidFill>
                <a:latin typeface="IBM Plex Sans" pitchFamily="34" charset="0"/>
                <a:ea typeface="IBM Plex Sans" pitchFamily="34" charset="-122"/>
                <a:cs typeface="IBM Plex Sans" pitchFamily="34" charset="-120"/>
              </a:rPr>
              <a:t>. Kubernetes makes it true, and keeps it true.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6860203"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You already know half of it</a:t>
            </a:r>
            <a:endParaRPr lang="en-US" sz="3600" dirty="0"/>
          </a:p>
        </p:txBody>
      </p:sp>
      <p:sp>
        <p:nvSpPr>
          <p:cNvPr id="3" name="Text 1"/>
          <p:cNvSpPr/>
          <p:nvPr/>
        </p:nvSpPr>
        <p:spPr>
          <a:xfrm>
            <a:off x="10013950" y="887710"/>
            <a:ext cx="1358900" cy="353020"/>
          </a:xfrm>
          <a:prstGeom prst="roundRect">
            <a:avLst>
              <a:gd name="adj" fmla="val 50000"/>
            </a:avLst>
          </a:prstGeom>
          <a:noFill/>
          <a:ln w="12700">
            <a:solidFill>
              <a:srgbClr val="FF9F45"/>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FF9F45"/>
                </a:solidFill>
                <a:latin typeface="JetBrains Mono" pitchFamily="49" charset="0"/>
                <a:ea typeface="JetBrains Mono" pitchFamily="49" charset="-122"/>
                <a:cs typeface="JetBrains Mono" pitchFamily="49" charset="-120"/>
              </a:rPr>
              <a:t>KUBERNETES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3990"/>
          <a:ext cx="10553700" cy="2702074"/>
        </p:xfrm>
        <a:graphic>
          <a:graphicData uri="http://schemas.openxmlformats.org/drawingml/2006/table">
            <a:tbl>
              <a:tblPr/>
              <a:tblGrid>
                <a:gridCol w="3166110"/>
                <a:gridCol w="3166110"/>
                <a:gridCol w="4221480"/>
              </a:tblGrid>
              <a:tr h="386011">
                <a:tc>
                  <a:txBody>
                    <a:bodyPr/>
                    <a:lstStyle/>
                    <a:p>
                      <a:pPr indent="0" marL="0">
                        <a:lnSpc>
                          <a:spcPts val="1960"/>
                        </a:lnSpc>
                        <a:buNone/>
                      </a:pPr>
                      <a:r>
                        <a:rPr lang="en-US" sz="1400" b="1" dirty="0">
                          <a:solidFill>
                            <a:srgbClr val="3BA4F5"/>
                          </a:solidFill>
                          <a:latin typeface="IBM Plex Sans" pitchFamily="34" charset="0"/>
                          <a:ea typeface="IBM Plex Sans" pitchFamily="34" charset="-122"/>
                          <a:cs typeface="IBM Plex Sans" pitchFamily="34" charset="-120"/>
                        </a:rPr>
                        <a:t>Docker Compose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474A50"/>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74A50"/>
                      </a:solidFill>
                      <a:prstDash val="solid"/>
                      <a:round/>
                      <a:headEnd type="none" w="med" len="med"/>
                      <a:tailEnd type="none" w="med" len="med"/>
                    </a:lnB>
                    <a:solidFill>
                      <a:srgbClr val="141922"/>
                    </a:solidFill>
                  </a:tcPr>
                </a:tc>
                <a:tc>
                  <a:txBody>
                    <a:bodyPr/>
                    <a:lstStyle/>
                    <a:p>
                      <a:pPr indent="0" marL="0">
                        <a:lnSpc>
                          <a:spcPts val="1960"/>
                        </a:lnSpc>
                        <a:buNone/>
                      </a:pPr>
                      <a:r>
                        <a:rPr lang="en-US" sz="1400" b="1" dirty="0">
                          <a:solidFill>
                            <a:srgbClr val="FF9F45"/>
                          </a:solidFill>
                          <a:latin typeface="IBM Plex Sans" pitchFamily="34" charset="0"/>
                          <a:ea typeface="IBM Plex Sans" pitchFamily="34" charset="-122"/>
                          <a:cs typeface="IBM Plex Sans" pitchFamily="34" charset="-120"/>
                        </a:rPr>
                        <a:t>Kubernetes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A50"/>
                      </a:solidFill>
                      <a:prstDash val="solid"/>
                      <a:round/>
                      <a:headEnd type="none" w="med" len="med"/>
                      <a:tailEnd type="none" w="med" len="med"/>
                    </a:lnL>
                    <a:lnR w="12700" cap="flat" cmpd="sng" algn="ctr">
                      <a:solidFill>
                        <a:srgbClr val="474A50"/>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74A50"/>
                      </a:solidFill>
                      <a:prstDash val="solid"/>
                      <a:round/>
                      <a:headEnd type="none" w="med" len="med"/>
                      <a:tailEnd type="none" w="med" len="med"/>
                    </a:lnB>
                    <a:solidFill>
                      <a:srgbClr val="141922"/>
                    </a:solidFill>
                  </a:tcPr>
                </a:tc>
                <a:tc>
                  <a:txBody>
                    <a:bodyPr/>
                    <a:lstStyle/>
                    <a:p>
                      <a:pPr indent="0" marL="0">
                        <a:lnSpc>
                          <a:spcPts val="1960"/>
                        </a:lnSpc>
                        <a:buNone/>
                      </a:pPr>
                      <a:r>
                        <a:rPr lang="en-US" sz="1400" b="1" dirty="0">
                          <a:solidFill>
                            <a:srgbClr val="A9B3C2"/>
                          </a:solidFill>
                          <a:latin typeface="IBM Plex Sans" pitchFamily="34" charset="0"/>
                          <a:ea typeface="IBM Plex Sans" pitchFamily="34" charset="-122"/>
                          <a:cs typeface="IBM Plex Sans" pitchFamily="34" charset="-120"/>
                        </a:rPr>
                        <a:t>In our MERN app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A50"/>
                      </a:solidFill>
                      <a:prstDash val="solid"/>
                      <a:round/>
                      <a:headEnd type="none" w="med" len="med"/>
                      <a:tailEnd type="none" w="med" len="med"/>
                    </a:lnL>
                    <a:lnR w="12700" cap="flat" cmpd="sng" algn="ctr">
                      <a:solidFill>
                        <a:srgbClr val="474A50"/>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74A50"/>
                      </a:solidFill>
                      <a:prstDash val="solid"/>
                      <a:round/>
                      <a:headEnd type="none" w="med" len="med"/>
                      <a:tailEnd type="none" w="med" len="med"/>
                    </a:lnB>
                    <a:solidFill>
                      <a:srgbClr val="141922"/>
                    </a:solidFill>
                  </a:tcPr>
                </a:tc>
              </a:tr>
              <a:tr h="386011">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service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74A50"/>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Deployment + Service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74A50"/>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frontend, backend, mongo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74A50"/>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r>
              <a:tr h="386011">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running copies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ReplicaSet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always keep 3 backend pods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r>
              <a:tr h="386011">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environment, .env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ConfigMap, Secret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MONGO_URL, JWT_SECRET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r>
              <a:tr h="386011">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volume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PersistentVolumeClaim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mongo-data for the database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r>
              <a:tr h="386011">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Nginx reverse proxy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Ingress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shop.com → React, /api → Express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3F4042"/>
                      </a:solidFill>
                      <a:prstDash val="solid"/>
                      <a:round/>
                      <a:headEnd type="none" w="med" len="med"/>
                      <a:tailEnd type="none" w="med" len="med"/>
                    </a:lnR>
                    <a:lnT w="12700" cap="flat" cmpd="sng" algn="ctr">
                      <a:solidFill>
                        <a:srgbClr val="44474C"/>
                      </a:solidFill>
                      <a:prstDash val="solid"/>
                      <a:round/>
                      <a:headEnd type="none" w="med" len="med"/>
                      <a:tailEnd type="none" w="med" len="med"/>
                    </a:lnT>
                    <a:lnB w="12700" cap="flat" cmpd="sng" algn="ctr">
                      <a:solidFill>
                        <a:srgbClr val="3F4042"/>
                      </a:solidFill>
                      <a:prstDash val="solid"/>
                      <a:round/>
                      <a:headEnd type="none" w="med" len="med"/>
                      <a:tailEnd type="none" w="med" len="med"/>
                    </a:lnB>
                  </a:tcPr>
                </a:tc>
              </a:tr>
              <a:tr h="386011">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docker compose up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F4042"/>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kubectl apply -f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c>
                  <a:txBody>
                    <a:bodyPr/>
                    <a:lstStyle/>
                    <a:p>
                      <a:pPr indent="0" marL="0">
                        <a:lnSpc>
                          <a:spcPts val="1960"/>
                        </a:lnSpc>
                        <a:buNone/>
                      </a:pPr>
                      <a:r>
                        <a:rPr lang="en-US" sz="1400" dirty="0">
                          <a:solidFill>
                            <a:srgbClr val="E6EAF0"/>
                          </a:solidFill>
                          <a:latin typeface="IBM Plex Sans" pitchFamily="34" charset="0"/>
                          <a:ea typeface="IBM Plex Sans" pitchFamily="34" charset="-122"/>
                          <a:cs typeface="IBM Plex Sans" pitchFamily="34" charset="-120"/>
                        </a:rPr>
                        <a:t>deploy the whole stack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74C"/>
                      </a:solidFill>
                      <a:prstDash val="solid"/>
                      <a:round/>
                      <a:headEnd type="none" w="med" len="med"/>
                      <a:tailEnd type="none" w="med" len="med"/>
                    </a:lnL>
                    <a:lnR w="12700" cap="flat" cmpd="sng" algn="ctr">
                      <a:solidFill>
                        <a:srgbClr val="44474C"/>
                      </a:solidFill>
                      <a:prstDash val="solid"/>
                      <a:round/>
                      <a:headEnd type="none" w="med" len="med"/>
                      <a:tailEnd type="none" w="med" len="med"/>
                    </a:lnR>
                    <a:lnT w="12700" cap="flat" cmpd="sng" algn="ctr">
                      <a:solidFill>
                        <a:srgbClr val="3F4042"/>
                      </a:solidFill>
                      <a:prstDash val="solid"/>
                      <a:round/>
                      <a:headEnd type="none" w="med" len="med"/>
                      <a:tailEnd type="none" w="med" len="med"/>
                    </a:lnT>
                    <a:lnB w="12700" cap="flat" cmpd="sng" algn="ctr">
                      <a:solidFill>
                        <a:srgbClr val="44474C"/>
                      </a:solidFill>
                      <a:prstDash val="solid"/>
                      <a:round/>
                      <a:headEnd type="none" w="med" len="med"/>
                      <a:tailEnd type="none" w="med" len="med"/>
                    </a:lnB>
                    <a:solidFill>
                      <a:srgbClr val="11151C"/>
                    </a:solidFill>
                  </a:tcPr>
                </a:tc>
              </a:tr>
            </a:tbl>
          </a:graphicData>
        </a:graphic>
      </p:graphicFrame>
      <p:sp>
        <p:nvSpPr>
          <p:cNvPr id="5" name="Text 2"/>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Learn Docker well first. Kubernetes is the same ideas, one level up.</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21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Do you always need Kubernetes?</a:t>
            </a:r>
            <a:endParaRPr lang="en-US" sz="3600" dirty="0"/>
          </a:p>
        </p:txBody>
      </p:sp>
      <p:sp>
        <p:nvSpPr>
          <p:cNvPr id="3" name="Text 1"/>
          <p:cNvSpPr/>
          <p:nvPr/>
        </p:nvSpPr>
        <p:spPr>
          <a:xfrm>
            <a:off x="812800" y="3728789"/>
            <a:ext cx="2011660" cy="289520"/>
          </a:xfrm>
          <a:custGeom>
            <a:avLst/>
            <a:gdLst/>
            <a:ahLst/>
            <a:cxnLst/>
            <a:rect l="l" t="t" r="r" b="b"/>
            <a:pathLst>
              <a:path w="2011660" h="289520">
                <a:moveTo>
                  <a:pt x="144760" y="0"/>
                </a:moveTo>
                <a:lnTo>
                  <a:pt x="1866900" y="0"/>
                </a:lnTo>
                <a:arcTo hR="144760" wR="144760" stAng="16200000" swAng="5400000"/>
                <a:lnTo>
                  <a:pt x="2011660" y="144760"/>
                </a:lnTo>
                <a:arcTo hR="144760" wR="144760" stAng="0" swAng="5400000"/>
                <a:lnTo>
                  <a:pt x="144760" y="289520"/>
                </a:lnTo>
                <a:arcTo hR="144760" wR="144760" stAng="5400000" swAng="5400000"/>
                <a:lnTo>
                  <a:pt x="0" y="144760"/>
                </a:lnTo>
                <a:arcTo hR="144760" wR="144760" stAng="10800000" swAng="5400000"/>
                <a:close/>
              </a:path>
            </a:pathLst>
          </a:custGeom>
          <a:solidFill>
            <a:srgbClr val="3BA4F5"/>
          </a:solidFill>
          <a:ln/>
        </p:spPr>
        <p:txBody>
          <a:bodyPr wrap="square" lIns="74473" tIns="38100" rIns="74473" bIns="12700"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Case 1</a:t>
            </a:r>
            <a:endParaRPr lang="en-US" sz="1200" dirty="0"/>
          </a:p>
        </p:txBody>
      </p:sp>
      <p:sp>
        <p:nvSpPr>
          <p:cNvPr id="4" name="Shape 2"/>
          <p:cNvSpPr/>
          <p:nvPr/>
        </p:nvSpPr>
        <p:spPr>
          <a:xfrm>
            <a:off x="815975" y="4097685"/>
            <a:ext cx="2005310" cy="1390650"/>
          </a:xfrm>
          <a:prstGeom prst="roundRect">
            <a:avLst>
              <a:gd name="adj" fmla="val 7078"/>
            </a:avLst>
          </a:prstGeom>
          <a:solidFill>
            <a:srgbClr val="141922"/>
          </a:solidFill>
          <a:ln w="6350">
            <a:solidFill>
              <a:srgbClr val="263041"/>
            </a:solidFill>
            <a:prstDash val="solid"/>
          </a:ln>
        </p:spPr>
      </p:sp>
      <p:sp>
        <p:nvSpPr>
          <p:cNvPr id="5" name="Text 3"/>
          <p:cNvSpPr/>
          <p:nvPr/>
        </p:nvSpPr>
        <p:spPr>
          <a:xfrm>
            <a:off x="971550" y="4253260"/>
            <a:ext cx="174498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Static hosting</a:t>
            </a:r>
            <a:endParaRPr lang="en-US" sz="1600" dirty="0"/>
          </a:p>
        </p:txBody>
      </p:sp>
      <p:sp>
        <p:nvSpPr>
          <p:cNvPr id="6" name="Text 4"/>
          <p:cNvSpPr/>
          <p:nvPr/>
        </p:nvSpPr>
        <p:spPr>
          <a:xfrm>
            <a:off x="971550" y="4547890"/>
            <a:ext cx="174498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8F5"/>
                </a:solidFill>
                <a:latin typeface="IBM Plex Sans" pitchFamily="34" charset="0"/>
                <a:ea typeface="IBM Plex Sans" pitchFamily="34" charset="-122"/>
                <a:cs typeface="IBM Plex Sans" pitchFamily="34" charset="-120"/>
              </a:rPr>
              <a:t>Vercel · Netlify</a:t>
            </a:r>
            <a:endParaRPr lang="en-US" sz="1200" dirty="0"/>
          </a:p>
        </p:txBody>
      </p:sp>
      <p:sp>
        <p:nvSpPr>
          <p:cNvPr id="7" name="Text 5"/>
          <p:cNvSpPr/>
          <p:nvPr/>
        </p:nvSpPr>
        <p:spPr>
          <a:xfrm>
            <a:off x="971550" y="4804420"/>
            <a:ext cx="174498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3C2"/>
                </a:solidFill>
                <a:latin typeface="IBM Plex Sans" pitchFamily="34" charset="0"/>
                <a:ea typeface="IBM Plex Sans" pitchFamily="34" charset="-122"/>
                <a:cs typeface="IBM Plex Sans" pitchFamily="34" charset="-120"/>
              </a:rPr>
              <a:t>Frontends</a:t>
            </a:r>
            <a:endParaRPr lang="en-US" sz="1200" dirty="0"/>
          </a:p>
        </p:txBody>
      </p:sp>
      <p:sp>
        <p:nvSpPr>
          <p:cNvPr id="8" name="Text 6"/>
          <p:cNvSpPr/>
          <p:nvPr/>
        </p:nvSpPr>
        <p:spPr>
          <a:xfrm>
            <a:off x="2951460" y="3220789"/>
            <a:ext cx="2011710" cy="289520"/>
          </a:xfrm>
          <a:custGeom>
            <a:avLst/>
            <a:gdLst/>
            <a:ahLst/>
            <a:cxnLst/>
            <a:rect l="l" t="t" r="r" b="b"/>
            <a:pathLst>
              <a:path w="2011710" h="289520">
                <a:moveTo>
                  <a:pt x="144760" y="0"/>
                </a:moveTo>
                <a:lnTo>
                  <a:pt x="1866950" y="0"/>
                </a:lnTo>
                <a:arcTo hR="144760" wR="144760" stAng="16200000" swAng="5400000"/>
                <a:lnTo>
                  <a:pt x="2011710" y="144760"/>
                </a:lnTo>
                <a:arcTo hR="144760" wR="144760" stAng="0" swAng="5400000"/>
                <a:lnTo>
                  <a:pt x="144760" y="289520"/>
                </a:lnTo>
                <a:arcTo hR="144760" wR="144760" stAng="5400000" swAng="5400000"/>
                <a:lnTo>
                  <a:pt x="0" y="144760"/>
                </a:lnTo>
                <a:arcTo hR="144760" wR="144760" stAng="10800000" swAng="5400000"/>
                <a:close/>
              </a:path>
            </a:pathLst>
          </a:custGeom>
          <a:solidFill>
            <a:srgbClr val="3BA4F5"/>
          </a:solidFill>
          <a:ln/>
        </p:spPr>
        <p:txBody>
          <a:bodyPr wrap="square" lIns="74472" tIns="38100" rIns="74472" bIns="12700"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Case 2</a:t>
            </a:r>
            <a:endParaRPr lang="en-US" sz="1200" dirty="0"/>
          </a:p>
        </p:txBody>
      </p:sp>
      <p:sp>
        <p:nvSpPr>
          <p:cNvPr id="9" name="Shape 7"/>
          <p:cNvSpPr/>
          <p:nvPr/>
        </p:nvSpPr>
        <p:spPr>
          <a:xfrm>
            <a:off x="2954635" y="3589685"/>
            <a:ext cx="2005360" cy="1898650"/>
          </a:xfrm>
          <a:prstGeom prst="roundRect">
            <a:avLst>
              <a:gd name="adj" fmla="val 5184"/>
            </a:avLst>
          </a:prstGeom>
          <a:solidFill>
            <a:srgbClr val="141922"/>
          </a:solidFill>
          <a:ln w="6350">
            <a:solidFill>
              <a:srgbClr val="263041"/>
            </a:solidFill>
            <a:prstDash val="solid"/>
          </a:ln>
        </p:spPr>
      </p:sp>
      <p:sp>
        <p:nvSpPr>
          <p:cNvPr id="10" name="Text 8"/>
          <p:cNvSpPr/>
          <p:nvPr/>
        </p:nvSpPr>
        <p:spPr>
          <a:xfrm>
            <a:off x="3110210" y="3745260"/>
            <a:ext cx="17450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PaaS</a:t>
            </a:r>
            <a:endParaRPr lang="en-US" sz="1600" dirty="0"/>
          </a:p>
        </p:txBody>
      </p:sp>
      <p:sp>
        <p:nvSpPr>
          <p:cNvPr id="11" name="Text 9"/>
          <p:cNvSpPr/>
          <p:nvPr/>
        </p:nvSpPr>
        <p:spPr>
          <a:xfrm>
            <a:off x="3110210" y="4039890"/>
            <a:ext cx="174503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8F5"/>
                </a:solidFill>
                <a:latin typeface="IBM Plex Sans" pitchFamily="34" charset="0"/>
                <a:ea typeface="IBM Plex Sans" pitchFamily="34" charset="-122"/>
                <a:cs typeface="IBM Plex Sans" pitchFamily="34" charset="-120"/>
              </a:rPr>
              <a:t>Render · Railway</a:t>
            </a:r>
            <a:endParaRPr lang="en-US" sz="1200" dirty="0"/>
          </a:p>
        </p:txBody>
      </p:sp>
      <p:sp>
        <p:nvSpPr>
          <p:cNvPr id="12" name="Text 10"/>
          <p:cNvSpPr/>
          <p:nvPr/>
        </p:nvSpPr>
        <p:spPr>
          <a:xfrm>
            <a:off x="3110210" y="4296420"/>
            <a:ext cx="174503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3C2"/>
                </a:solidFill>
                <a:latin typeface="IBM Plex Sans" pitchFamily="34" charset="0"/>
                <a:ea typeface="IBM Plex Sans" pitchFamily="34" charset="-122"/>
                <a:cs typeface="IBM Plex Sans" pitchFamily="34" charset="-120"/>
              </a:rPr>
              <a:t>APIs, MVPs, student projects</a:t>
            </a:r>
            <a:endParaRPr lang="en-US" sz="1200" dirty="0"/>
          </a:p>
        </p:txBody>
      </p:sp>
      <p:sp>
        <p:nvSpPr>
          <p:cNvPr id="13" name="Text 11"/>
          <p:cNvSpPr/>
          <p:nvPr/>
        </p:nvSpPr>
        <p:spPr>
          <a:xfrm>
            <a:off x="5090170" y="2712789"/>
            <a:ext cx="2011660" cy="289520"/>
          </a:xfrm>
          <a:custGeom>
            <a:avLst/>
            <a:gdLst/>
            <a:ahLst/>
            <a:cxnLst/>
            <a:rect l="l" t="t" r="r" b="b"/>
            <a:pathLst>
              <a:path w="2011660" h="289520">
                <a:moveTo>
                  <a:pt x="144760" y="0"/>
                </a:moveTo>
                <a:lnTo>
                  <a:pt x="1866900" y="0"/>
                </a:lnTo>
                <a:arcTo hR="144760" wR="144760" stAng="16200000" swAng="5400000"/>
                <a:lnTo>
                  <a:pt x="2011660" y="144760"/>
                </a:lnTo>
                <a:arcTo hR="144760" wR="144760" stAng="0" swAng="5400000"/>
                <a:lnTo>
                  <a:pt x="144760" y="289520"/>
                </a:lnTo>
                <a:arcTo hR="144760" wR="144760" stAng="5400000" swAng="5400000"/>
                <a:lnTo>
                  <a:pt x="0" y="144760"/>
                </a:lnTo>
                <a:arcTo hR="144760" wR="144760" stAng="10800000" swAng="5400000"/>
                <a:close/>
              </a:path>
            </a:pathLst>
          </a:custGeom>
          <a:solidFill>
            <a:srgbClr val="3BA4F5"/>
          </a:solidFill>
          <a:ln/>
        </p:spPr>
        <p:txBody>
          <a:bodyPr wrap="square" lIns="74473" tIns="38100" rIns="74473" bIns="12700" rtlCol="0" anchor="t">
            <a:normAutofit/>
          </a:bodyPr>
          <a:lstStyle/>
          <a:p>
            <a:pPr algn="ctr" indent="0" marL="0">
              <a:lnSpc>
                <a:spcPts val="1680"/>
              </a:lnSpc>
              <a:buNone/>
            </a:pPr>
            <a:r>
              <a:rPr lang="en-US" sz="1200" b="1" dirty="0">
                <a:solidFill>
                  <a:srgbClr val="0A0C10"/>
                </a:solidFill>
                <a:latin typeface="JetBrains Mono" pitchFamily="49" charset="0"/>
                <a:ea typeface="JetBrains Mono" pitchFamily="49" charset="-122"/>
                <a:cs typeface="JetBrains Mono" pitchFamily="49" charset="-120"/>
              </a:rPr>
              <a:t>Case 3</a:t>
            </a:r>
            <a:endParaRPr lang="en-US" sz="1200" dirty="0"/>
          </a:p>
        </p:txBody>
      </p:sp>
      <p:sp>
        <p:nvSpPr>
          <p:cNvPr id="14" name="Shape 12"/>
          <p:cNvSpPr/>
          <p:nvPr/>
        </p:nvSpPr>
        <p:spPr>
          <a:xfrm>
            <a:off x="5093345" y="3081685"/>
            <a:ext cx="2005310" cy="2406650"/>
          </a:xfrm>
          <a:prstGeom prst="roundRect">
            <a:avLst>
              <a:gd name="adj" fmla="val 4908"/>
            </a:avLst>
          </a:prstGeom>
          <a:solidFill>
            <a:srgbClr val="141922"/>
          </a:solidFill>
          <a:ln w="6350">
            <a:solidFill>
              <a:srgbClr val="263041"/>
            </a:solidFill>
            <a:prstDash val="solid"/>
          </a:ln>
        </p:spPr>
      </p:sp>
      <p:sp>
        <p:nvSpPr>
          <p:cNvPr id="15" name="Text 13"/>
          <p:cNvSpPr/>
          <p:nvPr/>
        </p:nvSpPr>
        <p:spPr>
          <a:xfrm>
            <a:off x="5248920" y="3237260"/>
            <a:ext cx="174498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VM + Compose</a:t>
            </a:r>
            <a:endParaRPr lang="en-US" sz="1600" dirty="0"/>
          </a:p>
        </p:txBody>
      </p:sp>
      <p:sp>
        <p:nvSpPr>
          <p:cNvPr id="16" name="Text 14"/>
          <p:cNvSpPr/>
          <p:nvPr/>
        </p:nvSpPr>
        <p:spPr>
          <a:xfrm>
            <a:off x="5248920" y="3531890"/>
            <a:ext cx="174498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8F5"/>
                </a:solidFill>
                <a:latin typeface="IBM Plex Sans" pitchFamily="34" charset="0"/>
                <a:ea typeface="IBM Plex Sans" pitchFamily="34" charset="-122"/>
                <a:cs typeface="IBM Plex Sans" pitchFamily="34" charset="-120"/>
              </a:rPr>
              <a:t>AWS EC2</a:t>
            </a:r>
            <a:endParaRPr lang="en-US" sz="1200" dirty="0"/>
          </a:p>
        </p:txBody>
      </p:sp>
      <p:sp>
        <p:nvSpPr>
          <p:cNvPr id="17" name="Text 15"/>
          <p:cNvSpPr/>
          <p:nvPr/>
        </p:nvSpPr>
        <p:spPr>
          <a:xfrm>
            <a:off x="5248920" y="3788420"/>
            <a:ext cx="174498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3C2"/>
                </a:solidFill>
                <a:latin typeface="IBM Plex Sans" pitchFamily="34" charset="0"/>
                <a:ea typeface="IBM Plex Sans" pitchFamily="34" charset="-122"/>
                <a:cs typeface="IBM Plex Sans" pitchFamily="34" charset="-120"/>
              </a:rPr>
              <a:t>Full control, small to medium apps</a:t>
            </a:r>
            <a:endParaRPr lang="en-US" sz="1200" dirty="0"/>
          </a:p>
        </p:txBody>
      </p:sp>
      <p:sp>
        <p:nvSpPr>
          <p:cNvPr id="18" name="Shape 16"/>
          <p:cNvSpPr/>
          <p:nvPr/>
        </p:nvSpPr>
        <p:spPr>
          <a:xfrm>
            <a:off x="7232005" y="2573685"/>
            <a:ext cx="2005360" cy="2914650"/>
          </a:xfrm>
          <a:prstGeom prst="roundRect">
            <a:avLst>
              <a:gd name="adj" fmla="val 4908"/>
            </a:avLst>
          </a:prstGeom>
          <a:solidFill>
            <a:srgbClr val="141922"/>
          </a:solidFill>
          <a:ln w="6350">
            <a:solidFill>
              <a:srgbClr val="263041"/>
            </a:solidFill>
            <a:prstDash val="solid"/>
          </a:ln>
        </p:spPr>
      </p:sp>
      <p:sp>
        <p:nvSpPr>
          <p:cNvPr id="19" name="Text 17"/>
          <p:cNvSpPr/>
          <p:nvPr/>
        </p:nvSpPr>
        <p:spPr>
          <a:xfrm>
            <a:off x="7387580" y="2729260"/>
            <a:ext cx="1745036"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Managed containers</a:t>
            </a:r>
            <a:endParaRPr lang="en-US" sz="1600" dirty="0"/>
          </a:p>
        </p:txBody>
      </p:sp>
      <p:sp>
        <p:nvSpPr>
          <p:cNvPr id="20" name="Text 18"/>
          <p:cNvSpPr/>
          <p:nvPr/>
        </p:nvSpPr>
        <p:spPr>
          <a:xfrm>
            <a:off x="7387580" y="3267720"/>
            <a:ext cx="174503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D8F5"/>
                </a:solidFill>
                <a:latin typeface="IBM Plex Sans" pitchFamily="34" charset="0"/>
                <a:ea typeface="IBM Plex Sans" pitchFamily="34" charset="-122"/>
                <a:cs typeface="IBM Plex Sans" pitchFamily="34" charset="-120"/>
              </a:rPr>
              <a:t>AWS ECS · Cloud Run</a:t>
            </a:r>
            <a:endParaRPr lang="en-US" sz="1200" dirty="0"/>
          </a:p>
        </p:txBody>
      </p:sp>
      <p:sp>
        <p:nvSpPr>
          <p:cNvPr id="21" name="Text 19"/>
          <p:cNvSpPr/>
          <p:nvPr/>
        </p:nvSpPr>
        <p:spPr>
          <a:xfrm>
            <a:off x="7387580" y="3524250"/>
            <a:ext cx="174503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3C2"/>
                </a:solidFill>
                <a:latin typeface="IBM Plex Sans" pitchFamily="34" charset="0"/>
                <a:ea typeface="IBM Plex Sans" pitchFamily="34" charset="-122"/>
                <a:cs typeface="IBM Plex Sans" pitchFamily="34" charset="-120"/>
              </a:rPr>
              <a:t>Growing apps that need autoscaling</a:t>
            </a:r>
            <a:endParaRPr lang="en-US" sz="1200" dirty="0"/>
          </a:p>
        </p:txBody>
      </p:sp>
      <p:sp>
        <p:nvSpPr>
          <p:cNvPr id="22" name="Shape 20"/>
          <p:cNvSpPr/>
          <p:nvPr/>
        </p:nvSpPr>
        <p:spPr>
          <a:xfrm>
            <a:off x="9370715" y="2065685"/>
            <a:ext cx="2005310" cy="3422650"/>
          </a:xfrm>
          <a:prstGeom prst="roundRect">
            <a:avLst>
              <a:gd name="adj" fmla="val 4908"/>
            </a:avLst>
          </a:prstGeom>
          <a:solidFill>
            <a:srgbClr val="1A140D"/>
          </a:solidFill>
          <a:ln w="6350">
            <a:solidFill>
              <a:srgbClr val="5A3E1E"/>
            </a:solidFill>
            <a:prstDash val="solid"/>
          </a:ln>
        </p:spPr>
      </p:sp>
      <p:sp>
        <p:nvSpPr>
          <p:cNvPr id="23" name="Text 21"/>
          <p:cNvSpPr/>
          <p:nvPr/>
        </p:nvSpPr>
        <p:spPr>
          <a:xfrm>
            <a:off x="9526290" y="2221260"/>
            <a:ext cx="174498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C48C"/>
                </a:solidFill>
                <a:latin typeface="Space Grotesk" pitchFamily="34" charset="0"/>
                <a:ea typeface="Space Grotesk" pitchFamily="34" charset="-122"/>
                <a:cs typeface="Space Grotesk" pitchFamily="34" charset="-120"/>
              </a:rPr>
              <a:t>Kubernetes</a:t>
            </a:r>
            <a:endParaRPr lang="en-US" sz="1600" dirty="0"/>
          </a:p>
        </p:txBody>
      </p:sp>
      <p:sp>
        <p:nvSpPr>
          <p:cNvPr id="24" name="Text 22"/>
          <p:cNvSpPr/>
          <p:nvPr/>
        </p:nvSpPr>
        <p:spPr>
          <a:xfrm>
            <a:off x="9526290" y="2515890"/>
            <a:ext cx="174498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C48C"/>
                </a:solidFill>
                <a:latin typeface="IBM Plex Sans" pitchFamily="34" charset="0"/>
                <a:ea typeface="IBM Plex Sans" pitchFamily="34" charset="-122"/>
                <a:cs typeface="IBM Plex Sans" pitchFamily="34" charset="-120"/>
              </a:rPr>
              <a:t>EKS · GKE · AKS</a:t>
            </a:r>
            <a:endParaRPr lang="en-US" sz="1200" dirty="0"/>
          </a:p>
        </p:txBody>
      </p:sp>
      <p:sp>
        <p:nvSpPr>
          <p:cNvPr id="25" name="Text 23"/>
          <p:cNvSpPr/>
          <p:nvPr/>
        </p:nvSpPr>
        <p:spPr>
          <a:xfrm>
            <a:off x="9526290" y="2772420"/>
            <a:ext cx="174498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3C2"/>
                </a:solidFill>
                <a:latin typeface="IBM Plex Sans" pitchFamily="34" charset="0"/>
                <a:ea typeface="IBM Plex Sans" pitchFamily="34" charset="-122"/>
                <a:cs typeface="IBM Plex Sans" pitchFamily="34" charset="-120"/>
              </a:rPr>
              <a:t>Many services, many teams, big scale</a:t>
            </a:r>
            <a:endParaRPr lang="en-US" sz="1200" dirty="0"/>
          </a:p>
        </p:txBody>
      </p:sp>
      <p:sp>
        <p:nvSpPr>
          <p:cNvPr id="26" name="Text 24"/>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3C2"/>
                </a:solidFill>
                <a:latin typeface="IBM Plex Sans" pitchFamily="34" charset="0"/>
                <a:ea typeface="IBM Plex Sans" pitchFamily="34" charset="-122"/>
                <a:cs typeface="IBM Plex Sans" pitchFamily="34" charset="-120"/>
              </a:rPr>
              <a:t>Start on the lowest step that works. Climb only when you must.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C1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F5F8"/>
                </a:solidFill>
                <a:latin typeface="Space Grotesk" pitchFamily="34" charset="0"/>
                <a:ea typeface="Space Grotesk" pitchFamily="34" charset="-122"/>
                <a:cs typeface="Space Grotesk" pitchFamily="34" charset="-120"/>
              </a:rPr>
              <a:t>What we build next</a:t>
            </a:r>
            <a:endParaRPr lang="en-US" sz="3600" dirty="0"/>
          </a:p>
        </p:txBody>
      </p:sp>
      <p:sp>
        <p:nvSpPr>
          <p:cNvPr id="3" name="Shape 1"/>
          <p:cNvSpPr/>
          <p:nvPr/>
        </p:nvSpPr>
        <p:spPr>
          <a:xfrm>
            <a:off x="815975" y="3108375"/>
            <a:ext cx="1741140" cy="1499741"/>
          </a:xfrm>
          <a:prstGeom prst="roundRect">
            <a:avLst>
              <a:gd name="adj" fmla="val 8256"/>
            </a:avLst>
          </a:prstGeom>
          <a:solidFill>
            <a:srgbClr val="141922"/>
          </a:solidFill>
          <a:ln w="6350">
            <a:solidFill>
              <a:srgbClr val="263041"/>
            </a:solidFill>
            <a:prstDash val="solid"/>
          </a:ln>
        </p:spPr>
      </p:sp>
      <p:sp>
        <p:nvSpPr>
          <p:cNvPr id="4" name="Text 2"/>
          <p:cNvSpPr/>
          <p:nvPr/>
        </p:nvSpPr>
        <p:spPr>
          <a:xfrm>
            <a:off x="996950" y="3314750"/>
            <a:ext cx="1429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A4F5"/>
                </a:solidFill>
                <a:latin typeface="JetBrains Mono" pitchFamily="49" charset="0"/>
                <a:ea typeface="JetBrains Mono" pitchFamily="49" charset="-122"/>
                <a:cs typeface="JetBrains Mono" pitchFamily="49" charset="-120"/>
              </a:rPr>
              <a:t>L1–3</a:t>
            </a:r>
            <a:endParaRPr lang="en-US" sz="1200" dirty="0"/>
          </a:p>
        </p:txBody>
      </p:sp>
      <p:sp>
        <p:nvSpPr>
          <p:cNvPr id="5" name="Text 3"/>
          <p:cNvSpPr/>
          <p:nvPr/>
        </p:nvSpPr>
        <p:spPr>
          <a:xfrm>
            <a:off x="996950" y="3629670"/>
            <a:ext cx="14299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Foundations</a:t>
            </a:r>
            <a:endParaRPr lang="en-US" sz="1600" dirty="0"/>
          </a:p>
        </p:txBody>
      </p:sp>
      <p:sp>
        <p:nvSpPr>
          <p:cNvPr id="6" name="Text 4"/>
          <p:cNvSpPr/>
          <p:nvPr/>
        </p:nvSpPr>
        <p:spPr>
          <a:xfrm>
            <a:off x="996950" y="3975100"/>
            <a:ext cx="14299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Images, containers, first Dockerfile</a:t>
            </a:r>
            <a:endParaRPr lang="en-US" sz="1200" dirty="0"/>
          </a:p>
        </p:txBody>
      </p:sp>
      <p:pic>
        <p:nvPicPr>
          <p:cNvPr id="7" name="Image 0" descr="arrow-right">    </p:cNvPr>
          <p:cNvPicPr>
            <a:picLocks noChangeAspect="1"/>
          </p:cNvPicPr>
          <p:nvPr/>
        </p:nvPicPr>
        <p:blipFill>
          <a:blip r:embed="rId1"/>
          <a:srcRect l="0" r="0" t="0" b="0"/>
          <a:stretch/>
        </p:blipFill>
        <p:spPr>
          <a:xfrm>
            <a:off x="2661890" y="3788370"/>
            <a:ext cx="254000" cy="139700"/>
          </a:xfrm>
          <a:prstGeom prst="rect">
            <a:avLst/>
          </a:prstGeom>
        </p:spPr>
      </p:pic>
      <p:sp>
        <p:nvSpPr>
          <p:cNvPr id="8" name="Shape 5"/>
          <p:cNvSpPr/>
          <p:nvPr/>
        </p:nvSpPr>
        <p:spPr>
          <a:xfrm>
            <a:off x="3020665" y="3001714"/>
            <a:ext cx="1741190" cy="1713061"/>
          </a:xfrm>
          <a:prstGeom prst="roundRect">
            <a:avLst>
              <a:gd name="adj" fmla="val 7228"/>
            </a:avLst>
          </a:prstGeom>
          <a:solidFill>
            <a:srgbClr val="141922"/>
          </a:solidFill>
          <a:ln w="6350">
            <a:solidFill>
              <a:srgbClr val="263041"/>
            </a:solidFill>
            <a:prstDash val="solid"/>
          </a:ln>
        </p:spPr>
      </p:sp>
      <p:sp>
        <p:nvSpPr>
          <p:cNvPr id="9" name="Text 6"/>
          <p:cNvSpPr/>
          <p:nvPr/>
        </p:nvSpPr>
        <p:spPr>
          <a:xfrm>
            <a:off x="3201640" y="3208089"/>
            <a:ext cx="1430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A4F5"/>
                </a:solidFill>
                <a:latin typeface="JetBrains Mono" pitchFamily="49" charset="0"/>
                <a:ea typeface="JetBrains Mono" pitchFamily="49" charset="-122"/>
                <a:cs typeface="JetBrains Mono" pitchFamily="49" charset="-120"/>
              </a:rPr>
              <a:t>L4–9</a:t>
            </a:r>
            <a:endParaRPr lang="en-US" sz="1200" dirty="0"/>
          </a:p>
        </p:txBody>
      </p:sp>
      <p:sp>
        <p:nvSpPr>
          <p:cNvPr id="10" name="Text 7"/>
          <p:cNvSpPr/>
          <p:nvPr/>
        </p:nvSpPr>
        <p:spPr>
          <a:xfrm>
            <a:off x="3201640" y="3523010"/>
            <a:ext cx="14300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Your 3 apps</a:t>
            </a:r>
            <a:endParaRPr lang="en-US" sz="1600" dirty="0"/>
          </a:p>
        </p:txBody>
      </p:sp>
      <p:sp>
        <p:nvSpPr>
          <p:cNvPr id="11" name="Text 8"/>
          <p:cNvSpPr/>
          <p:nvPr/>
        </p:nvSpPr>
        <p:spPr>
          <a:xfrm>
            <a:off x="3201640" y="3868440"/>
            <a:ext cx="14300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React, Express, MERN, Compose, volumes</a:t>
            </a:r>
            <a:endParaRPr lang="en-US" sz="1200" dirty="0"/>
          </a:p>
        </p:txBody>
      </p:sp>
      <p:pic>
        <p:nvPicPr>
          <p:cNvPr id="12" name="Image 1" descr="arrow-right">    </p:cNvPr>
          <p:cNvPicPr>
            <a:picLocks noChangeAspect="1"/>
          </p:cNvPicPr>
          <p:nvPr/>
        </p:nvPicPr>
        <p:blipFill>
          <a:blip r:embed="rId2"/>
          <a:srcRect l="0" r="0" t="0" b="0"/>
          <a:stretch/>
        </p:blipFill>
        <p:spPr>
          <a:xfrm>
            <a:off x="4866630" y="3788370"/>
            <a:ext cx="254000" cy="139700"/>
          </a:xfrm>
          <a:prstGeom prst="rect">
            <a:avLst/>
          </a:prstGeom>
        </p:spPr>
      </p:pic>
      <p:sp>
        <p:nvSpPr>
          <p:cNvPr id="13" name="Shape 9"/>
          <p:cNvSpPr/>
          <p:nvPr/>
        </p:nvSpPr>
        <p:spPr>
          <a:xfrm>
            <a:off x="5225405" y="3108375"/>
            <a:ext cx="1741140" cy="1499741"/>
          </a:xfrm>
          <a:prstGeom prst="roundRect">
            <a:avLst>
              <a:gd name="adj" fmla="val 8256"/>
            </a:avLst>
          </a:prstGeom>
          <a:solidFill>
            <a:srgbClr val="141922"/>
          </a:solidFill>
          <a:ln w="6350">
            <a:solidFill>
              <a:srgbClr val="263041"/>
            </a:solidFill>
            <a:prstDash val="solid"/>
          </a:ln>
        </p:spPr>
      </p:sp>
      <p:sp>
        <p:nvSpPr>
          <p:cNvPr id="14" name="Text 10"/>
          <p:cNvSpPr/>
          <p:nvPr/>
        </p:nvSpPr>
        <p:spPr>
          <a:xfrm>
            <a:off x="5406380" y="3314750"/>
            <a:ext cx="1429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A4F5"/>
                </a:solidFill>
                <a:latin typeface="JetBrains Mono" pitchFamily="49" charset="0"/>
                <a:ea typeface="JetBrains Mono" pitchFamily="49" charset="-122"/>
                <a:cs typeface="JetBrains Mono" pitchFamily="49" charset="-120"/>
              </a:rPr>
              <a:t>L10–12</a:t>
            </a:r>
            <a:endParaRPr lang="en-US" sz="1200" dirty="0"/>
          </a:p>
        </p:txBody>
      </p:sp>
      <p:sp>
        <p:nvSpPr>
          <p:cNvPr id="15" name="Text 11"/>
          <p:cNvSpPr/>
          <p:nvPr/>
        </p:nvSpPr>
        <p:spPr>
          <a:xfrm>
            <a:off x="5406380" y="3629670"/>
            <a:ext cx="14299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Production</a:t>
            </a:r>
            <a:endParaRPr lang="en-US" sz="1600" dirty="0"/>
          </a:p>
        </p:txBody>
      </p:sp>
      <p:sp>
        <p:nvSpPr>
          <p:cNvPr id="16" name="Text 12"/>
          <p:cNvSpPr/>
          <p:nvPr/>
        </p:nvSpPr>
        <p:spPr>
          <a:xfrm>
            <a:off x="5406380" y="3975100"/>
            <a:ext cx="14299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GitHub Actions, deploy, debugging</a:t>
            </a:r>
            <a:endParaRPr lang="en-US" sz="1200" dirty="0"/>
          </a:p>
        </p:txBody>
      </p:sp>
      <p:pic>
        <p:nvPicPr>
          <p:cNvPr id="17" name="Image 2" descr="arrow-right">    </p:cNvPr>
          <p:cNvPicPr>
            <a:picLocks noChangeAspect="1"/>
          </p:cNvPicPr>
          <p:nvPr/>
        </p:nvPicPr>
        <p:blipFill>
          <a:blip r:embed="rId3"/>
          <a:srcRect l="0" r="0" t="0" b="0"/>
          <a:stretch/>
        </p:blipFill>
        <p:spPr>
          <a:xfrm>
            <a:off x="7071320" y="3788370"/>
            <a:ext cx="254000" cy="139700"/>
          </a:xfrm>
          <a:prstGeom prst="rect">
            <a:avLst/>
          </a:prstGeom>
        </p:spPr>
      </p:pic>
      <p:sp>
        <p:nvSpPr>
          <p:cNvPr id="18" name="Shape 13"/>
          <p:cNvSpPr/>
          <p:nvPr/>
        </p:nvSpPr>
        <p:spPr>
          <a:xfrm>
            <a:off x="7430095" y="3108375"/>
            <a:ext cx="1741190" cy="1499741"/>
          </a:xfrm>
          <a:prstGeom prst="roundRect">
            <a:avLst>
              <a:gd name="adj" fmla="val 8256"/>
            </a:avLst>
          </a:prstGeom>
          <a:solidFill>
            <a:srgbClr val="141922"/>
          </a:solidFill>
          <a:ln w="6350">
            <a:solidFill>
              <a:srgbClr val="263041"/>
            </a:solidFill>
            <a:prstDash val="solid"/>
          </a:ln>
        </p:spPr>
      </p:sp>
      <p:sp>
        <p:nvSpPr>
          <p:cNvPr id="19" name="Text 14"/>
          <p:cNvSpPr/>
          <p:nvPr/>
        </p:nvSpPr>
        <p:spPr>
          <a:xfrm>
            <a:off x="7611070" y="3314750"/>
            <a:ext cx="1430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C27A"/>
                </a:solidFill>
                <a:latin typeface="JetBrains Mono" pitchFamily="49" charset="0"/>
                <a:ea typeface="JetBrains Mono" pitchFamily="49" charset="-122"/>
                <a:cs typeface="JetBrains Mono" pitchFamily="49" charset="-120"/>
              </a:rPr>
              <a:t>L13–14</a:t>
            </a:r>
            <a:endParaRPr lang="en-US" sz="1200" dirty="0"/>
          </a:p>
        </p:txBody>
      </p:sp>
      <p:sp>
        <p:nvSpPr>
          <p:cNvPr id="20" name="Text 15"/>
          <p:cNvSpPr/>
          <p:nvPr/>
        </p:nvSpPr>
        <p:spPr>
          <a:xfrm>
            <a:off x="7611070" y="3629670"/>
            <a:ext cx="14300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Capstone</a:t>
            </a:r>
            <a:endParaRPr lang="en-US" sz="1600" dirty="0"/>
          </a:p>
        </p:txBody>
      </p:sp>
      <p:sp>
        <p:nvSpPr>
          <p:cNvPr id="21" name="Text 16"/>
          <p:cNvSpPr/>
          <p:nvPr/>
        </p:nvSpPr>
        <p:spPr>
          <a:xfrm>
            <a:off x="7611070" y="3975100"/>
            <a:ext cx="14300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Your own project, live on the internet</a:t>
            </a:r>
            <a:endParaRPr lang="en-US" sz="1200" dirty="0"/>
          </a:p>
        </p:txBody>
      </p:sp>
      <p:pic>
        <p:nvPicPr>
          <p:cNvPr id="22" name="Image 3" descr="arrow-right">    </p:cNvPr>
          <p:cNvPicPr>
            <a:picLocks noChangeAspect="1"/>
          </p:cNvPicPr>
          <p:nvPr/>
        </p:nvPicPr>
        <p:blipFill>
          <a:blip r:embed="rId4"/>
          <a:srcRect l="0" r="0" t="0" b="0"/>
          <a:stretch/>
        </p:blipFill>
        <p:spPr>
          <a:xfrm>
            <a:off x="9276060" y="3788370"/>
            <a:ext cx="254000" cy="139700"/>
          </a:xfrm>
          <a:prstGeom prst="rect">
            <a:avLst/>
          </a:prstGeom>
        </p:spPr>
      </p:pic>
      <p:sp>
        <p:nvSpPr>
          <p:cNvPr id="23" name="Shape 17"/>
          <p:cNvSpPr/>
          <p:nvPr/>
        </p:nvSpPr>
        <p:spPr>
          <a:xfrm>
            <a:off x="9634835" y="3108375"/>
            <a:ext cx="1741190" cy="1499741"/>
          </a:xfrm>
          <a:prstGeom prst="roundRect">
            <a:avLst>
              <a:gd name="adj" fmla="val 8256"/>
            </a:avLst>
          </a:prstGeom>
          <a:solidFill>
            <a:srgbClr val="1A140D"/>
          </a:solidFill>
          <a:ln w="6350">
            <a:solidFill>
              <a:srgbClr val="5A3E1E"/>
            </a:solidFill>
            <a:prstDash val="solid"/>
          </a:ln>
        </p:spPr>
      </p:sp>
      <p:sp>
        <p:nvSpPr>
          <p:cNvPr id="24" name="Text 18"/>
          <p:cNvSpPr/>
          <p:nvPr/>
        </p:nvSpPr>
        <p:spPr>
          <a:xfrm>
            <a:off x="9815810" y="3314750"/>
            <a:ext cx="1430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F45"/>
                </a:solidFill>
                <a:latin typeface="JetBrains Mono" pitchFamily="49" charset="0"/>
                <a:ea typeface="JetBrains Mono" pitchFamily="49" charset="-122"/>
                <a:cs typeface="JetBrains Mono" pitchFamily="49" charset="-120"/>
              </a:rPr>
              <a:t>Next module</a:t>
            </a:r>
            <a:endParaRPr lang="en-US" sz="1200" dirty="0"/>
          </a:p>
        </p:txBody>
      </p:sp>
      <p:sp>
        <p:nvSpPr>
          <p:cNvPr id="25" name="Text 19"/>
          <p:cNvSpPr/>
          <p:nvPr/>
        </p:nvSpPr>
        <p:spPr>
          <a:xfrm>
            <a:off x="9815810" y="3629670"/>
            <a:ext cx="14300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8"/>
                </a:solidFill>
                <a:latin typeface="Space Grotesk" pitchFamily="34" charset="0"/>
                <a:ea typeface="Space Grotesk" pitchFamily="34" charset="-122"/>
                <a:cs typeface="Space Grotesk" pitchFamily="34" charset="-120"/>
              </a:rPr>
              <a:t>Kubernetes</a:t>
            </a:r>
            <a:endParaRPr lang="en-US" sz="1600" dirty="0"/>
          </a:p>
        </p:txBody>
      </p:sp>
      <p:sp>
        <p:nvSpPr>
          <p:cNvPr id="26" name="Text 20"/>
          <p:cNvSpPr/>
          <p:nvPr/>
        </p:nvSpPr>
        <p:spPr>
          <a:xfrm>
            <a:off x="9815810" y="3975100"/>
            <a:ext cx="14300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C2"/>
                </a:solidFill>
                <a:latin typeface="IBM Plex Sans" pitchFamily="34" charset="0"/>
                <a:ea typeface="IBM Plex Sans" pitchFamily="34" charset="-122"/>
                <a:cs typeface="IBM Plex Sans" pitchFamily="34" charset="-120"/>
              </a:rPr>
              <a:t>Pods, deployments, scaling, self-healing</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2793628" y="2002830"/>
            <a:ext cx="6604695" cy="640060"/>
          </a:xfrm>
          <a:prstGeom prst="rect">
            <a:avLst/>
          </a:prstGeom>
          <a:noFill/>
          <a:ln/>
        </p:spPr>
        <p:txBody>
          <a:bodyPr wrap="square" lIns="0" tIns="0" rIns="0" bIns="0" rtlCol="0" anchor="t">
            <a:normAutofit/>
          </a:bodyPr>
          <a:lstStyle/>
          <a:p>
            <a:pPr algn="ctr" indent="0" marL="0">
              <a:lnSpc>
                <a:spcPts val="4840"/>
              </a:lnSpc>
              <a:buNone/>
            </a:pPr>
            <a:r>
              <a:rPr lang="en-US" sz="4400" b="1" spc="-100" kern="0" dirty="0">
                <a:solidFill>
                  <a:srgbClr val="3BA4F5"/>
                </a:solidFill>
                <a:latin typeface="Space Grotesk" pitchFamily="34" charset="0"/>
                <a:ea typeface="Space Grotesk" pitchFamily="34" charset="-122"/>
                <a:cs typeface="Space Grotesk" pitchFamily="34" charset="-120"/>
              </a:rPr>
              <a:t>Package with Docker.</a:t>
            </a:r>
            <a:endParaRPr lang="en-US" sz="4400" dirty="0"/>
          </a:p>
        </p:txBody>
      </p:sp>
      <p:sp>
        <p:nvSpPr>
          <p:cNvPr id="3" name="Text 1"/>
          <p:cNvSpPr/>
          <p:nvPr/>
        </p:nvSpPr>
        <p:spPr>
          <a:xfrm>
            <a:off x="1538645" y="2769890"/>
            <a:ext cx="9114711" cy="640060"/>
          </a:xfrm>
          <a:prstGeom prst="rect">
            <a:avLst/>
          </a:prstGeom>
          <a:noFill/>
          <a:ln/>
        </p:spPr>
        <p:txBody>
          <a:bodyPr wrap="square" lIns="0" tIns="0" rIns="0" bIns="0" rtlCol="0" anchor="t">
            <a:normAutofit/>
          </a:bodyPr>
          <a:lstStyle/>
          <a:p>
            <a:pPr algn="ctr" indent="0" marL="0">
              <a:lnSpc>
                <a:spcPts val="4840"/>
              </a:lnSpc>
              <a:buNone/>
            </a:pPr>
            <a:r>
              <a:rPr lang="en-US" sz="4400" b="1" spc="-100" kern="0" dirty="0">
                <a:solidFill>
                  <a:srgbClr val="FF9F45"/>
                </a:solidFill>
                <a:latin typeface="Space Grotesk" pitchFamily="34" charset="0"/>
                <a:ea typeface="Space Grotesk" pitchFamily="34" charset="-122"/>
                <a:cs typeface="Space Grotesk" pitchFamily="34" charset="-120"/>
              </a:rPr>
              <a:t>Orchestrate with Kubernetes.</a:t>
            </a:r>
            <a:endParaRPr lang="en-US" sz="4400" dirty="0"/>
          </a:p>
        </p:txBody>
      </p:sp>
      <p:sp>
        <p:nvSpPr>
          <p:cNvPr id="4" name="Text 2"/>
          <p:cNvSpPr/>
          <p:nvPr/>
        </p:nvSpPr>
        <p:spPr>
          <a:xfrm>
            <a:off x="3428588" y="3536950"/>
            <a:ext cx="5334774" cy="640060"/>
          </a:xfrm>
          <a:prstGeom prst="rect">
            <a:avLst/>
          </a:prstGeom>
          <a:noFill/>
          <a:ln/>
        </p:spPr>
        <p:txBody>
          <a:bodyPr wrap="square" lIns="0" tIns="0" rIns="0" bIns="0" rtlCol="0" anchor="t">
            <a:normAutofit/>
          </a:bodyPr>
          <a:lstStyle/>
          <a:p>
            <a:pPr algn="ctr" indent="0" marL="0">
              <a:lnSpc>
                <a:spcPts val="4840"/>
              </a:lnSpc>
              <a:buNone/>
            </a:pPr>
            <a:r>
              <a:rPr lang="en-US" sz="4400" b="1" spc="-100" kern="0" dirty="0">
                <a:solidFill>
                  <a:srgbClr val="F3F5F8"/>
                </a:solidFill>
                <a:latin typeface="Space Grotesk" pitchFamily="34" charset="0"/>
                <a:ea typeface="Space Grotesk" pitchFamily="34" charset="-122"/>
                <a:cs typeface="Space Grotesk" pitchFamily="34" charset="-120"/>
              </a:rPr>
              <a:t>Ship with GitHub.</a:t>
            </a:r>
            <a:endParaRPr lang="en-US" sz="4400" dirty="0"/>
          </a:p>
        </p:txBody>
      </p:sp>
      <p:sp>
        <p:nvSpPr>
          <p:cNvPr id="5" name="Text 3"/>
          <p:cNvSpPr/>
          <p:nvPr/>
        </p:nvSpPr>
        <p:spPr>
          <a:xfrm>
            <a:off x="4401145" y="4307185"/>
            <a:ext cx="3389660" cy="544810"/>
          </a:xfrm>
          <a:prstGeom prst="roundRect">
            <a:avLst>
              <a:gd name="adj" fmla="val 18066"/>
            </a:avLst>
          </a:prstGeom>
          <a:solidFill>
            <a:srgbClr val="06080B"/>
          </a:solidFill>
          <a:ln w="6350">
            <a:solidFill>
              <a:srgbClr val="263041"/>
            </a:solidFill>
            <a:prstDash val="solid"/>
          </a:ln>
        </p:spPr>
        <p:txBody>
          <a:bodyPr wrap="none" lIns="0" tIns="0" rIns="0" bIns="0" rtlCol="0" anchor="ctr">
            <a:normAutofit/>
          </a:bodyPr>
          <a:lstStyle/>
          <a:p>
            <a:pPr algn="ctr" indent="0" marL="0">
              <a:lnSpc>
                <a:spcPts val="2240"/>
              </a:lnSpc>
              <a:buNone/>
            </a:pPr>
            <a:r>
              <a:rPr lang="en-US" sz="1600" dirty="0">
                <a:solidFill>
                  <a:srgbClr val="3BA4F5"/>
                </a:solidFill>
                <a:latin typeface="JetBrains Mono" pitchFamily="49" charset="0"/>
                <a:ea typeface="JetBrains Mono" pitchFamily="49" charset="-122"/>
                <a:cs typeface="JetBrains Mono" pitchFamily="49" charset="-120"/>
              </a:rPr>
              <a:t>$</a:t>
            </a:r>
            <a:r>
              <a:rPr lang="en-US" sz="1600" dirty="0">
                <a:solidFill>
                  <a:srgbClr val="A9B3C2"/>
                </a:solidFill>
                <a:latin typeface="JetBrains Mono" pitchFamily="49" charset="0"/>
                <a:ea typeface="JetBrains Mono" pitchFamily="49" charset="-122"/>
                <a:cs typeface="JetBrains Mono" pitchFamily="49" charset="-120"/>
              </a:rPr>
              <a:t> docker run hello-world</a:t>
            </a:r>
            <a:endParaRPr lang="en-US" sz="1600" dirty="0"/>
          </a:p>
        </p:txBody>
      </p:sp>
    </p:spTree>
  </p:cSld>
  <p:clrMapOvr>
    <a:masterClrMapping/>
  </p:clrMapOvr>
</p:sld>
</file>

<file path=ppt/theme/theme1.xml><?xml version="1.0" encoding="utf-8"?>
<a:theme xmlns:a="http://schemas.openxmlformats.org/drawingml/2006/main" name="Docker &amp; Kubernetes: From React to MERN">
  <a:themeElements>
    <a:clrScheme name="Docker &amp; Kubernetes: From React to MERN">
      <a:dk1>
        <a:srgbClr val="0A0C10"/>
      </a:dk1>
      <a:lt1>
        <a:srgbClr val="F3F5F8"/>
      </a:lt1>
      <a:dk2>
        <a:srgbClr val="212327"/>
      </a:dk2>
      <a:lt2>
        <a:srgbClr val="B9BBBE"/>
      </a:lt2>
      <a:accent1>
        <a:srgbClr val="3BA4F5"/>
      </a:accent1>
      <a:accent2>
        <a:srgbClr val="FF9F45"/>
      </a:accent2>
      <a:accent3>
        <a:srgbClr val="1C7FCC"/>
      </a:accent3>
      <a:accent4>
        <a:srgbClr val="BFD8F5"/>
      </a:accent4>
      <a:accent5>
        <a:srgbClr val="1E3A5A"/>
      </a:accent5>
      <a:accent6>
        <a:srgbClr val="FFC48C"/>
      </a:accent6>
      <a:hlink>
        <a:srgbClr val="0563C1"/>
      </a:hlink>
      <a:folHlink>
        <a:srgbClr val="954F72"/>
      </a:folHlink>
    </a:clrScheme>
    <a:fontScheme name="Docker &amp; Kubernetes: From React to MER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&amp; Kubernetes: From React to MERN</dc:title>
  <dc:subject/>
  <dc:creator/>
  <cp:lastModifiedBy/>
  <cp:revision>1</cp:revision>
  <dcterms:created xsi:type="dcterms:W3CDTF">2026-10-03T20:28:56Z</dcterms:created>
  <dcterms:modified xsi:type="dcterms:W3CDTF">2026-10-03T20:28:56Z</dcterms:modified>
</cp:coreProperties>
</file>